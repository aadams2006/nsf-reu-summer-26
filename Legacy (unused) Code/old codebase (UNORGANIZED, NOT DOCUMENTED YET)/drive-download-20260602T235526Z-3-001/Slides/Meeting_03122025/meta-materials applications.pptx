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Lst>
  <p:sldSz cy="6858000" cx="12192000"/>
  <p:notesSz cx="6858000" cy="9144000"/>
  <p:embeddedFontLst>
    <p:embeddedFont>
      <p:font typeface="Play"/>
      <p:regular r:id="rId10"/>
      <p:bold r:id="rId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2" roundtripDataSignature="AMtx7mhq+Ifc8DaI7Gu7bs+K37SUQ+dUN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1" Type="http://schemas.openxmlformats.org/officeDocument/2006/relationships/font" Target="fonts/Play-bold.fntdata"/><Relationship Id="rId10" Type="http://schemas.openxmlformats.org/officeDocument/2006/relationships/font" Target="fonts/Play-regular.fntdata"/><Relationship Id="rId12" Type="http://customschemas.google.com/relationships/presentationmetadata" Target="metadata"/><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26" name="Google Shape;26;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5"/>
          <p:cNvSpPr/>
          <p:nvPr>
            <p:ph idx="2" type="pic"/>
          </p:nvPr>
        </p:nvSpPr>
        <p:spPr>
          <a:xfrm>
            <a:off x="5183188" y="987425"/>
            <a:ext cx="6172200" cy="4873625"/>
          </a:xfrm>
          <a:prstGeom prst="rect">
            <a:avLst/>
          </a:prstGeom>
          <a:noFill/>
          <a:ln>
            <a:noFill/>
          </a:ln>
        </p:spPr>
      </p:sp>
      <p:sp>
        <p:nvSpPr>
          <p:cNvPr id="64" name="Google Shape;64;p1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Play"/>
              <a:buNone/>
            </a:pPr>
            <a:r>
              <a:rPr lang="en-US"/>
              <a:t>Meta Materials: Structural Application &amp; Future </a:t>
            </a: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By: Helder Rebelo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9" name="Shape 89"/>
        <p:cNvGrpSpPr/>
        <p:nvPr/>
      </p:nvGrpSpPr>
      <p:grpSpPr>
        <a:xfrm>
          <a:off x="0" y="0"/>
          <a:ext cx="0" cy="0"/>
          <a:chOff x="0" y="0"/>
          <a:chExt cx="0" cy="0"/>
        </a:xfrm>
      </p:grpSpPr>
      <p:sp>
        <p:nvSpPr>
          <p:cNvPr id="90" name="Google Shape;90;p2"/>
          <p:cNvSpPr/>
          <p:nvPr/>
        </p:nvSpPr>
        <p:spPr>
          <a:xfrm>
            <a:off x="-1"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91" name="Google Shape;91;p2"/>
          <p:cNvSpPr txBox="1"/>
          <p:nvPr>
            <p:ph type="title"/>
          </p:nvPr>
        </p:nvSpPr>
        <p:spPr>
          <a:xfrm>
            <a:off x="4553733" y="548464"/>
            <a:ext cx="6798541" cy="167562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Play"/>
              <a:buNone/>
            </a:pPr>
            <a:r>
              <a:rPr lang="en-US" sz="4000"/>
              <a:t>Introduction To Meta-Materials</a:t>
            </a:r>
            <a:endParaRPr/>
          </a:p>
        </p:txBody>
      </p:sp>
      <p:pic>
        <p:nvPicPr>
          <p:cNvPr descr="Chemical formulas are written on paper" id="92" name="Google Shape;92;p2"/>
          <p:cNvPicPr preferRelativeResize="0"/>
          <p:nvPr/>
        </p:nvPicPr>
        <p:blipFill rotWithShape="1">
          <a:blip r:embed="rId3">
            <a:alphaModFix/>
          </a:blip>
          <a:srcRect b="0" l="32562" r="33018" t="0"/>
          <a:stretch/>
        </p:blipFill>
        <p:spPr>
          <a:xfrm>
            <a:off x="1" y="10"/>
            <a:ext cx="4196496" cy="6857990"/>
          </a:xfrm>
          <a:prstGeom prst="rect">
            <a:avLst/>
          </a:prstGeom>
          <a:noFill/>
          <a:ln>
            <a:noFill/>
          </a:ln>
        </p:spPr>
      </p:pic>
      <p:sp>
        <p:nvSpPr>
          <p:cNvPr id="93" name="Google Shape;93;p2"/>
          <p:cNvSpPr txBox="1"/>
          <p:nvPr>
            <p:ph idx="1" type="body"/>
          </p:nvPr>
        </p:nvSpPr>
        <p:spPr>
          <a:xfrm>
            <a:off x="4553734" y="2409830"/>
            <a:ext cx="6798539" cy="3705217"/>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000"/>
              <a:buChar char="•"/>
            </a:pPr>
            <a:r>
              <a:rPr lang="en-US" sz="2000"/>
              <a:t>Metamaterials are a type of engineered material created to have properties that naturally occurring substances </a:t>
            </a:r>
            <a:r>
              <a:rPr lang="en-US" sz="2000"/>
              <a:t>cannot</a:t>
            </a:r>
            <a:r>
              <a:rPr lang="en-US" sz="2000"/>
              <a:t> achieve. Meta-Materials get their properties from micro and macro structure that are engineered unlike conventional materials that that rely on </a:t>
            </a:r>
            <a:r>
              <a:rPr lang="en-US" sz="2000"/>
              <a:t>their</a:t>
            </a:r>
            <a:r>
              <a:rPr lang="en-US" sz="2000"/>
              <a:t> chemical composition.</a:t>
            </a:r>
            <a:endParaRPr/>
          </a:p>
          <a:p>
            <a:pPr indent="-228600" lvl="0" marL="228600" rtl="0" algn="l">
              <a:lnSpc>
                <a:spcPct val="90000"/>
              </a:lnSpc>
              <a:spcBef>
                <a:spcPts val="1000"/>
              </a:spcBef>
              <a:spcAft>
                <a:spcPts val="0"/>
              </a:spcAft>
              <a:buClr>
                <a:schemeClr val="dk1"/>
              </a:buClr>
              <a:buSzPts val="2000"/>
              <a:buChar char="•"/>
            </a:pPr>
            <a:r>
              <a:rPr lang="en-US" sz="2000"/>
              <a:t>In structural engineering, metamaterials present groundbreaking opportunities by improving strength, durability, and versatility. Today, we will concentrate on their structural applications, setting aside their thermal and acoustic characteristics, and emphasizing the significance of fracture research in the development of these materials.</a:t>
            </a:r>
            <a:endParaRPr/>
          </a:p>
          <a:p>
            <a:pPr indent="-101600" lvl="1" marL="685800" rtl="0" algn="l">
              <a:lnSpc>
                <a:spcPct val="90000"/>
              </a:lnSpc>
              <a:spcBef>
                <a:spcPts val="500"/>
              </a:spcBef>
              <a:spcAft>
                <a:spcPts val="0"/>
              </a:spcAft>
              <a:buClr>
                <a:schemeClr val="dk1"/>
              </a:buClr>
              <a:buSzPts val="2000"/>
              <a:buNone/>
            </a:pPr>
            <a:r>
              <a:t/>
            </a:r>
            <a:endParaRPr sz="2000"/>
          </a:p>
        </p:txBody>
      </p:sp>
      <p:sp>
        <p:nvSpPr>
          <p:cNvPr id="94" name="Google Shape;94;p2"/>
          <p:cNvSpPr txBox="1"/>
          <p:nvPr/>
        </p:nvSpPr>
        <p:spPr>
          <a:xfrm>
            <a:off x="5618747" y="409074"/>
            <a:ext cx="310414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lt1"/>
                </a:solidFill>
                <a:latin typeface="Arial"/>
                <a:ea typeface="Arial"/>
                <a:cs typeface="Arial"/>
                <a:sym typeface="Arial"/>
              </a:rPr>
              <a:t>LATTICE LATTICE LATTICE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8" name="Shape 98"/>
        <p:cNvGrpSpPr/>
        <p:nvPr/>
      </p:nvGrpSpPr>
      <p:grpSpPr>
        <a:xfrm>
          <a:off x="0" y="0"/>
          <a:ext cx="0" cy="0"/>
          <a:chOff x="0" y="0"/>
          <a:chExt cx="0" cy="0"/>
        </a:xfrm>
      </p:grpSpPr>
      <p:sp>
        <p:nvSpPr>
          <p:cNvPr id="99" name="Google Shape;99;p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0" name="Google Shape;100;p3"/>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1" name="Google Shape;101;p3"/>
          <p:cNvSpPr/>
          <p:nvPr/>
        </p:nvSpPr>
        <p:spPr>
          <a:xfrm flipH="1" rot="5400000">
            <a:off x="-1410084" y="1410082"/>
            <a:ext cx="6858000" cy="4037836"/>
          </a:xfrm>
          <a:prstGeom prst="rect">
            <a:avLst/>
          </a:prstGeom>
          <a:gradFill>
            <a:gsLst>
              <a:gs pos="0">
                <a:srgbClr val="000000"/>
              </a:gs>
              <a:gs pos="8000">
                <a:srgbClr val="000000"/>
              </a:gs>
              <a:gs pos="100000">
                <a:srgbClr val="0F4861"/>
              </a:gs>
            </a:gsLst>
            <a:lin ang="3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2" name="Google Shape;102;p3"/>
          <p:cNvSpPr/>
          <p:nvPr/>
        </p:nvSpPr>
        <p:spPr>
          <a:xfrm flipH="1" rot="5400000">
            <a:off x="-1410085" y="1420219"/>
            <a:ext cx="6857999" cy="4037839"/>
          </a:xfrm>
          <a:prstGeom prst="rect">
            <a:avLst/>
          </a:prstGeom>
          <a:gradFill>
            <a:gsLst>
              <a:gs pos="0">
                <a:srgbClr val="000000">
                  <a:alpha val="0"/>
                </a:srgbClr>
              </a:gs>
              <a:gs pos="99000">
                <a:srgbClr val="156082">
                  <a:alpha val="45882"/>
                </a:srgbClr>
              </a:gs>
              <a:gs pos="100000">
                <a:srgbClr val="156082">
                  <a:alpha val="45882"/>
                </a:srgbClr>
              </a:gs>
            </a:gsLst>
            <a:lin ang="1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3" name="Google Shape;103;p3"/>
          <p:cNvSpPr/>
          <p:nvPr/>
        </p:nvSpPr>
        <p:spPr>
          <a:xfrm flipH="1" rot="5400000">
            <a:off x="767923" y="3588085"/>
            <a:ext cx="2501979" cy="4037841"/>
          </a:xfrm>
          <a:prstGeom prst="rect">
            <a:avLst/>
          </a:prstGeom>
          <a:gradFill>
            <a:gsLst>
              <a:gs pos="0">
                <a:srgbClr val="156082">
                  <a:alpha val="28627"/>
                </a:srgbClr>
              </a:gs>
              <a:gs pos="2000">
                <a:srgbClr val="156082">
                  <a:alpha val="28627"/>
                </a:srgbClr>
              </a:gs>
              <a:gs pos="100000">
                <a:srgbClr val="000000">
                  <a:alpha val="29803"/>
                </a:srgbClr>
              </a:gs>
            </a:gsLst>
            <a:lin ang="7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4" name="Google Shape;104;p3"/>
          <p:cNvSpPr/>
          <p:nvPr/>
        </p:nvSpPr>
        <p:spPr>
          <a:xfrm rot="-964587">
            <a:off x="-501737" y="969718"/>
            <a:ext cx="3900357" cy="4178958"/>
          </a:xfrm>
          <a:custGeom>
            <a:rect b="b" l="l" r="r" t="t"/>
            <a:pathLst>
              <a:path extrusionOk="0" h="4178958" w="3900357">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0">
                <a:srgbClr val="000000">
                  <a:alpha val="0"/>
                </a:srgbClr>
              </a:gs>
              <a:gs pos="29000">
                <a:srgbClr val="000000">
                  <a:alpha val="0"/>
                </a:srgbClr>
              </a:gs>
              <a:gs pos="100000">
                <a:srgbClr val="156082">
                  <a:alpha val="42745"/>
                </a:srgbClr>
              </a:gs>
            </a:gsLst>
            <a:lin ang="1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5" name="Google Shape;105;p3"/>
          <p:cNvSpPr/>
          <p:nvPr/>
        </p:nvSpPr>
        <p:spPr>
          <a:xfrm flipH="1" rot="5400000">
            <a:off x="-1410093" y="1399943"/>
            <a:ext cx="6858003" cy="4037835"/>
          </a:xfrm>
          <a:prstGeom prst="rect">
            <a:avLst/>
          </a:prstGeom>
          <a:gradFill>
            <a:gsLst>
              <a:gs pos="0">
                <a:srgbClr val="000000">
                  <a:alpha val="0"/>
                </a:srgbClr>
              </a:gs>
              <a:gs pos="99000">
                <a:srgbClr val="43AFE2">
                  <a:alpha val="10980"/>
                </a:srgbClr>
              </a:gs>
              <a:gs pos="100000">
                <a:srgbClr val="43AFE2">
                  <a:alpha val="10980"/>
                </a:srgbClr>
              </a:gs>
            </a:gsLst>
            <a:lin ang="7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6" name="Google Shape;106;p3"/>
          <p:cNvSpPr txBox="1"/>
          <p:nvPr>
            <p:ph type="title"/>
          </p:nvPr>
        </p:nvSpPr>
        <p:spPr>
          <a:xfrm>
            <a:off x="466722" y="586855"/>
            <a:ext cx="3201366" cy="3387497"/>
          </a:xfrm>
          <a:prstGeom prst="rect">
            <a:avLst/>
          </a:prstGeom>
          <a:noFill/>
          <a:ln>
            <a:noFill/>
          </a:ln>
        </p:spPr>
        <p:txBody>
          <a:bodyPr anchorCtr="0" anchor="b" bIns="45700" lIns="91425" spcFirstLastPara="1" rIns="91425" wrap="square" tIns="45700">
            <a:normAutofit/>
          </a:bodyPr>
          <a:lstStyle/>
          <a:p>
            <a:pPr indent="0" lvl="0" marL="0" rtl="0" algn="r">
              <a:lnSpc>
                <a:spcPct val="90000"/>
              </a:lnSpc>
              <a:spcBef>
                <a:spcPts val="0"/>
              </a:spcBef>
              <a:spcAft>
                <a:spcPts val="0"/>
              </a:spcAft>
              <a:buClr>
                <a:srgbClr val="FFFFFF"/>
              </a:buClr>
              <a:buSzPts val="4000"/>
              <a:buFont typeface="Play"/>
              <a:buNone/>
            </a:pPr>
            <a:r>
              <a:rPr lang="en-US" sz="4000">
                <a:solidFill>
                  <a:srgbClr val="FFFFFF"/>
                </a:solidFill>
              </a:rPr>
              <a:t>Structural Applications Of Meta-Materials</a:t>
            </a:r>
            <a:endParaRPr/>
          </a:p>
        </p:txBody>
      </p:sp>
      <p:sp>
        <p:nvSpPr>
          <p:cNvPr id="107" name="Google Shape;107;p3"/>
          <p:cNvSpPr txBox="1"/>
          <p:nvPr>
            <p:ph idx="1" type="body"/>
          </p:nvPr>
        </p:nvSpPr>
        <p:spPr>
          <a:xfrm>
            <a:off x="4810259" y="649480"/>
            <a:ext cx="6555347" cy="5546047"/>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Font typeface="Arial"/>
              <a:buChar char="-"/>
            </a:pPr>
            <a:r>
              <a:rPr lang="en-US" sz="2000"/>
              <a:t>Metamaterials are currently being tested for building earthquake application as auxetic metamaterials can be designed to distribute stress evenly loving for stronger shock absorbing materials.</a:t>
            </a:r>
            <a:endParaRPr/>
          </a:p>
          <a:p>
            <a:pPr indent="-228600" lvl="0" marL="228600" rtl="0" algn="l">
              <a:lnSpc>
                <a:spcPct val="90000"/>
              </a:lnSpc>
              <a:spcBef>
                <a:spcPts val="1000"/>
              </a:spcBef>
              <a:spcAft>
                <a:spcPts val="0"/>
              </a:spcAft>
              <a:buClr>
                <a:schemeClr val="dk1"/>
              </a:buClr>
              <a:buSzPts val="2000"/>
              <a:buFont typeface="Arial"/>
              <a:buChar char="-"/>
            </a:pPr>
            <a:r>
              <a:rPr lang="en-US" sz="2000"/>
              <a:t>Metamaterials are currently being implemented in load bearing beams as changes to the lattice structure of certain materials can create much stronger materials better equipped for taking on large loads.</a:t>
            </a:r>
            <a:endParaRPr/>
          </a:p>
          <a:p>
            <a:pPr indent="-228600" lvl="0" marL="228600" rtl="0" algn="l">
              <a:lnSpc>
                <a:spcPct val="90000"/>
              </a:lnSpc>
              <a:spcBef>
                <a:spcPts val="1000"/>
              </a:spcBef>
              <a:spcAft>
                <a:spcPts val="0"/>
              </a:spcAft>
              <a:buClr>
                <a:schemeClr val="dk1"/>
              </a:buClr>
              <a:buSzPts val="2000"/>
              <a:buFont typeface="Arial"/>
              <a:buChar char="-"/>
            </a:pPr>
            <a:r>
              <a:rPr lang="en-US" sz="2000"/>
              <a:t>Self healing metamaterials are another great application for metamaterials as it gives a way to fix cracks in a material rather than replacing the material entirely. </a:t>
            </a:r>
            <a:endParaRPr/>
          </a:p>
          <a:p>
            <a:pPr indent="-228600" lvl="0" marL="228600" rtl="0" algn="l">
              <a:lnSpc>
                <a:spcPct val="90000"/>
              </a:lnSpc>
              <a:spcBef>
                <a:spcPts val="1000"/>
              </a:spcBef>
              <a:spcAft>
                <a:spcPts val="0"/>
              </a:spcAft>
              <a:buClr>
                <a:schemeClr val="dk1"/>
              </a:buClr>
              <a:buSzPts val="2000"/>
              <a:buFont typeface="Arial"/>
              <a:buChar char="-"/>
            </a:pPr>
            <a:r>
              <a:rPr lang="en-US" sz="2000"/>
              <a:t>Metamaterials have also seen a large increase in military application. Metamaterials have proven to have useful characteristics in response to blasts, allowing for advanced military application.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1" name="Shape 111"/>
        <p:cNvGrpSpPr/>
        <p:nvPr/>
      </p:nvGrpSpPr>
      <p:grpSpPr>
        <a:xfrm>
          <a:off x="0" y="0"/>
          <a:ext cx="0" cy="0"/>
          <a:chOff x="0" y="0"/>
          <a:chExt cx="0" cy="0"/>
        </a:xfrm>
      </p:grpSpPr>
      <p:sp>
        <p:nvSpPr>
          <p:cNvPr id="112" name="Google Shape;112;p4"/>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3" name="Google Shape;113;p4"/>
          <p:cNvSpPr txBox="1"/>
          <p:nvPr>
            <p:ph type="title"/>
          </p:nvPr>
        </p:nvSpPr>
        <p:spPr>
          <a:xfrm>
            <a:off x="640080" y="325369"/>
            <a:ext cx="4368602" cy="195684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5000"/>
              <a:buFont typeface="Play"/>
              <a:buNone/>
            </a:pPr>
            <a:r>
              <a:rPr lang="en-US" sz="5000"/>
              <a:t>Current Needs and Challenges</a:t>
            </a:r>
            <a:endParaRPr/>
          </a:p>
        </p:txBody>
      </p:sp>
      <p:sp>
        <p:nvSpPr>
          <p:cNvPr id="114" name="Google Shape;114;p4"/>
          <p:cNvSpPr/>
          <p:nvPr/>
        </p:nvSpPr>
        <p:spPr>
          <a:xfrm>
            <a:off x="640080" y="2586994"/>
            <a:ext cx="3474720" cy="18288"/>
          </a:xfrm>
          <a:custGeom>
            <a:rect b="b" l="l" r="r" t="t"/>
            <a:pathLst>
              <a:path extrusionOk="0" fill="none" h="18288" w="347472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extrusionOk="0" h="18288" w="347472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cap="rnd" cmpd="sng" w="4445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5" name="Google Shape;115;p4"/>
          <p:cNvSpPr txBox="1"/>
          <p:nvPr>
            <p:ph idx="1" type="body"/>
          </p:nvPr>
        </p:nvSpPr>
        <p:spPr>
          <a:xfrm>
            <a:off x="640080" y="2872899"/>
            <a:ext cx="4243589" cy="332066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700"/>
              <a:buNone/>
            </a:pPr>
            <a:r>
              <a:rPr lang="en-US" sz="1700"/>
              <a:t>Currently the main downside of using metamaterials in all sorts of applications is the very little information we have about them. Conducting further research and experiments with metamaterials and superficially fracture analysis of metamaterials would allow for a broader range of applications. Having all the information necessary to create a material with known and calculated characterizes would allow for more cost effective, safe and overall stronger structures.</a:t>
            </a:r>
            <a:endParaRPr/>
          </a:p>
        </p:txBody>
      </p:sp>
      <p:pic>
        <p:nvPicPr>
          <p:cNvPr descr="Chemical formulas are written on paper" id="116" name="Google Shape;116;p4"/>
          <p:cNvPicPr preferRelativeResize="0"/>
          <p:nvPr/>
        </p:nvPicPr>
        <p:blipFill rotWithShape="1">
          <a:blip r:embed="rId3">
            <a:alphaModFix/>
          </a:blip>
          <a:srcRect b="0" l="19358" r="24222" t="0"/>
          <a:stretch/>
        </p:blipFill>
        <p:spPr>
          <a:xfrm>
            <a:off x="5311702" y="10"/>
            <a:ext cx="6878775" cy="6857990"/>
          </a:xfrm>
          <a:custGeom>
            <a:rect b="b" l="l" r="r" t="t"/>
            <a:pathLst>
              <a:path extrusionOk="0" h="6858000" w="6878775">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0" name="Shape 120"/>
        <p:cNvGrpSpPr/>
        <p:nvPr/>
      </p:nvGrpSpPr>
      <p:grpSpPr>
        <a:xfrm>
          <a:off x="0" y="0"/>
          <a:ext cx="0" cy="0"/>
          <a:chOff x="0" y="0"/>
          <a:chExt cx="0" cy="0"/>
        </a:xfrm>
      </p:grpSpPr>
      <p:sp>
        <p:nvSpPr>
          <p:cNvPr id="121" name="Google Shape;121;p5"/>
          <p:cNvSpPr/>
          <p:nvPr/>
        </p:nvSpPr>
        <p:spPr>
          <a:xfrm>
            <a:off x="3048"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2" name="Google Shape;122;p5"/>
          <p:cNvSpPr/>
          <p:nvPr/>
        </p:nvSpPr>
        <p:spPr>
          <a:xfrm>
            <a:off x="1" y="0"/>
            <a:ext cx="4167271" cy="6858000"/>
          </a:xfrm>
          <a:custGeom>
            <a:rect b="b" l="l" r="r" t="t"/>
            <a:pathLst>
              <a:path extrusionOk="0" h="6858000" w="4167271">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3" name="Google Shape;123;p5"/>
          <p:cNvSpPr txBox="1"/>
          <p:nvPr>
            <p:ph type="title"/>
          </p:nvPr>
        </p:nvSpPr>
        <p:spPr>
          <a:xfrm>
            <a:off x="686834" y="1153572"/>
            <a:ext cx="3200400" cy="44611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700"/>
              <a:buFont typeface="Play"/>
              <a:buNone/>
            </a:pPr>
            <a:r>
              <a:rPr lang="en-US" sz="3700">
                <a:solidFill>
                  <a:srgbClr val="FFFFFF"/>
                </a:solidFill>
              </a:rPr>
              <a:t>Future of Metamaterials</a:t>
            </a:r>
            <a:endParaRPr/>
          </a:p>
        </p:txBody>
      </p:sp>
      <p:sp>
        <p:nvSpPr>
          <p:cNvPr id="124" name="Google Shape;124;p5"/>
          <p:cNvSpPr/>
          <p:nvPr/>
        </p:nvSpPr>
        <p:spPr>
          <a:xfrm flipH="1" rot="10800000">
            <a:off x="7550402" y="2455479"/>
            <a:ext cx="4083433" cy="4083433"/>
          </a:xfrm>
          <a:prstGeom prst="arc">
            <a:avLst>
              <a:gd fmla="val 16200000"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25" name="Google Shape;125;p5"/>
          <p:cNvSpPr txBox="1"/>
          <p:nvPr>
            <p:ph idx="1" type="body"/>
          </p:nvPr>
        </p:nvSpPr>
        <p:spPr>
          <a:xfrm>
            <a:off x="4447308" y="591344"/>
            <a:ext cx="6906491" cy="558561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With the advancement of metamaterials, we would be able to make custom fit materials for all applications necessary. AI models prove to be the future as it would allow for easy development of new and improved structures for any problem that could not have been solved otherwise. Teaching an AI model how to evaluate and understand cracking analysis of metamaterials would allow for decades of research advancement in minutes. Metamaterials paired with AI and machine learning would allow for the design of the materials of tomorrow, today.</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2025-03-07T01:07:41Z</dcterms:created>
  <dc:creator>Helder Rebelo</dc:creator>
</cp:coreProperties>
</file>