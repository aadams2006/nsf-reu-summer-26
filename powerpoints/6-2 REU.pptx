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evis Jacobs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686"/>
    <a:srgbClr val="0F3E7B"/>
    <a:srgbClr val="014F9E"/>
    <a:srgbClr val="FCB61C"/>
    <a:srgbClr val="001F5B"/>
    <a:srgbClr val="A7D2E0"/>
    <a:srgbClr val="0432FF"/>
    <a:srgbClr val="FF0000"/>
    <a:srgbClr val="FF25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0206" autoAdjust="0"/>
  </p:normalViewPr>
  <p:slideViewPr>
    <p:cSldViewPr>
      <p:cViewPr>
        <p:scale>
          <a:sx n="100" d="100"/>
          <a:sy n="100" d="100"/>
        </p:scale>
        <p:origin x="883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152"/>
    </p:cViewPr>
  </p:sorterViewPr>
  <p:notesViewPr>
    <p:cSldViewPr>
      <p:cViewPr varScale="1">
        <p:scale>
          <a:sx n="86" d="100"/>
          <a:sy n="86" d="100"/>
        </p:scale>
        <p:origin x="-3042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77948F-8F14-D741-A91D-17DAA1A33C3C}" type="datetime1">
              <a:rPr lang="en-US"/>
              <a:pPr>
                <a:defRPr/>
              </a:pPr>
              <a:t>6/1/2026</a:t>
            </a:fld>
            <a:endParaRPr lang="en-US"/>
          </a:p>
        </p:txBody>
      </p:sp>
      <p:sp>
        <p:nvSpPr>
          <p:cNvPr id="214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9EFBD60-ED00-9F49-9C44-185C37AA92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23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/>
            </a:lvl1pPr>
          </a:lstStyle>
          <a:p>
            <a:pPr>
              <a:defRPr/>
            </a:pPr>
            <a:fld id="{17E32B26-EEC0-9247-A56A-A050A540A0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62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Berkache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et al. (2022) used micropolar continuum theory to derive analytical scaling laws for hexagonal, triangular, and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kagome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lattices.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</a:b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Shaikeea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et al. (2022): fracture in 3D octet-truss metamaterials depends on T-stress AND Kᴵ, not Kᴵ alone. Standard testing protocols developed for continua are fundamentally inadequate.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Fleck, Deshpande &amp; Ashby (2010) show fracture toughness Kᴵᴶ ∝ ρ̄ᵈ via full lattice simulations.</a:t>
            </a:r>
            <a:endParaRPr lang="en-US" b="0" dirty="0">
              <a:effectLst/>
            </a:endParaRP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6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1 Tit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5DFF146A-4BCE-6F95-2D4C-A6F7B2A0D7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4FB9F8-A929-64F9-8452-DF5F52C12C2C}"/>
              </a:ext>
            </a:extLst>
          </p:cNvPr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D2B8474-1DC1-B492-A83D-2535C61CCD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70A84B-3904-6B95-68EB-E37CE90A15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9C7C03-25AE-60C0-E0C6-14C3DA9A56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5BC5DFF-661D-7A87-98CC-549BC731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9572"/>
            <a:ext cx="6010930" cy="6397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041DF6-60C1-D18C-A84F-4C23DF4CAED5}"/>
              </a:ext>
            </a:extLst>
          </p:cNvPr>
          <p:cNvSpPr/>
          <p:nvPr userDrawn="1"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E6410E-FFA5-6012-8204-8E02583113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29076" cy="975487"/>
          </a:xfrm>
          <a:prstGeom prst="rect">
            <a:avLst/>
          </a:prstGeom>
        </p:spPr>
      </p:pic>
      <p:pic>
        <p:nvPicPr>
          <p:cNvPr id="11" name="Picture 10" descr="University of Pittsburgh, Mechanical Engineering and Materials Science">
            <a:extLst>
              <a:ext uri="{FF2B5EF4-FFF2-40B4-BE49-F238E27FC236}">
                <a16:creationId xmlns:a16="http://schemas.microsoft.com/office/drawing/2014/main" id="{18DF627C-11E2-B857-0B20-57F581D4A1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4000" y="6159660"/>
            <a:ext cx="2311580" cy="707743"/>
          </a:xfrm>
          <a:prstGeom prst="rect">
            <a:avLst/>
          </a:prstGeom>
        </p:spPr>
      </p:pic>
      <p:pic>
        <p:nvPicPr>
          <p:cNvPr id="12" name="Picture 11" descr="NJIT Launches a Campus Chapter of the National Academy of Inventors | David  A. Bader">
            <a:extLst>
              <a:ext uri="{FF2B5EF4-FFF2-40B4-BE49-F238E27FC236}">
                <a16:creationId xmlns:a16="http://schemas.microsoft.com/office/drawing/2014/main" id="{6B28D72E-749C-EBC3-22F6-A19174E6E21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24800" y="6284380"/>
            <a:ext cx="1112280" cy="4583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2 Title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2A186-A842-EB41-93F8-9926F66DBD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317"/>
            <a:ext cx="9144000" cy="64008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Seal 2color 2 line.png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FD572-9420-AD18-8C3B-3529F2BF12E8}"/>
              </a:ext>
            </a:extLst>
          </p:cNvPr>
          <p:cNvSpPr txBox="1"/>
          <p:nvPr userDrawn="1"/>
        </p:nvSpPr>
        <p:spPr>
          <a:xfrm>
            <a:off x="2305373" y="3159641"/>
            <a:ext cx="4610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C9725D-A2D6-16FE-6F5D-47EE05BF27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3E585B-2E8A-DEF3-CD0F-C20D13904D3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89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">
            <a:extLst>
              <a:ext uri="{FF2B5EF4-FFF2-40B4-BE49-F238E27FC236}">
                <a16:creationId xmlns:a16="http://schemas.microsoft.com/office/drawing/2014/main" id="{EC73BF8B-9074-FEFA-90EF-69C858B96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667000"/>
            <a:ext cx="7086600" cy="1461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3472" tIns="83472" rIns="83472" bIns="83472">
            <a:spAutoFit/>
          </a:bodyPr>
          <a:lstStyle>
            <a:lvl1pPr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1pPr>
            <a:lvl2pPr marL="742950" indent="-28575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2pPr>
            <a:lvl3pPr marL="11430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3pPr>
            <a:lvl4pPr marL="16002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4pPr>
            <a:lvl5pPr marL="20574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5pPr>
            <a:lvl6pPr marL="25146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6pPr>
            <a:lvl7pPr marL="29718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7pPr>
            <a:lvl8pPr marL="34290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8pPr>
            <a:lvl9pPr marL="38862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 dirty="0"/>
              <a:t>Optimizing Material Strength Predictions in Complex Lattice Topologies Using Graph Neural Networks (GNNs) </a:t>
            </a: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E37CF-52DF-9FCE-ABD6-CA0AF5BD4CA2}"/>
              </a:ext>
            </a:extLst>
          </p:cNvPr>
          <p:cNvSpPr txBox="1"/>
          <p:nvPr/>
        </p:nvSpPr>
        <p:spPr>
          <a:xfrm>
            <a:off x="1333500" y="4442936"/>
            <a:ext cx="6477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050" b="1" dirty="0"/>
              <a:t>Alexander </a:t>
            </a:r>
            <a:r>
              <a:rPr lang="en-US" altLang="en-US" sz="1050" b="1" dirty="0" err="1"/>
              <a:t>Adams</a:t>
            </a:r>
            <a:r>
              <a:rPr lang="en-US" altLang="en-US" sz="1050" b="1" baseline="30000" dirty="0" err="1"/>
              <a:t>a</a:t>
            </a:r>
            <a:r>
              <a:rPr lang="en-US" altLang="en-US" sz="1050" b="1" baseline="30000" dirty="0"/>
              <a:t> </a:t>
            </a:r>
            <a:r>
              <a:rPr lang="en-US" altLang="en-US" sz="1050" b="1" dirty="0"/>
              <a:t>and Dr. Xing </a:t>
            </a:r>
            <a:r>
              <a:rPr lang="en-US" altLang="en-US" sz="1050" b="1" dirty="0" err="1"/>
              <a:t>Liu</a:t>
            </a:r>
            <a:r>
              <a:rPr lang="en-US" altLang="en-US" sz="1050" b="1" baseline="30000" dirty="0" err="1"/>
              <a:t>b</a:t>
            </a:r>
            <a:endParaRPr lang="en-US" altLang="en-US" sz="1050" b="1" dirty="0"/>
          </a:p>
          <a:p>
            <a:pPr algn="ctr"/>
            <a:r>
              <a:rPr lang="en-US" altLang="en-US" sz="1050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a </a:t>
            </a:r>
            <a:r>
              <a:rPr lang="en-US" altLang="en-US" sz="1050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Engineering and Materials Science, University of Pittsburgh, Pittsburgh, PA 15260</a:t>
            </a:r>
          </a:p>
          <a:p>
            <a:pPr algn="ctr"/>
            <a:r>
              <a:rPr lang="en-US" altLang="en-US" sz="1050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b </a:t>
            </a:r>
            <a:r>
              <a:rPr lang="en-US" altLang="en-US" sz="1050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and Industrial Engineering, New Jersey Institute of Technology, Newark, NJ 07102</a:t>
            </a:r>
            <a:endParaRPr lang="en-US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AD81BF-565F-7FF3-7CB6-6F9B243F885D}"/>
              </a:ext>
            </a:extLst>
          </p:cNvPr>
          <p:cNvSpPr txBox="1"/>
          <p:nvPr/>
        </p:nvSpPr>
        <p:spPr>
          <a:xfrm>
            <a:off x="1333500" y="4128236"/>
            <a:ext cx="6477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1050" b="1" dirty="0"/>
              <a:t>June 2</a:t>
            </a:r>
            <a:r>
              <a:rPr lang="en-US" sz="1050" b="1" baseline="30000" dirty="0"/>
              <a:t>nd</a:t>
            </a:r>
            <a:r>
              <a:rPr lang="en-US" sz="1050" b="1" dirty="0"/>
              <a:t> 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49509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C37E8E-DC5A-2D7E-941E-9988B75C8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2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ACA65-382A-B590-11F9-3C130CA0629C}"/>
              </a:ext>
            </a:extLst>
          </p:cNvPr>
          <p:cNvSpPr txBox="1"/>
          <p:nvPr/>
        </p:nvSpPr>
        <p:spPr>
          <a:xfrm>
            <a:off x="2209800" y="58271"/>
            <a:ext cx="22060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D8DB09-3AB3-2659-817A-245E2EE5B2EA}"/>
              </a:ext>
            </a:extLst>
          </p:cNvPr>
          <p:cNvSpPr/>
          <p:nvPr/>
        </p:nvSpPr>
        <p:spPr>
          <a:xfrm>
            <a:off x="685800" y="1181100"/>
            <a:ext cx="1981200" cy="1524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CDC1A4-0C85-A2B2-7305-2600E2965CBC}"/>
              </a:ext>
            </a:extLst>
          </p:cNvPr>
          <p:cNvSpPr/>
          <p:nvPr/>
        </p:nvSpPr>
        <p:spPr>
          <a:xfrm>
            <a:off x="6477000" y="1173480"/>
            <a:ext cx="1981200" cy="1524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C794EC-D382-0496-FAD3-4E21982F25E8}"/>
              </a:ext>
            </a:extLst>
          </p:cNvPr>
          <p:cNvSpPr/>
          <p:nvPr/>
        </p:nvSpPr>
        <p:spPr>
          <a:xfrm>
            <a:off x="3581400" y="1181100"/>
            <a:ext cx="1981200" cy="1524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08BC00-3D18-E720-5DC0-FAB78153ED85}"/>
              </a:ext>
            </a:extLst>
          </p:cNvPr>
          <p:cNvSpPr txBox="1"/>
          <p:nvPr/>
        </p:nvSpPr>
        <p:spPr>
          <a:xfrm>
            <a:off x="6849124" y="2311069"/>
            <a:ext cx="1296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Stiffness-to-weight improvement over foams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12B680-F3E9-227C-6261-8577E31FF4E0}"/>
              </a:ext>
            </a:extLst>
          </p:cNvPr>
          <p:cNvSpPr txBox="1"/>
          <p:nvPr/>
        </p:nvSpPr>
        <p:spPr>
          <a:xfrm>
            <a:off x="6828948" y="1600200"/>
            <a:ext cx="1337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 reduction possible with lattices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C749B8-E9BE-63E7-6B56-BC4DA9083B62}"/>
              </a:ext>
            </a:extLst>
          </p:cNvPr>
          <p:cNvSpPr txBox="1"/>
          <p:nvPr/>
        </p:nvSpPr>
        <p:spPr>
          <a:xfrm>
            <a:off x="559681" y="2790804"/>
            <a:ext cx="762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Critical industries relying on advanced architecture materials:</a:t>
            </a:r>
            <a:endParaRPr lang="en-US" sz="11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540796-0913-3FD7-FC02-7A5E2801C603}"/>
              </a:ext>
            </a:extLst>
          </p:cNvPr>
          <p:cNvSpPr txBox="1"/>
          <p:nvPr/>
        </p:nvSpPr>
        <p:spPr>
          <a:xfrm>
            <a:off x="685800" y="3135467"/>
            <a:ext cx="1639051" cy="2616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100" b="0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  Aerospace &amp; Defense</a:t>
            </a:r>
            <a:endParaRPr lang="en-US" sz="11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9B7416-5811-8E67-BFAE-4D234B58FAB1}"/>
              </a:ext>
            </a:extLst>
          </p:cNvPr>
          <p:cNvSpPr txBox="1"/>
          <p:nvPr/>
        </p:nvSpPr>
        <p:spPr>
          <a:xfrm>
            <a:off x="6648074" y="3167390"/>
            <a:ext cx="1639051" cy="2616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100" b="0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  Energy Absorption</a:t>
            </a:r>
            <a:endParaRPr lang="en-US" sz="11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976271-E103-FB86-9A27-6B58048E1673}"/>
              </a:ext>
            </a:extLst>
          </p:cNvPr>
          <p:cNvSpPr txBox="1"/>
          <p:nvPr/>
        </p:nvSpPr>
        <p:spPr>
          <a:xfrm>
            <a:off x="4572000" y="3167390"/>
            <a:ext cx="1905000" cy="2616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100" b="0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  Automotive Lightweighting</a:t>
            </a:r>
            <a:endParaRPr lang="en-US" sz="11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4AC4C9-E15B-71A7-5C62-594FCF15D6E0}"/>
              </a:ext>
            </a:extLst>
          </p:cNvPr>
          <p:cNvSpPr txBox="1"/>
          <p:nvPr/>
        </p:nvSpPr>
        <p:spPr>
          <a:xfrm>
            <a:off x="2629651" y="3157062"/>
            <a:ext cx="1639051" cy="2616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100" b="0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  Biomedical Implants</a:t>
            </a:r>
            <a:endParaRPr lang="en-US" sz="11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7D881B-DE52-2999-7DEC-24E2907A07A7}"/>
              </a:ext>
            </a:extLst>
          </p:cNvPr>
          <p:cNvSpPr txBox="1"/>
          <p:nvPr/>
        </p:nvSpPr>
        <p:spPr>
          <a:xfrm>
            <a:off x="559681" y="3657600"/>
            <a:ext cx="24649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Core Problem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7DB85B-0E04-7F27-3043-1EA0626ACCF7}"/>
              </a:ext>
            </a:extLst>
          </p:cNvPr>
          <p:cNvSpPr txBox="1"/>
          <p:nvPr/>
        </p:nvSpPr>
        <p:spPr>
          <a:xfrm>
            <a:off x="685800" y="4269136"/>
            <a:ext cx="2743200" cy="24275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Theory:</a:t>
            </a:r>
          </a:p>
          <a:p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Lattices assumed to be perfectly periodic: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uniform strut dimensions, no defects,</a:t>
            </a:r>
          </a:p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identical unit cells throughout</a:t>
            </a:r>
          </a:p>
          <a:p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EC833-E46A-689B-369D-358B4B91A750}"/>
              </a:ext>
            </a:extLst>
          </p:cNvPr>
          <p:cNvSpPr txBox="1"/>
          <p:nvPr/>
        </p:nvSpPr>
        <p:spPr>
          <a:xfrm>
            <a:off x="3903373" y="4269135"/>
            <a:ext cx="4572000" cy="245451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 b="1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  <a:t>Reality:</a:t>
            </a:r>
            <a:endParaRPr lang="en-US" sz="1100" b="1" i="0" u="none" strike="noStrike" dirty="0">
              <a:solidFill>
                <a:srgbClr val="1A1A2E"/>
              </a:solidFill>
              <a:effectLst/>
              <a:latin typeface="Calibri" panose="020F0502020204030204" pitchFamily="34" charset="0"/>
            </a:endParaRPr>
          </a:p>
          <a:p>
            <a:pPr rtl="0">
              <a:buNone/>
            </a:pPr>
            <a:r>
              <a:rPr lang="en-US" sz="1100" b="1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  <a:t>Manufacturing introduces defects:</a:t>
            </a:r>
            <a:br>
              <a:rPr lang="en-US" sz="1100" b="1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</a:br>
            <a:r>
              <a:rPr lang="en-US" sz="1100" b="0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  <a:t>strut diameter variation, node misalignment, missing struts, surface roughness</a:t>
            </a:r>
            <a:br>
              <a:rPr lang="en-US" sz="1100" b="0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</a:br>
            <a:br>
              <a:rPr lang="en-US" sz="1100" b="0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</a:br>
            <a:r>
              <a:rPr lang="en-US" sz="1100" b="1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  <a:t>→  Theoretical models fail to predict</a:t>
            </a:r>
            <a:br>
              <a:rPr lang="en-US" sz="1100" b="1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</a:br>
            <a:r>
              <a:rPr lang="en-US" sz="1100" b="1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  <a:t>actual strength and fracture behavior</a:t>
            </a:r>
            <a:br>
              <a:rPr lang="en-US" sz="1100" b="1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</a:br>
            <a:br>
              <a:rPr lang="en-US" sz="1100" b="1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</a:br>
            <a:r>
              <a:rPr lang="en-US" sz="1100" b="0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  <a:t>→  </a:t>
            </a:r>
            <a:r>
              <a:rPr lang="en-US" sz="1100" b="0" i="0" u="none" strike="noStrike" dirty="0" err="1">
                <a:solidFill>
                  <a:srgbClr val="1A1A2E"/>
                </a:solidFill>
                <a:effectLst/>
                <a:latin typeface="Calibri" panose="020F0502020204030204" pitchFamily="34" charset="0"/>
              </a:rPr>
              <a:t>Shaikeea</a:t>
            </a:r>
            <a:r>
              <a:rPr lang="en-US" sz="1100" b="0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  <a:t> et al. (2022): </a:t>
            </a:r>
            <a:r>
              <a:rPr lang="en-US" sz="1100" b="0" i="0" u="none" strike="noStrike" dirty="0" err="1">
                <a:solidFill>
                  <a:srgbClr val="1A1A2E"/>
                </a:solidFill>
                <a:effectLst/>
                <a:latin typeface="Calibri" panose="020F0502020204030204" pitchFamily="34" charset="0"/>
              </a:rPr>
              <a:t>K</a:t>
            </a:r>
            <a:r>
              <a:rPr lang="en-US" sz="1100" b="0" i="0" u="none" strike="noStrike" baseline="-25000" dirty="0" err="1">
                <a:solidFill>
                  <a:srgbClr val="1A1A2E"/>
                </a:solidFill>
                <a:effectLst/>
                <a:latin typeface="Calibri" panose="020F0502020204030204" pitchFamily="34" charset="0"/>
              </a:rPr>
              <a:t>Ic</a:t>
            </a:r>
            <a:r>
              <a:rPr lang="en-US" sz="1100" b="0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  <a:t> alone is INSUFFICIENT to characterize</a:t>
            </a:r>
            <a:endParaRPr lang="en-US" sz="1100" b="0" dirty="0">
              <a:effectLst/>
            </a:endParaRPr>
          </a:p>
          <a:p>
            <a:pPr rtl="0">
              <a:buNone/>
            </a:pPr>
            <a:r>
              <a:rPr lang="en-US" sz="1100" b="0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  <a:t>fracture in 3D metamaterials</a:t>
            </a:r>
            <a:endParaRPr lang="en-US" sz="1100" b="0" dirty="0">
              <a:effectLst/>
            </a:endParaRPr>
          </a:p>
          <a:p>
            <a:pPr>
              <a:buNone/>
            </a:pPr>
            <a:br>
              <a:rPr lang="en-US" sz="1100" dirty="0"/>
            </a:br>
            <a:endParaRPr lang="en-US" sz="1100" dirty="0"/>
          </a:p>
        </p:txBody>
      </p:sp>
      <p:pic>
        <p:nvPicPr>
          <p:cNvPr id="27" name="Picture 26" descr="Different crystal structures of engineering materials">
            <a:extLst>
              <a:ext uri="{FF2B5EF4-FFF2-40B4-BE49-F238E27FC236}">
                <a16:creationId xmlns:a16="http://schemas.microsoft.com/office/drawing/2014/main" id="{51957A76-CBEC-4DA8-4E6D-0BB8F542F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409732"/>
            <a:ext cx="1032943" cy="121966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4B3F0CA-7032-829F-6A6D-208AD93D2175}"/>
              </a:ext>
            </a:extLst>
          </p:cNvPr>
          <p:cNvSpPr txBox="1"/>
          <p:nvPr/>
        </p:nvSpPr>
        <p:spPr>
          <a:xfrm>
            <a:off x="3581399" y="1250603"/>
            <a:ext cx="19812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The global </a:t>
            </a:r>
            <a:r>
              <a:rPr lang="en-US" sz="1200" b="1" dirty="0"/>
              <a:t>composites market</a:t>
            </a:r>
            <a:r>
              <a:rPr lang="en-US" sz="1200" dirty="0"/>
              <a:t> was valued at approximately </a:t>
            </a:r>
            <a:r>
              <a:rPr lang="en-US" sz="1200" b="1" dirty="0"/>
              <a:t>$110–133 billion in 2024</a:t>
            </a:r>
            <a:r>
              <a:rPr lang="en-US" sz="1200" dirty="0"/>
              <a:t>, with projections to reach </a:t>
            </a:r>
            <a:r>
              <a:rPr lang="en-US" sz="1200" b="1" dirty="0"/>
              <a:t>$205-313 billion by 2032–2034</a:t>
            </a:r>
            <a:r>
              <a:rPr lang="en-US" sz="1200" dirty="0"/>
              <a:t> (CAGR ~8–9%)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E47F25-3FA6-B9D8-67D5-9500A6E27A03}"/>
              </a:ext>
            </a:extLst>
          </p:cNvPr>
          <p:cNvSpPr txBox="1"/>
          <p:nvPr/>
        </p:nvSpPr>
        <p:spPr>
          <a:xfrm>
            <a:off x="6828948" y="1153180"/>
            <a:ext cx="1296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30-50%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B67813-B14A-E47F-4E93-87C9CE40BF51}"/>
              </a:ext>
            </a:extLst>
          </p:cNvPr>
          <p:cNvSpPr txBox="1"/>
          <p:nvPr/>
        </p:nvSpPr>
        <p:spPr>
          <a:xfrm>
            <a:off x="961888" y="1219200"/>
            <a:ext cx="14781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eaLnBrk="0" fontAlgn="base" hangingPunct="0">
              <a:spcBef>
                <a:spcPts val="1680"/>
              </a:spcBef>
              <a:buNone/>
            </a:pPr>
            <a:r>
              <a:rPr lang="en-US" sz="2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$280B+</a:t>
            </a:r>
            <a:endParaRPr lang="en-US" dirty="0">
              <a:effectLst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B82029-7DFB-3A63-075E-A01829F88B51}"/>
              </a:ext>
            </a:extLst>
          </p:cNvPr>
          <p:cNvSpPr txBox="1"/>
          <p:nvPr/>
        </p:nvSpPr>
        <p:spPr>
          <a:xfrm>
            <a:off x="4982496" y="1900261"/>
            <a:ext cx="49702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40%+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32A5BE-9AAD-F92C-739A-08E2379FEE70}"/>
              </a:ext>
            </a:extLst>
          </p:cNvPr>
          <p:cNvSpPr txBox="1"/>
          <p:nvPr/>
        </p:nvSpPr>
        <p:spPr>
          <a:xfrm>
            <a:off x="1002856" y="1642646"/>
            <a:ext cx="1337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Materials Global Market (2024)</a:t>
            </a:r>
          </a:p>
        </p:txBody>
      </p:sp>
      <p:pic>
        <p:nvPicPr>
          <p:cNvPr id="34" name="Picture 14" descr="Composites Market ">
            <a:extLst>
              <a:ext uri="{FF2B5EF4-FFF2-40B4-BE49-F238E27FC236}">
                <a16:creationId xmlns:a16="http://schemas.microsoft.com/office/drawing/2014/main" id="{CE328213-9304-B1BB-4E3D-EA7F2D6E3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91" y="1989912"/>
            <a:ext cx="1298420" cy="64860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39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2DC3B-C2E2-C492-FB4A-37701EC2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B51052-277A-6507-E8CA-82CE6C23AF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37742-CAC9-13E0-EA25-ED546BD2D344}"/>
              </a:ext>
            </a:extLst>
          </p:cNvPr>
          <p:cNvSpPr txBox="1"/>
          <p:nvPr/>
        </p:nvSpPr>
        <p:spPr>
          <a:xfrm>
            <a:off x="2209800" y="58271"/>
            <a:ext cx="3270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Review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ADACF3-0D7E-70D0-4443-7DCFCD30B983}"/>
              </a:ext>
            </a:extLst>
          </p:cNvPr>
          <p:cNvSpPr/>
          <p:nvPr/>
        </p:nvSpPr>
        <p:spPr>
          <a:xfrm>
            <a:off x="152400" y="838201"/>
            <a:ext cx="7848600" cy="3047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r>
              <a:rPr lang="en-US" sz="1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Micropolar effects on elastic properties and fracture toughness of planar lattices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44C7BE-B301-F779-679B-5B657B7278F7}"/>
              </a:ext>
            </a:extLst>
          </p:cNvPr>
          <p:cNvSpPr/>
          <p:nvPr/>
        </p:nvSpPr>
        <p:spPr>
          <a:xfrm>
            <a:off x="152400" y="4643119"/>
            <a:ext cx="5486400" cy="3047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r>
              <a:rPr lang="en-US" sz="1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Micro-</a:t>
            </a:r>
            <a:r>
              <a:rPr lang="en-US" sz="1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architectured</a:t>
            </a:r>
            <a:r>
              <a:rPr lang="en-US" sz="1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materials: past, present and future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6C1B09-AF95-2B1A-8A2F-7BD06BC9B26B}"/>
              </a:ext>
            </a:extLst>
          </p:cNvPr>
          <p:cNvSpPr/>
          <p:nvPr/>
        </p:nvSpPr>
        <p:spPr>
          <a:xfrm>
            <a:off x="152400" y="2740660"/>
            <a:ext cx="4419600" cy="3047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r>
              <a:rPr lang="en-US" sz="1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toughness of mechanical metamaterials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D7A01-F970-3E96-6760-2646055552FF}"/>
              </a:ext>
            </a:extLst>
          </p:cNvPr>
          <p:cNvSpPr txBox="1"/>
          <p:nvPr/>
        </p:nvSpPr>
        <p:spPr>
          <a:xfrm>
            <a:off x="152400" y="1290319"/>
            <a:ext cx="5486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Discrete asymptotic homogenization → explicit micropolar constitutive relations vs. relative density </a:t>
            </a:r>
            <a:r>
              <a:rPr lang="el-GR" sz="1200" b="0" i="0" u="none" strike="noStrike" dirty="0">
                <a:effectLst/>
                <a:latin typeface="Calibri" panose="020F0502020204030204" pitchFamily="34" charset="0"/>
              </a:rPr>
              <a:t>ρ̄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Hexagonal lattice internal length lᶜ ∝ </a:t>
            </a:r>
            <a:r>
              <a:rPr lang="el-GR" sz="1200" b="0" i="0" u="none" strike="noStrike" dirty="0">
                <a:effectLst/>
                <a:latin typeface="Calibri" panose="020F0502020204030204" pitchFamily="34" charset="0"/>
              </a:rPr>
              <a:t>ρ̄^0.5</a:t>
            </a: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,</a:t>
            </a:r>
            <a:r>
              <a:rPr lang="el-GR" sz="1200" b="0" i="0" u="none" strike="noStrike" dirty="0">
                <a:effectLst/>
                <a:latin typeface="Calibri" panose="020F0502020204030204" pitchFamily="34" charset="0"/>
              </a:rPr>
              <a:t> </a:t>
            </a: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bending-dominated architectures need micropolar enrichment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Resolves discrepancies between Chen et al. 1998 gradient theory and experimental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DBBF58-6321-963A-B4C1-E1F79A01C6FF}"/>
              </a:ext>
            </a:extLst>
          </p:cNvPr>
          <p:cNvSpPr txBox="1"/>
          <p:nvPr/>
        </p:nvSpPr>
        <p:spPr>
          <a:xfrm>
            <a:off x="121920" y="3175206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Manufactured ~10M-cell octet-truss specimens via large-area projection </a:t>
            </a:r>
            <a:r>
              <a:rPr lang="en-US" sz="1200" b="0" i="0" u="none" strike="noStrike" dirty="0" err="1">
                <a:effectLst/>
                <a:latin typeface="Calibri" panose="020F0502020204030204" pitchFamily="34" charset="0"/>
              </a:rPr>
              <a:t>microstereolithography</a:t>
            </a:r>
            <a:endParaRPr lang="en-US" sz="1200" b="0" i="0" u="none" strike="noStrike" dirty="0">
              <a:effectLst/>
              <a:latin typeface="Calibri" panose="020F050202020403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Kᴵᴶ depends on both a/ℓ and load triaxiality </a:t>
            </a:r>
            <a:r>
              <a:rPr lang="el-GR" sz="1200" b="0" i="0" u="none" strike="noStrike" dirty="0">
                <a:effectLst/>
                <a:latin typeface="Calibri" panose="020F0502020204030204" pitchFamily="34" charset="0"/>
              </a:rPr>
              <a:t>λ</a:t>
            </a: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,</a:t>
            </a:r>
            <a:r>
              <a:rPr lang="el-GR" sz="1200" b="0" i="0" u="none" strike="noStrike" dirty="0">
                <a:effectLst/>
                <a:latin typeface="Calibri" panose="020F0502020204030204" pitchFamily="34" charset="0"/>
              </a:rPr>
              <a:t> </a:t>
            </a: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KI alone is insufficient; T-stress governs failure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Fracture mechanism map (</a:t>
            </a:r>
            <a:r>
              <a:rPr lang="el-GR" sz="1200" b="0" i="0" u="none" strike="noStrike" dirty="0">
                <a:effectLst/>
                <a:latin typeface="Calibri" panose="020F0502020204030204" pitchFamily="34" charset="0"/>
              </a:rPr>
              <a:t>ρ̄/ε</a:t>
            </a: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ᴼ vs. T̄) fully characterizes failure, plane-stress &lt; plane-strain toughness (reversed!)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D2F803-8166-505A-E416-EB4CD84BCF24}"/>
              </a:ext>
            </a:extLst>
          </p:cNvPr>
          <p:cNvSpPr txBox="1"/>
          <p:nvPr/>
        </p:nvSpPr>
        <p:spPr>
          <a:xfrm>
            <a:off x="152400" y="5095237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Establishes nodal connectivity Z as the key parameter: stretching-dominated (Z≥4) vs. bending-dominated (Z=3)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Fracture toughness Kᴵᴶ ∝ </a:t>
            </a:r>
            <a:r>
              <a:rPr lang="el-GR" sz="1200" b="0" i="0" u="none" strike="noStrike" dirty="0">
                <a:effectLst/>
                <a:latin typeface="Calibri" panose="020F0502020204030204" pitchFamily="34" charset="0"/>
              </a:rPr>
              <a:t>ρ̄</a:t>
            </a: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ᵈ with d=2 (hexagonal), d=1 (triangular), d=0.5 (Kagome)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Kagome achieves density-independent toughness Gᴵᴶ, foundation for my topology exploration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031422-33EC-854D-E24F-CA6D40D99EB6}"/>
              </a:ext>
            </a:extLst>
          </p:cNvPr>
          <p:cNvSpPr/>
          <p:nvPr/>
        </p:nvSpPr>
        <p:spPr>
          <a:xfrm>
            <a:off x="6477000" y="5095237"/>
            <a:ext cx="2209800" cy="138499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Limitation: Computationally expensive with billions of DOF per simulation. Not scalable to defect-space exploration.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C96E5C-E804-E620-582B-A709CB6A6731}"/>
              </a:ext>
            </a:extLst>
          </p:cNvPr>
          <p:cNvSpPr/>
          <p:nvPr/>
        </p:nvSpPr>
        <p:spPr>
          <a:xfrm>
            <a:off x="6477000" y="1290319"/>
            <a:ext cx="2209800" cy="138499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Limitation: Assumes perfect periodicity. Breaks down at higher relative densities and cannot handle defects.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8E7F9A-8106-9A85-403F-E1DEC6183BB0}"/>
              </a:ext>
            </a:extLst>
          </p:cNvPr>
          <p:cNvSpPr/>
          <p:nvPr/>
        </p:nvSpPr>
        <p:spPr>
          <a:xfrm>
            <a:off x="6477000" y="3110805"/>
            <a:ext cx="2209800" cy="138499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Limitation: Cannot be applied off-the-shelf to discrete architected materials.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AF7916-2B77-7864-59A1-C85E472FC370}"/>
              </a:ext>
            </a:extLst>
          </p:cNvPr>
          <p:cNvSpPr txBox="1"/>
          <p:nvPr/>
        </p:nvSpPr>
        <p:spPr>
          <a:xfrm>
            <a:off x="76200" y="4912358"/>
            <a:ext cx="2209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800" b="0" i="1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Calibri" panose="020F0502020204030204" pitchFamily="34" charset="0"/>
              </a:rPr>
              <a:t>Fleck, Deshpande &amp; Ashby, Proc. R. Soc. A (2010)</a:t>
            </a:r>
            <a:endParaRPr lang="en-US" sz="800" b="0" dirty="0">
              <a:solidFill>
                <a:schemeClr val="tx2">
                  <a:lumMod val="50000"/>
                  <a:lumOff val="50000"/>
                </a:schemeClr>
              </a:solidFill>
              <a:effectLst/>
            </a:endParaRPr>
          </a:p>
          <a:p>
            <a:pPr>
              <a:buNone/>
            </a:pPr>
            <a:br>
              <a:rPr lang="en-US" sz="800" dirty="0"/>
            </a:br>
            <a:endParaRPr lang="en-US" sz="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025D82-2F88-B3D7-231C-9C678A8807E6}"/>
              </a:ext>
            </a:extLst>
          </p:cNvPr>
          <p:cNvSpPr txBox="1"/>
          <p:nvPr/>
        </p:nvSpPr>
        <p:spPr>
          <a:xfrm>
            <a:off x="121920" y="112014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de-DE" sz="800" b="0" i="1" u="none" strike="noStrike" dirty="0" err="1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Calibri" panose="020F0502020204030204" pitchFamily="34" charset="0"/>
              </a:rPr>
              <a:t>Berkache</a:t>
            </a:r>
            <a:r>
              <a:rPr lang="de-DE" sz="800" b="0" i="1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Calibri" panose="020F0502020204030204" pitchFamily="34" charset="0"/>
              </a:rPr>
              <a:t>, Phani &amp; </a:t>
            </a:r>
            <a:r>
              <a:rPr lang="de-DE" sz="800" b="0" i="1" u="none" strike="noStrike" dirty="0" err="1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Calibri" panose="020F0502020204030204" pitchFamily="34" charset="0"/>
              </a:rPr>
              <a:t>Ganghoffer</a:t>
            </a:r>
            <a:r>
              <a:rPr lang="de-DE" sz="800" b="0" i="1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Calibri" panose="020F0502020204030204" pitchFamily="34" charset="0"/>
              </a:rPr>
              <a:t>, Eur. J. Mech. A (2022)</a:t>
            </a:r>
            <a:endParaRPr lang="de-DE" sz="800" b="0" dirty="0">
              <a:solidFill>
                <a:schemeClr val="tx2">
                  <a:lumMod val="50000"/>
                  <a:lumOff val="50000"/>
                </a:schemeClr>
              </a:solidFill>
              <a:effectLst/>
            </a:endParaRPr>
          </a:p>
          <a:p>
            <a:pPr>
              <a:buNone/>
            </a:pPr>
            <a:br>
              <a:rPr lang="de-DE" sz="800" dirty="0"/>
            </a:br>
            <a:endParaRPr lang="en-US" sz="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7277F8-9F82-54B4-2F4C-B6E54C5DBF3E}"/>
              </a:ext>
            </a:extLst>
          </p:cNvPr>
          <p:cNvSpPr txBox="1"/>
          <p:nvPr/>
        </p:nvSpPr>
        <p:spPr>
          <a:xfrm>
            <a:off x="76200" y="301624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800" b="0" i="1" u="none" strike="noStrike" dirty="0" err="1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Calibri" panose="020F0502020204030204" pitchFamily="34" charset="0"/>
              </a:rPr>
              <a:t>Shaikeea</a:t>
            </a:r>
            <a:r>
              <a:rPr lang="en-US" sz="800" b="0" i="1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Calibri" panose="020F0502020204030204" pitchFamily="34" charset="0"/>
              </a:rPr>
              <a:t>, Cui, </a:t>
            </a:r>
            <a:r>
              <a:rPr lang="en-US" sz="800" b="0" i="1" u="none" strike="noStrike" dirty="0" err="1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Calibri" panose="020F0502020204030204" pitchFamily="34" charset="0"/>
              </a:rPr>
              <a:t>O'Masta</a:t>
            </a:r>
            <a:r>
              <a:rPr lang="en-US" sz="800" b="0" i="1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Calibri" panose="020F0502020204030204" pitchFamily="34" charset="0"/>
              </a:rPr>
              <a:t>, Zheng &amp; Deshpande, Nat. Mater. (2022)</a:t>
            </a:r>
            <a:endParaRPr lang="en-US" sz="800" b="0" dirty="0">
              <a:solidFill>
                <a:schemeClr val="tx2">
                  <a:lumMod val="50000"/>
                  <a:lumOff val="50000"/>
                </a:schemeClr>
              </a:solidFill>
              <a:effectLst/>
            </a:endParaRPr>
          </a:p>
          <a:p>
            <a:pPr>
              <a:buNone/>
            </a:pPr>
            <a:br>
              <a:rPr lang="en-US" sz="800" dirty="0"/>
            </a:b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8498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AB187-25D8-EDEA-55EE-C6D36BDF7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D287F1-9157-51AC-F830-3AEF1FB12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58530-D60F-5715-D051-9D7BE7674512}"/>
              </a:ext>
            </a:extLst>
          </p:cNvPr>
          <p:cNvSpPr txBox="1"/>
          <p:nvPr/>
        </p:nvSpPr>
        <p:spPr>
          <a:xfrm>
            <a:off x="2209800" y="58271"/>
            <a:ext cx="35189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Workflow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0B7E1B-33D3-3803-DAEE-7AD1E7214C81}"/>
              </a:ext>
            </a:extLst>
          </p:cNvPr>
          <p:cNvSpPr/>
          <p:nvPr/>
        </p:nvSpPr>
        <p:spPr>
          <a:xfrm>
            <a:off x="304800" y="1105876"/>
            <a:ext cx="1828800" cy="1524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EF6812-9B8B-6547-F1DD-6FA9D4006F23}"/>
              </a:ext>
            </a:extLst>
          </p:cNvPr>
          <p:cNvSpPr/>
          <p:nvPr/>
        </p:nvSpPr>
        <p:spPr>
          <a:xfrm>
            <a:off x="2493596" y="1105876"/>
            <a:ext cx="1828800" cy="1524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5E18D1-6083-25F0-2854-2786CE940CBE}"/>
              </a:ext>
            </a:extLst>
          </p:cNvPr>
          <p:cNvSpPr/>
          <p:nvPr/>
        </p:nvSpPr>
        <p:spPr>
          <a:xfrm>
            <a:off x="4748090" y="1110259"/>
            <a:ext cx="1828800" cy="1524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7365F4-20A4-AC20-768B-0BC737EBC276}"/>
              </a:ext>
            </a:extLst>
          </p:cNvPr>
          <p:cNvSpPr/>
          <p:nvPr/>
        </p:nvSpPr>
        <p:spPr>
          <a:xfrm>
            <a:off x="7002585" y="1090245"/>
            <a:ext cx="1828800" cy="1524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C8076-D71B-727F-2067-9200441D891A}"/>
              </a:ext>
            </a:extLst>
          </p:cNvPr>
          <p:cNvSpPr txBox="1"/>
          <p:nvPr/>
        </p:nvSpPr>
        <p:spPr>
          <a:xfrm>
            <a:off x="541582" y="1150389"/>
            <a:ext cx="135523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b="1" i="0" u="none" strike="noStrike" dirty="0">
                <a:effectLst/>
                <a:latin typeface="Calibri" panose="020F0502020204030204" pitchFamily="34" charset="0"/>
              </a:rPr>
              <a:t>Lattice</a:t>
            </a:r>
            <a:endParaRPr lang="en-US" sz="1400" b="0" dirty="0">
              <a:effectLst/>
            </a:endParaRPr>
          </a:p>
          <a:p>
            <a:pPr algn="ctr" rtl="0">
              <a:buNone/>
            </a:pPr>
            <a:r>
              <a:rPr lang="en-US" sz="1400" b="1" i="0" u="none" strike="noStrike" dirty="0">
                <a:effectLst/>
                <a:latin typeface="Calibri" panose="020F0502020204030204" pitchFamily="34" charset="0"/>
              </a:rPr>
              <a:t>Geometry</a:t>
            </a:r>
            <a:endParaRPr lang="en-US" sz="1400" b="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C62CE4-03B9-122A-2876-D94B710283C9}"/>
              </a:ext>
            </a:extLst>
          </p:cNvPr>
          <p:cNvSpPr txBox="1"/>
          <p:nvPr/>
        </p:nvSpPr>
        <p:spPr>
          <a:xfrm>
            <a:off x="602762" y="1765700"/>
            <a:ext cx="1295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100" b="0" i="0" u="none" strike="noStrike" dirty="0">
                <a:effectLst/>
                <a:latin typeface="Calibri" panose="020F0502020204030204" pitchFamily="34" charset="0"/>
              </a:rPr>
              <a:t>Node positions,</a:t>
            </a:r>
            <a:endParaRPr lang="en-US" sz="1100" b="0" dirty="0">
              <a:effectLst/>
            </a:endParaRPr>
          </a:p>
          <a:p>
            <a:pPr algn="ctr" rtl="0">
              <a:buNone/>
            </a:pPr>
            <a:r>
              <a:rPr lang="en-US" sz="1100" b="0" i="0" u="none" strike="noStrike" dirty="0">
                <a:effectLst/>
                <a:latin typeface="Calibri" panose="020F0502020204030204" pitchFamily="34" charset="0"/>
              </a:rPr>
              <a:t>connectivity,</a:t>
            </a:r>
            <a:endParaRPr lang="en-US" sz="1100" b="0" dirty="0">
              <a:effectLst/>
            </a:endParaRPr>
          </a:p>
          <a:p>
            <a:pPr algn="ctr" rtl="0">
              <a:buNone/>
            </a:pPr>
            <a:r>
              <a:rPr lang="en-US" sz="1100" b="0" i="0" u="none" strike="noStrike" dirty="0">
                <a:effectLst/>
                <a:latin typeface="Calibri" panose="020F0502020204030204" pitchFamily="34" charset="0"/>
              </a:rPr>
              <a:t>boundary </a:t>
            </a:r>
            <a:r>
              <a:rPr lang="en-US" sz="1100" b="0" i="0" u="none" strike="noStrike" dirty="0" err="1">
                <a:effectLst/>
                <a:latin typeface="Calibri" panose="020F0502020204030204" pitchFamily="34" charset="0"/>
              </a:rPr>
              <a:t>conds</a:t>
            </a:r>
            <a:r>
              <a:rPr lang="en-US" sz="1100" b="0" i="0" u="none" strike="noStrike" dirty="0">
                <a:effectLst/>
                <a:latin typeface="Calibri" panose="020F0502020204030204" pitchFamily="34" charset="0"/>
              </a:rPr>
              <a:t>.</a:t>
            </a:r>
            <a:endParaRPr lang="en-US" sz="1100" b="0" dirty="0">
              <a:effectLst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9FC74F-74B2-3AC8-F597-8DC8867C91EA}"/>
              </a:ext>
            </a:extLst>
          </p:cNvPr>
          <p:cNvSpPr txBox="1"/>
          <p:nvPr/>
        </p:nvSpPr>
        <p:spPr>
          <a:xfrm>
            <a:off x="2109666" y="1667821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→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ABAF57-1FF0-3420-23B7-0771CE6C756C}"/>
              </a:ext>
            </a:extLst>
          </p:cNvPr>
          <p:cNvSpPr txBox="1"/>
          <p:nvPr/>
        </p:nvSpPr>
        <p:spPr>
          <a:xfrm>
            <a:off x="6613403" y="1684475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→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AFBF95-00B3-8AFF-E3F6-3BD91F19FF4B}"/>
              </a:ext>
            </a:extLst>
          </p:cNvPr>
          <p:cNvSpPr txBox="1"/>
          <p:nvPr/>
        </p:nvSpPr>
        <p:spPr>
          <a:xfrm>
            <a:off x="4336866" y="1684475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→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807EC6-B71B-CF30-B4F8-2E4FCAD81EAB}"/>
              </a:ext>
            </a:extLst>
          </p:cNvPr>
          <p:cNvSpPr txBox="1"/>
          <p:nvPr/>
        </p:nvSpPr>
        <p:spPr>
          <a:xfrm>
            <a:off x="2735749" y="1219459"/>
            <a:ext cx="13552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b="1" i="0" u="none" strike="noStrike" dirty="0">
                <a:effectLst/>
                <a:latin typeface="Calibri" panose="020F0502020204030204" pitchFamily="34" charset="0"/>
              </a:rPr>
              <a:t>Tabular Features</a:t>
            </a:r>
            <a:endParaRPr lang="en-US" sz="1400" b="0" dirty="0">
              <a:effectLst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284DB5-81EE-F991-0043-1C99D2457F3D}"/>
              </a:ext>
            </a:extLst>
          </p:cNvPr>
          <p:cNvSpPr txBox="1"/>
          <p:nvPr/>
        </p:nvSpPr>
        <p:spPr>
          <a:xfrm>
            <a:off x="2645814" y="1746162"/>
            <a:ext cx="149823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100" b="0" i="0" u="none" strike="noStrike" dirty="0">
                <a:effectLst/>
                <a:latin typeface="Calibri" panose="020F0502020204030204" pitchFamily="34" charset="0"/>
              </a:rPr>
              <a:t>Lattice geometry encoded into table for additional model training input</a:t>
            </a:r>
            <a:endParaRPr lang="en-US" sz="1100" b="0" dirty="0">
              <a:effectLst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422242-EB8B-380B-3CC8-22F667A3E63F}"/>
              </a:ext>
            </a:extLst>
          </p:cNvPr>
          <p:cNvSpPr txBox="1"/>
          <p:nvPr/>
        </p:nvSpPr>
        <p:spPr>
          <a:xfrm>
            <a:off x="4984872" y="1371767"/>
            <a:ext cx="13552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b="1" i="0" u="none" strike="noStrike" dirty="0">
                <a:effectLst/>
                <a:latin typeface="Calibri" panose="020F0502020204030204" pitchFamily="34" charset="0"/>
              </a:rPr>
              <a:t>GNN Model</a:t>
            </a:r>
            <a:endParaRPr lang="en-US" sz="1400" b="0" dirty="0">
              <a:effectLst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568189-5041-7C92-BE2E-08BA69B5EC1B}"/>
              </a:ext>
            </a:extLst>
          </p:cNvPr>
          <p:cNvSpPr txBox="1"/>
          <p:nvPr/>
        </p:nvSpPr>
        <p:spPr>
          <a:xfrm>
            <a:off x="4984200" y="1742679"/>
            <a:ext cx="1295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100" b="0" i="0" u="none" strike="noStrike" dirty="0">
                <a:effectLst/>
                <a:latin typeface="Calibri" panose="020F0502020204030204" pitchFamily="34" charset="0"/>
              </a:rPr>
              <a:t>Graph-structured</a:t>
            </a:r>
          </a:p>
          <a:p>
            <a:pPr algn="ctr" rtl="0">
              <a:buNone/>
            </a:pPr>
            <a:r>
              <a:rPr lang="en-US" sz="1100" b="0" i="0" u="none" strike="noStrike" dirty="0">
                <a:effectLst/>
                <a:latin typeface="Calibri" panose="020F0502020204030204" pitchFamily="34" charset="0"/>
              </a:rPr>
              <a:t>forward pass;</a:t>
            </a:r>
          </a:p>
          <a:p>
            <a:pPr algn="ctr" rtl="0">
              <a:buNone/>
            </a:pPr>
            <a:r>
              <a:rPr lang="en-US" sz="1100" b="0" i="0" u="none" strike="noStrike" dirty="0">
                <a:effectLst/>
                <a:latin typeface="Calibri" panose="020F0502020204030204" pitchFamily="34" charset="0"/>
              </a:rPr>
              <a:t>learns stress fields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BBA5C8-9CB8-68FC-F175-B76CD271A758}"/>
              </a:ext>
            </a:extLst>
          </p:cNvPr>
          <p:cNvSpPr txBox="1"/>
          <p:nvPr/>
        </p:nvSpPr>
        <p:spPr>
          <a:xfrm>
            <a:off x="7239367" y="1552405"/>
            <a:ext cx="135523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b="1" i="0" u="none" strike="noStrike" dirty="0">
                <a:effectLst/>
                <a:latin typeface="Calibri" panose="020F0502020204030204" pitchFamily="34" charset="0"/>
              </a:rPr>
              <a:t>Predicted</a:t>
            </a:r>
          </a:p>
          <a:p>
            <a:pPr algn="ctr" rtl="0">
              <a:buNone/>
            </a:pPr>
            <a:r>
              <a:rPr lang="en-US" sz="1400" b="1" i="0" u="none" strike="noStrike" dirty="0">
                <a:effectLst/>
                <a:latin typeface="Calibri" panose="020F0502020204030204" pitchFamily="34" charset="0"/>
              </a:rPr>
              <a:t>Strength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077D54-ED41-A97A-142F-D4117E5B3D24}"/>
              </a:ext>
            </a:extLst>
          </p:cNvPr>
          <p:cNvSpPr txBox="1"/>
          <p:nvPr/>
        </p:nvSpPr>
        <p:spPr>
          <a:xfrm>
            <a:off x="262066" y="2867661"/>
            <a:ext cx="8881934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effectLst/>
                <a:latin typeface="Calibri" panose="020F0502020204030204" pitchFamily="34" charset="0"/>
              </a:rPr>
              <a:t>Why Graph Neural Networks?</a:t>
            </a:r>
            <a:endParaRPr lang="en-US" sz="1400" b="0" dirty="0">
              <a:effectLst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  <a:t>Lattice = graph: nodes are joints, edges are struts, GNNs operate natively on this representation</a:t>
            </a:r>
            <a:endParaRPr lang="en-US" sz="1400" b="0" dirty="0">
              <a:effectLst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  <a:t>Inference is orders of magnitude faster than FE simulation (no billions of DOF solve)</a:t>
            </a:r>
            <a:endParaRPr lang="en-US" sz="1400" b="0" dirty="0">
              <a:effectLst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  <a:t>Handles irregular, defective geometries that break analytical homogenization assumptions</a:t>
            </a:r>
            <a:endParaRPr lang="en-US" sz="1400" b="0" dirty="0">
              <a:effectLst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1A1A2E"/>
                </a:solidFill>
                <a:effectLst/>
                <a:latin typeface="Calibri" panose="020F0502020204030204" pitchFamily="34" charset="0"/>
              </a:rPr>
              <a:t>Can encode graph topology as node/edge/global attributes</a:t>
            </a:r>
            <a:endParaRPr lang="en-US" sz="1400" b="0" dirty="0">
              <a:effectLst/>
            </a:endParaRPr>
          </a:p>
          <a:p>
            <a:pPr>
              <a:buNone/>
            </a:pPr>
            <a:br>
              <a:rPr lang="en-US" sz="1400" dirty="0"/>
            </a:br>
            <a:endParaRPr lang="en-US" sz="14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8724BEE-A5A3-13B8-55C1-E606F1C60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688" y="4724400"/>
            <a:ext cx="3931311" cy="19656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88814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2494E-155D-62F4-B505-9E6482FE6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FE5288-DAC5-95C4-2FC2-ACCC51C1B9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5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9A7E3-2FDF-97E5-33F8-50EDEB753417}"/>
              </a:ext>
            </a:extLst>
          </p:cNvPr>
          <p:cNvSpPr txBox="1"/>
          <p:nvPr/>
        </p:nvSpPr>
        <p:spPr>
          <a:xfrm>
            <a:off x="2209800" y="58271"/>
            <a:ext cx="27735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Goals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A4DA21-0596-F453-094B-A72258407381}"/>
              </a:ext>
            </a:extLst>
          </p:cNvPr>
          <p:cNvSpPr/>
          <p:nvPr/>
        </p:nvSpPr>
        <p:spPr>
          <a:xfrm>
            <a:off x="4953000" y="3733799"/>
            <a:ext cx="3276600" cy="4571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Expected 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AF4673-0F3E-2111-60FE-58EFCEA99482}"/>
              </a:ext>
            </a:extLst>
          </p:cNvPr>
          <p:cNvSpPr/>
          <p:nvPr/>
        </p:nvSpPr>
        <p:spPr>
          <a:xfrm>
            <a:off x="328999" y="3733800"/>
            <a:ext cx="3276600" cy="4571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Fracture Mechanism Prediction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151FF8-2683-F667-C03A-FA2C96E23A4B}"/>
              </a:ext>
            </a:extLst>
          </p:cNvPr>
          <p:cNvSpPr/>
          <p:nvPr/>
        </p:nvSpPr>
        <p:spPr>
          <a:xfrm>
            <a:off x="328999" y="1052747"/>
            <a:ext cx="3276600" cy="4571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Build The Graph Dataset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10A109-6BA3-2E92-4C33-CC8560269F9A}"/>
              </a:ext>
            </a:extLst>
          </p:cNvPr>
          <p:cNvSpPr/>
          <p:nvPr/>
        </p:nvSpPr>
        <p:spPr>
          <a:xfrm>
            <a:off x="4953000" y="1073067"/>
            <a:ext cx="3276600" cy="4571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Train &amp; Validate GNN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111D3B-3281-B54E-3A2F-7B0431BB9401}"/>
              </a:ext>
            </a:extLst>
          </p:cNvPr>
          <p:cNvSpPr txBox="1"/>
          <p:nvPr/>
        </p:nvSpPr>
        <p:spPr>
          <a:xfrm>
            <a:off x="313759" y="1530266"/>
            <a:ext cx="32766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diverse lattice geometries (hexagonal,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kagome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triangular, octet-truss) with controlled randomness &amp; defects. Run FE simulations to produce labeled strength outputs</a:t>
            </a:r>
          </a:p>
        </p:txBody>
      </p:sp>
      <p:pic>
        <p:nvPicPr>
          <p:cNvPr id="23" name="Picture 22" descr="Types of Lattices for Additive Manufacturing – Terms Engineers Need to Know">
            <a:extLst>
              <a:ext uri="{FF2B5EF4-FFF2-40B4-BE49-F238E27FC236}">
                <a16:creationId xmlns:a16="http://schemas.microsoft.com/office/drawing/2014/main" id="{0982B362-D05D-D5B0-2442-EECB3C649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92" y="2720137"/>
            <a:ext cx="2442592" cy="80300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030A896-5484-8314-C1E2-005AD281A34E}"/>
              </a:ext>
            </a:extLst>
          </p:cNvPr>
          <p:cNvSpPr txBox="1"/>
          <p:nvPr/>
        </p:nvSpPr>
        <p:spPr>
          <a:xfrm>
            <a:off x="4876800" y="1530266"/>
            <a:ext cx="3429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 on graphical lattice representations + tabular features. Validate Kᴵᴶ predictions against FE ground truth and Fleck/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Berkache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scaling laws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2E5AC0B-65E4-D249-732A-D73B2900B5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000"/>
          <a:stretch>
            <a:fillRect/>
          </a:stretch>
        </p:blipFill>
        <p:spPr>
          <a:xfrm>
            <a:off x="5348571" y="2484373"/>
            <a:ext cx="2485457" cy="119301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98CDA26-83CC-6F76-75BA-2399AF83327B}"/>
              </a:ext>
            </a:extLst>
          </p:cNvPr>
          <p:cNvSpPr txBox="1"/>
          <p:nvPr/>
        </p:nvSpPr>
        <p:spPr>
          <a:xfrm>
            <a:off x="313759" y="4190998"/>
            <a:ext cx="342004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model to predict failure mode (tensile fracture vs. elastic buckling) and the T-stress contribution, going beyond Kᴵᴶ-only characterization.</a:t>
            </a:r>
          </a:p>
        </p:txBody>
      </p:sp>
      <p:pic>
        <p:nvPicPr>
          <p:cNvPr id="35" name="Picture 34" descr="Failure modes of lattice sandwich plate by additive-manufacturing and its  imperfection sensitivity | Acta Mechanica Sinica | Springer Nature Link">
            <a:extLst>
              <a:ext uri="{FF2B5EF4-FFF2-40B4-BE49-F238E27FC236}">
                <a16:creationId xmlns:a16="http://schemas.microsoft.com/office/drawing/2014/main" id="{4B5A5F76-9555-2662-FFB3-A426D3714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339159" y="5199581"/>
            <a:ext cx="3266440" cy="149254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4C874F8-C527-ADCF-39AF-3C9ECFF20B6C}"/>
              </a:ext>
            </a:extLst>
          </p:cNvPr>
          <p:cNvSpPr txBox="1"/>
          <p:nvPr/>
        </p:nvSpPr>
        <p:spPr>
          <a:xfrm>
            <a:off x="4876800" y="4247405"/>
            <a:ext cx="342004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fast and defect-aware model for lattice strength, enabling rapid design iterations without full FE solves. Potential to generalize across topologies.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9E0D0893-9AE8-D997-55E1-B4FF24EC9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160" y="5207119"/>
            <a:ext cx="2475428" cy="16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889903"/>
      </p:ext>
    </p:extLst>
  </p:cSld>
  <p:clrMapOvr>
    <a:masterClrMapping/>
  </p:clrMapOvr>
</p:sld>
</file>

<file path=ppt/theme/theme1.xml><?xml version="1.0" encoding="utf-8"?>
<a:theme xmlns:a="http://schemas.openxmlformats.org/drawingml/2006/main" name="Body Slides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Bmechbpresentation" id="{69F95A6D-80FB-42CF-9430-49B8985042DD}" vid="{8DAACE04-E927-497C-BE7F-C965F736CC2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759F7608B13A4D86BCC979C54BBCCB" ma:contentTypeVersion="3" ma:contentTypeDescription="Create a new document." ma:contentTypeScope="" ma:versionID="562f52eeba954e953f3dbe994cae5a50">
  <xsd:schema xmlns:xsd="http://www.w3.org/2001/XMLSchema" xmlns:xs="http://www.w3.org/2001/XMLSchema" xmlns:p="http://schemas.microsoft.com/office/2006/metadata/properties" xmlns:ns2="08677264-7440-49ce-928a-9917bd2fc905" targetNamespace="http://schemas.microsoft.com/office/2006/metadata/properties" ma:root="true" ma:fieldsID="cfe0b1e2cc427cbe41c2a2bde47cd0a9" ns2:_="">
    <xsd:import namespace="08677264-7440-49ce-928a-9917bd2fc9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77264-7440-49ce-928a-9917bd2fc9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6C02176-421E-4469-B6C2-6437A9690D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1EAF09-CD46-4973-8E3F-6CB46C90CA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77264-7440-49ce-928a-9917bd2fc9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74ED9B8-9FE6-4BEC-B456-79D1D6C96D7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reu '26 template</Template>
  <TotalTime>2241</TotalTime>
  <Words>793</Words>
  <Application>Microsoft Office PowerPoint</Application>
  <PresentationFormat>On-screen Show (4:3)</PresentationFormat>
  <Paragraphs>94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Myriad Pro</vt:lpstr>
      <vt:lpstr>Body Slides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Adams, Alex</dc:creator>
  <cp:keywords/>
  <dc:description/>
  <cp:lastModifiedBy>Adams, Alex</cp:lastModifiedBy>
  <cp:revision>11</cp:revision>
  <cp:lastPrinted>2016-03-29T19:22:42Z</cp:lastPrinted>
  <dcterms:created xsi:type="dcterms:W3CDTF">2026-05-27T15:51:39Z</dcterms:created>
  <dcterms:modified xsi:type="dcterms:W3CDTF">2026-06-02T21:25:46Z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0x010100CE759F7608B13A4D86BCC979C54BBCCB</vt:lpwstr>
  </property>
</Properties>
</file>