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7"/>
  </p:notesMasterIdLst>
  <p:handoutMasterIdLst>
    <p:handoutMasterId r:id="rId18"/>
  </p:handoutMasterIdLst>
  <p:sldIdLst>
    <p:sldId id="256" r:id="rId5"/>
    <p:sldId id="258" r:id="rId6"/>
    <p:sldId id="263" r:id="rId7"/>
    <p:sldId id="259" r:id="rId8"/>
    <p:sldId id="260" r:id="rId9"/>
    <p:sldId id="262" r:id="rId10"/>
    <p:sldId id="264" r:id="rId11"/>
    <p:sldId id="265" r:id="rId12"/>
    <p:sldId id="266" r:id="rId13"/>
    <p:sldId id="267" r:id="rId14"/>
    <p:sldId id="268" r:id="rId15"/>
    <p:sldId id="269" r:id="rId16"/>
  </p:sldIdLst>
  <p:sldSz cx="9144000" cy="6858000" type="screen4x3"/>
  <p:notesSz cx="6858000" cy="9144000"/>
  <p:defaultTextStyle>
    <a:defPPr>
      <a:defRPr lang="en-US"/>
    </a:defPPr>
    <a:lvl1pPr algn="l" rtl="0" eaLnBrk="0" fontAlgn="base" hangingPunct="0">
      <a:spcBef>
        <a:spcPct val="5000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5000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5000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5000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5000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evis Jacobs" initials="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4686"/>
    <a:srgbClr val="0F3E7B"/>
    <a:srgbClr val="014F9E"/>
    <a:srgbClr val="FCB61C"/>
    <a:srgbClr val="001F5B"/>
    <a:srgbClr val="A7D2E0"/>
    <a:srgbClr val="0432FF"/>
    <a:srgbClr val="FF0000"/>
    <a:srgbClr val="FF25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64845" autoAdjust="0"/>
  </p:normalViewPr>
  <p:slideViewPr>
    <p:cSldViewPr>
      <p:cViewPr>
        <p:scale>
          <a:sx n="75" d="100"/>
          <a:sy n="75" d="100"/>
        </p:scale>
        <p:origin x="1603" y="-1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1152"/>
    </p:cViewPr>
  </p:sorterViewPr>
  <p:notesViewPr>
    <p:cSldViewPr>
      <p:cViewPr varScale="1">
        <p:scale>
          <a:sx n="86" d="100"/>
          <a:sy n="86" d="100"/>
        </p:scale>
        <p:origin x="-3042"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40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200">
                <a:solidFill>
                  <a:schemeClr val="bg1"/>
                </a:solidFill>
                <a:ea typeface="+mn-ea"/>
                <a:cs typeface="+mn-cs"/>
              </a:defRPr>
            </a:lvl1pPr>
          </a:lstStyle>
          <a:p>
            <a:pPr>
              <a:defRPr/>
            </a:pPr>
            <a:endParaRPr lang="en-US"/>
          </a:p>
        </p:txBody>
      </p:sp>
      <p:sp>
        <p:nvSpPr>
          <p:cNvPr id="21401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200">
                <a:solidFill>
                  <a:schemeClr val="bg1"/>
                </a:solidFill>
              </a:defRPr>
            </a:lvl1pPr>
          </a:lstStyle>
          <a:p>
            <a:pPr>
              <a:defRPr/>
            </a:pPr>
            <a:fld id="{DC77948F-8F14-D741-A91D-17DAA1A33C3C}" type="datetime1">
              <a:rPr lang="en-US"/>
              <a:pPr>
                <a:defRPr/>
              </a:pPr>
              <a:t>6/8/2026</a:t>
            </a:fld>
            <a:endParaRPr lang="en-US"/>
          </a:p>
        </p:txBody>
      </p:sp>
      <p:sp>
        <p:nvSpPr>
          <p:cNvPr id="21402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defRPr sz="1200">
                <a:solidFill>
                  <a:schemeClr val="bg1"/>
                </a:solidFill>
                <a:ea typeface="+mn-ea"/>
                <a:cs typeface="+mn-cs"/>
              </a:defRPr>
            </a:lvl1pPr>
          </a:lstStyle>
          <a:p>
            <a:pPr>
              <a:defRPr/>
            </a:pPr>
            <a:endParaRPr lang="en-US"/>
          </a:p>
        </p:txBody>
      </p:sp>
      <p:sp>
        <p:nvSpPr>
          <p:cNvPr id="21402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a:solidFill>
                  <a:schemeClr val="bg1"/>
                </a:solidFill>
              </a:defRPr>
            </a:lvl1pPr>
          </a:lstStyle>
          <a:p>
            <a:pPr>
              <a:defRPr/>
            </a:pPr>
            <a:fld id="{19EFBD60-ED00-9F49-9C44-185C37AA9222}" type="slidenum">
              <a:rPr lang="en-US"/>
              <a:pPr>
                <a:defRPr/>
              </a:pPr>
              <a:t>‹#›</a:t>
            </a:fld>
            <a:endParaRPr lang="en-US"/>
          </a:p>
        </p:txBody>
      </p:sp>
    </p:spTree>
    <p:extLst>
      <p:ext uri="{BB962C8B-B14F-4D97-AF65-F5344CB8AC3E}">
        <p14:creationId xmlns:p14="http://schemas.microsoft.com/office/powerpoint/2010/main" val="28801232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sz="1200">
                <a:solidFill>
                  <a:schemeClr val="tx1"/>
                </a:solidFill>
                <a:ea typeface="+mn-ea"/>
                <a:cs typeface="+mn-cs"/>
              </a:defRPr>
            </a:lvl1pPr>
          </a:lstStyle>
          <a:p>
            <a:pPr>
              <a:defRPr/>
            </a:pPr>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solidFill>
                  <a:schemeClr val="tx1"/>
                </a:solidFill>
                <a:ea typeface="+mn-ea"/>
                <a:cs typeface="+mn-cs"/>
              </a:defRPr>
            </a:lvl1pPr>
          </a:lstStyle>
          <a:p>
            <a:pPr>
              <a:defRPr/>
            </a:pPr>
            <a:endParaRPr lang="en-US"/>
          </a:p>
        </p:txBody>
      </p:sp>
      <p:sp>
        <p:nvSpPr>
          <p:cNvPr id="71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defRPr sz="1200">
                <a:solidFill>
                  <a:schemeClr val="tx1"/>
                </a:solidFill>
                <a:ea typeface="+mn-ea"/>
                <a:cs typeface="+mn-cs"/>
              </a:defRPr>
            </a:lvl1pPr>
          </a:lstStyle>
          <a:p>
            <a:pPr>
              <a:defRPr/>
            </a:pPr>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defRPr sz="1200"/>
            </a:lvl1pPr>
          </a:lstStyle>
          <a:p>
            <a:pPr>
              <a:defRPr/>
            </a:pPr>
            <a:fld id="{17E32B26-EEC0-9247-A56A-A050A540A0C5}" type="slidenum">
              <a:rPr lang="en-US"/>
              <a:pPr>
                <a:defRPr/>
              </a:pPr>
              <a:t>‹#›</a:t>
            </a:fld>
            <a:endParaRPr lang="en-US"/>
          </a:p>
        </p:txBody>
      </p:sp>
    </p:spTree>
    <p:extLst>
      <p:ext uri="{BB962C8B-B14F-4D97-AF65-F5344CB8AC3E}">
        <p14:creationId xmlns:p14="http://schemas.microsoft.com/office/powerpoint/2010/main" val="290211623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Predicting the Mechanical Properties of Complex Lattice Metamaterials Using Graph Neural Networks</a:t>
            </a:r>
          </a:p>
        </p:txBody>
      </p:sp>
      <p:sp>
        <p:nvSpPr>
          <p:cNvPr id="4" name="Slide Number Placeholder 3"/>
          <p:cNvSpPr>
            <a:spLocks noGrp="1"/>
          </p:cNvSpPr>
          <p:nvPr>
            <p:ph type="sldNum" sz="quarter" idx="5"/>
          </p:nvPr>
        </p:nvSpPr>
        <p:spPr/>
        <p:txBody>
          <a:bodyPr/>
          <a:lstStyle/>
          <a:p>
            <a:pPr>
              <a:defRPr/>
            </a:pPr>
            <a:fld id="{17E32B26-EEC0-9247-A56A-A050A540A0C5}" type="slidenum">
              <a:rPr lang="en-US" smtClean="0"/>
              <a:pPr>
                <a:defRPr/>
              </a:pPr>
              <a:t>1</a:t>
            </a:fld>
            <a:endParaRPr lang="en-US"/>
          </a:p>
        </p:txBody>
      </p:sp>
    </p:spTree>
    <p:extLst>
      <p:ext uri="{BB962C8B-B14F-4D97-AF65-F5344CB8AC3E}">
        <p14:creationId xmlns:p14="http://schemas.microsoft.com/office/powerpoint/2010/main" val="215261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 Step 3 is "Designing a Loss Function" — a loss function is essentially the model's score of how wrong it is. After every prediction, the model checks its answer against the real answer, and the loss function measures the gap. The goal of training is to shrink that gap over time. There are different types depending on how much labeled data you have — but for this project we used a supervised approach, meaning every sample had a known correct answer. </a:t>
            </a:r>
          </a:p>
          <a:p>
            <a:pPr marL="171450" indent="-171450">
              <a:buFontTx/>
              <a:buChar char="-"/>
            </a:pPr>
            <a:r>
              <a:rPr lang="en-US" dirty="0"/>
              <a:t>- Step 4 is "Building the Model" — this is the actual GNN architecture. The data flows through several layers (the stacked gray blocks), where at each layer the model learns to combine information from neighboring nodes. Dropout and </a:t>
            </a:r>
            <a:r>
              <a:rPr lang="en-US" dirty="0" err="1"/>
              <a:t>MaxPool</a:t>
            </a:r>
            <a:r>
              <a:rPr lang="en-US" dirty="0"/>
              <a:t> are regularization and compression steps — they help the model generalize rather than just memorize the training data. </a:t>
            </a:r>
            <a:r>
              <a:rPr lang="en-US" dirty="0" err="1"/>
              <a:t>ReLU</a:t>
            </a:r>
            <a:r>
              <a:rPr lang="en-US" dirty="0"/>
              <a:t> is an activation function — it's a simple math operation that lets the network learn nonlinear patterns instead of just fitting a straight line. </a:t>
            </a:r>
          </a:p>
          <a:p>
            <a:pPr marL="171450" indent="-171450">
              <a:buFontTx/>
              <a:buChar char="-"/>
            </a:pPr>
            <a:r>
              <a:rPr lang="en-US" dirty="0"/>
              <a:t>- The "Residual Connection" (the dashed arrow looping around the outside) is a shortcut that lets the original input signal bypass the middle layers and reconnect later. This helps the model retain information that might get distorted as it passes through many layers. </a:t>
            </a:r>
          </a:p>
          <a:p>
            <a:pPr marL="171450" indent="-171450">
              <a:buFontTx/>
              <a:buChar char="-"/>
            </a:pPr>
            <a:r>
              <a:rPr lang="en-US" dirty="0"/>
              <a:t>- The final output on the right is an "Embedding" — a compressed numerical representation of the whole graph that captures its key structural features, which then gets fed into a final prediction layer.</a:t>
            </a:r>
          </a:p>
        </p:txBody>
      </p:sp>
      <p:sp>
        <p:nvSpPr>
          <p:cNvPr id="4" name="Slide Number Placeholder 3"/>
          <p:cNvSpPr>
            <a:spLocks noGrp="1"/>
          </p:cNvSpPr>
          <p:nvPr>
            <p:ph type="sldNum" sz="quarter" idx="5"/>
          </p:nvPr>
        </p:nvSpPr>
        <p:spPr/>
        <p:txBody>
          <a:bodyPr/>
          <a:lstStyle/>
          <a:p>
            <a:pPr>
              <a:defRPr/>
            </a:pPr>
            <a:fld id="{17E32B26-EEC0-9247-A56A-A050A540A0C5}" type="slidenum">
              <a:rPr lang="en-US" smtClean="0"/>
              <a:pPr>
                <a:defRPr/>
              </a:pPr>
              <a:t>2</a:t>
            </a:fld>
            <a:endParaRPr lang="en-US"/>
          </a:p>
        </p:txBody>
      </p:sp>
    </p:spTree>
    <p:extLst>
      <p:ext uri="{BB962C8B-B14F-4D97-AF65-F5344CB8AC3E}">
        <p14:creationId xmlns:p14="http://schemas.microsoft.com/office/powerpoint/2010/main" val="3506019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US" dirty="0"/>
              <a:t>Aggregation Function — Node 2 looks at its immediate neighbors (nodes 1, 3, and itself). It collects, or "aggregates," their feature vectors — basically their numerical descriptions — and sums them up. This is the core idea of message passing: every node gathers information from the nodes around it. The mathematical notation at the bottom (the summation symbol with subscript m) just means "sum over all neighbors." </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US" dirty="0"/>
              <a:t>- Neural Network — That combined neighborhood information gets passed through a small neural network, which is just a series of matrix multiplications and transformations. Think of it as a learned filter that decides what features are important. </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US" dirty="0"/>
              <a:t>- Activation Function σ — This is applied after the neural network step. It introduces nonlinearity — without it, no matter how many layers you stack, the whole thing collapses into a single linear equation and can't learn complex patterns. Common choices are </a:t>
            </a:r>
            <a:r>
              <a:rPr lang="en-US" dirty="0" err="1"/>
              <a:t>ReLU</a:t>
            </a:r>
            <a:r>
              <a:rPr lang="en-US" dirty="0"/>
              <a:t> (sets negatives to zero) or others depending on the task. </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US" dirty="0"/>
              <a:t>- Output — The result is a new, updated feature vector for node 2, now enriched with information from its local neighborhood. In our model we run this process across 3 layers, which means each node ends up "seeing" information from nodes up to 3 hops away.</a:t>
            </a:r>
          </a:p>
        </p:txBody>
      </p:sp>
      <p:sp>
        <p:nvSpPr>
          <p:cNvPr id="4" name="Slide Number Placeholder 3"/>
          <p:cNvSpPr>
            <a:spLocks noGrp="1"/>
          </p:cNvSpPr>
          <p:nvPr>
            <p:ph type="sldNum" sz="quarter" idx="5"/>
          </p:nvPr>
        </p:nvSpPr>
        <p:spPr/>
        <p:txBody>
          <a:bodyPr/>
          <a:lstStyle/>
          <a:p>
            <a:pPr>
              <a:defRPr/>
            </a:pPr>
            <a:fld id="{17E32B26-EEC0-9247-A56A-A050A540A0C5}" type="slidenum">
              <a:rPr lang="en-US" smtClean="0"/>
              <a:pPr>
                <a:defRPr/>
              </a:pPr>
              <a:t>3</a:t>
            </a:fld>
            <a:endParaRPr lang="en-US"/>
          </a:p>
        </p:txBody>
      </p:sp>
    </p:spTree>
    <p:extLst>
      <p:ext uri="{BB962C8B-B14F-4D97-AF65-F5344CB8AC3E}">
        <p14:creationId xmlns:p14="http://schemas.microsoft.com/office/powerpoint/2010/main" val="3513343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"stability label" is the target number I want the model to learn to predict. It's a single score computed from four factors: how well-connected the atoms are on average, how strong the bonds are on average, whether the graph is fully connected without isolated atoms, and a small amount of added noise</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pPr>
              <a:defRPr/>
            </a:pPr>
            <a:fld id="{17E32B26-EEC0-9247-A56A-A050A540A0C5}" type="slidenum">
              <a:rPr lang="en-US" smtClean="0"/>
              <a:pPr>
                <a:defRPr/>
              </a:pPr>
              <a:t>4</a:t>
            </a:fld>
            <a:endParaRPr lang="en-US"/>
          </a:p>
        </p:txBody>
      </p:sp>
    </p:spTree>
    <p:extLst>
      <p:ext uri="{BB962C8B-B14F-4D97-AF65-F5344CB8AC3E}">
        <p14:creationId xmlns:p14="http://schemas.microsoft.com/office/powerpoint/2010/main" val="410056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Training set (70 samples): this is what the model actually learns from. </a:t>
            </a:r>
          </a:p>
          <a:p>
            <a:pPr marL="171450" indent="-171450">
              <a:buFontTx/>
              <a:buChar char="-"/>
            </a:pPr>
            <a:r>
              <a:rPr lang="en-US" dirty="0"/>
              <a:t>- Validation set (15 samples): used during training to monitor whether the model is improving or starting to overfit. "Overfitting" means the model memorizes the training data instead of learning generalizable patterns — like a student who memorizes answers without understanding the concepts. </a:t>
            </a:r>
          </a:p>
          <a:p>
            <a:pPr marL="171450" indent="-171450">
              <a:buFontTx/>
              <a:buChar char="-"/>
            </a:pPr>
            <a:r>
              <a:rPr lang="en-US" dirty="0"/>
              <a:t>- Test set (15 samples): held out completely until the very end. This is the true report card — data the model has never seen, used to evaluate real-world performance. "Batch processing" means rather than feeding all 70 training samples at once, the model processes 8 at a time. This is computationally more efficient and also adds a bit of randomness that helps training.</a:t>
            </a:r>
          </a:p>
        </p:txBody>
      </p:sp>
      <p:sp>
        <p:nvSpPr>
          <p:cNvPr id="4" name="Slide Number Placeholder 3"/>
          <p:cNvSpPr>
            <a:spLocks noGrp="1"/>
          </p:cNvSpPr>
          <p:nvPr>
            <p:ph type="sldNum" sz="quarter" idx="5"/>
          </p:nvPr>
        </p:nvSpPr>
        <p:spPr/>
        <p:txBody>
          <a:bodyPr/>
          <a:lstStyle/>
          <a:p>
            <a:pPr>
              <a:defRPr/>
            </a:pPr>
            <a:fld id="{17E32B26-EEC0-9247-A56A-A050A540A0C5}" type="slidenum">
              <a:rPr lang="en-US" smtClean="0"/>
              <a:pPr>
                <a:defRPr/>
              </a:pPr>
              <a:t>5</a:t>
            </a:fld>
            <a:endParaRPr lang="en-US"/>
          </a:p>
        </p:txBody>
      </p:sp>
    </p:spTree>
    <p:extLst>
      <p:ext uri="{BB962C8B-B14F-4D97-AF65-F5344CB8AC3E}">
        <p14:creationId xmlns:p14="http://schemas.microsoft.com/office/powerpoint/2010/main" val="4836472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"convolutional" part is borrowed from image-processing AI, where a filter slides across an image to detect patterns. In a GCN, that same idea is applied to graphs: each layer "convolves" information from neighboring atoms to update each atom's representation. The model takes two types of input for each structure: - Node-level features: each atom's type and how connected it is relative to others (normalized degree). - Edge-level features: the bond strength between each pair of connected atoms. - Graph-level summary features: five global statistics describing the whole structure — total atom count, total bond count, average connectivity, average bond strength, and whether the graph is fully connected. The architecture has 3 GCN layers that do the neighborhood aggregation, followed by "global mean pooling" which averages all atom embeddings into a single graph-level vector, and an "MLP head" — a small standard neural network — that takes that vector and outputs the final stability number. There's also a "residual path" that bypasses the GCN layers entirely and feeds the graph-level summary features directly into the final prediction. This was a key design decision — the model's accuracy noticeably improved once I added those global features as a direct shortcut. Total parameters is 15,463 — that's the number of internal numbers the model learns during training. By comparison, large AI models like GPT have hundreds of billions of parameters. This is a very small, efficient model.</a:t>
            </a:r>
          </a:p>
        </p:txBody>
      </p:sp>
      <p:sp>
        <p:nvSpPr>
          <p:cNvPr id="4" name="Slide Number Placeholder 3"/>
          <p:cNvSpPr>
            <a:spLocks noGrp="1"/>
          </p:cNvSpPr>
          <p:nvPr>
            <p:ph type="sldNum" sz="quarter" idx="5"/>
          </p:nvPr>
        </p:nvSpPr>
        <p:spPr/>
        <p:txBody>
          <a:bodyPr/>
          <a:lstStyle/>
          <a:p>
            <a:pPr>
              <a:defRPr/>
            </a:pPr>
            <a:fld id="{17E32B26-EEC0-9247-A56A-A050A540A0C5}" type="slidenum">
              <a:rPr lang="en-US" smtClean="0"/>
              <a:pPr>
                <a:defRPr/>
              </a:pPr>
              <a:t>6</a:t>
            </a:fld>
            <a:endParaRPr lang="en-US"/>
          </a:p>
        </p:txBody>
      </p:sp>
    </p:spTree>
    <p:extLst>
      <p:ext uri="{BB962C8B-B14F-4D97-AF65-F5344CB8AC3E}">
        <p14:creationId xmlns:p14="http://schemas.microsoft.com/office/powerpoint/2010/main" val="4164916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Adaptive moment estimation-It adapts the learning rate — how big of a step the model takes when updating — individually for each parameter based on how that parameter has been changing</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1. Forward pass — feed a batch of 8 structures through the model to get predictions. 2. Compute loss — measure how wrong those predictions are. 3. Backward pass — use calculus (backpropagation) to compute how much each parameter contributed to the error. 4. Update weights — nudge every parameter slightly in the direction that reduces the error. 5. Validate — check performance on the 15 validation samples without updating anything.</a:t>
            </a:r>
          </a:p>
        </p:txBody>
      </p:sp>
      <p:sp>
        <p:nvSpPr>
          <p:cNvPr id="4" name="Slide Number Placeholder 3"/>
          <p:cNvSpPr>
            <a:spLocks noGrp="1"/>
          </p:cNvSpPr>
          <p:nvPr>
            <p:ph type="sldNum" sz="quarter" idx="5"/>
          </p:nvPr>
        </p:nvSpPr>
        <p:spPr/>
        <p:txBody>
          <a:bodyPr/>
          <a:lstStyle/>
          <a:p>
            <a:pPr>
              <a:defRPr/>
            </a:pPr>
            <a:fld id="{17E32B26-EEC0-9247-A56A-A050A540A0C5}" type="slidenum">
              <a:rPr lang="en-US" smtClean="0"/>
              <a:pPr>
                <a:defRPr/>
              </a:pPr>
              <a:t>7</a:t>
            </a:fld>
            <a:endParaRPr lang="en-US"/>
          </a:p>
        </p:txBody>
      </p:sp>
    </p:spTree>
    <p:extLst>
      <p:ext uri="{BB962C8B-B14F-4D97-AF65-F5344CB8AC3E}">
        <p14:creationId xmlns:p14="http://schemas.microsoft.com/office/powerpoint/2010/main" val="538315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7E32B26-EEC0-9247-A56A-A050A540A0C5}" type="slidenum">
              <a:rPr lang="en-US" smtClean="0"/>
              <a:pPr>
                <a:defRPr/>
              </a:pPr>
              <a:t>8</a:t>
            </a:fld>
            <a:endParaRPr lang="en-US"/>
          </a:p>
        </p:txBody>
      </p:sp>
    </p:spTree>
    <p:extLst>
      <p:ext uri="{BB962C8B-B14F-4D97-AF65-F5344CB8AC3E}">
        <p14:creationId xmlns:p14="http://schemas.microsoft.com/office/powerpoint/2010/main" val="30307047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spcAft>
                <a:spcPts val="1200"/>
              </a:spcAft>
              <a:defRPr sz="2000">
                <a:solidFill>
                  <a:srgbClr val="333333"/>
                </a:solidFill>
              </a:defRPr>
            </a:pPr>
            <a:r>
              <a:rPr lang="en-US" dirty="0"/>
              <a:t>📊 Four Key Plots Generated:</a:t>
            </a:r>
          </a:p>
          <a:p>
            <a:pPr>
              <a:spcBef>
                <a:spcPts val="1200"/>
              </a:spcBef>
              <a:spcAft>
                <a:spcPts val="1200"/>
              </a:spcAft>
              <a:defRPr sz="2000">
                <a:solidFill>
                  <a:srgbClr val="333333"/>
                </a:solidFill>
              </a:defRPr>
            </a:pPr>
            <a:endParaRPr lang="en-US" dirty="0"/>
          </a:p>
          <a:p>
            <a:pPr>
              <a:spcBef>
                <a:spcPts val="1200"/>
              </a:spcBef>
              <a:spcAft>
                <a:spcPts val="1200"/>
              </a:spcAft>
              <a:defRPr sz="2000">
                <a:solidFill>
                  <a:srgbClr val="333333"/>
                </a:solidFill>
              </a:defRPr>
            </a:pPr>
            <a:r>
              <a:rPr lang="en-US" dirty="0"/>
              <a:t>1. Loss Curves: Train vs validation loss</a:t>
            </a:r>
          </a:p>
          <a:p>
            <a:pPr>
              <a:spcBef>
                <a:spcPts val="1200"/>
              </a:spcBef>
              <a:spcAft>
                <a:spcPts val="1200"/>
              </a:spcAft>
              <a:defRPr sz="2000">
                <a:solidFill>
                  <a:srgbClr val="333333"/>
                </a:solidFill>
              </a:defRPr>
            </a:pPr>
            <a:r>
              <a:rPr lang="en-US" dirty="0"/>
              <a:t>   → Shows convergence and overfitting patterns</a:t>
            </a:r>
          </a:p>
          <a:p>
            <a:pPr>
              <a:spcBef>
                <a:spcPts val="1200"/>
              </a:spcBef>
              <a:spcAft>
                <a:spcPts val="1200"/>
              </a:spcAft>
              <a:defRPr sz="2000">
                <a:solidFill>
                  <a:srgbClr val="333333"/>
                </a:solidFill>
              </a:defRPr>
            </a:pPr>
            <a:endParaRPr lang="en-US" dirty="0"/>
          </a:p>
          <a:p>
            <a:pPr>
              <a:spcBef>
                <a:spcPts val="1200"/>
              </a:spcBef>
              <a:spcAft>
                <a:spcPts val="1200"/>
              </a:spcAft>
              <a:defRPr sz="2000">
                <a:solidFill>
                  <a:srgbClr val="333333"/>
                </a:solidFill>
              </a:defRPr>
            </a:pPr>
            <a:r>
              <a:rPr lang="en-US" dirty="0"/>
              <a:t>2. MAE Progression: Validation mean absolute error</a:t>
            </a:r>
          </a:p>
          <a:p>
            <a:pPr>
              <a:spcBef>
                <a:spcPts val="1200"/>
              </a:spcBef>
              <a:spcAft>
                <a:spcPts val="1200"/>
              </a:spcAft>
              <a:defRPr sz="2000">
                <a:solidFill>
                  <a:srgbClr val="333333"/>
                </a:solidFill>
              </a:defRPr>
            </a:pPr>
            <a:r>
              <a:rPr lang="en-US" dirty="0"/>
              <a:t>   → Steady decrease indicates learning</a:t>
            </a:r>
          </a:p>
          <a:p>
            <a:pPr>
              <a:spcBef>
                <a:spcPts val="1200"/>
              </a:spcBef>
              <a:spcAft>
                <a:spcPts val="1200"/>
              </a:spcAft>
              <a:defRPr sz="2000">
                <a:solidFill>
                  <a:srgbClr val="333333"/>
                </a:solidFill>
              </a:defRPr>
            </a:pPr>
            <a:endParaRPr lang="en-US" dirty="0"/>
          </a:p>
          <a:p>
            <a:pPr>
              <a:spcBef>
                <a:spcPts val="1200"/>
              </a:spcBef>
              <a:spcAft>
                <a:spcPts val="1200"/>
              </a:spcAft>
              <a:defRPr sz="2000">
                <a:solidFill>
                  <a:srgbClr val="333333"/>
                </a:solidFill>
              </a:defRPr>
            </a:pPr>
            <a:r>
              <a:rPr lang="en-US" dirty="0"/>
              <a:t>3. R² Score: Validation goodness of fit</a:t>
            </a:r>
          </a:p>
          <a:p>
            <a:pPr>
              <a:spcBef>
                <a:spcPts val="1200"/>
              </a:spcBef>
              <a:spcAft>
                <a:spcPts val="1200"/>
              </a:spcAft>
              <a:defRPr sz="2000">
                <a:solidFill>
                  <a:srgbClr val="333333"/>
                </a:solidFill>
              </a:defRPr>
            </a:pPr>
            <a:r>
              <a:rPr lang="en-US" dirty="0"/>
              <a:t>   → Increases toward 1.0 (excellent fit)</a:t>
            </a:r>
          </a:p>
          <a:p>
            <a:pPr>
              <a:spcBef>
                <a:spcPts val="1200"/>
              </a:spcBef>
              <a:spcAft>
                <a:spcPts val="1200"/>
              </a:spcAft>
              <a:defRPr sz="2000">
                <a:solidFill>
                  <a:srgbClr val="333333"/>
                </a:solidFill>
              </a:defRPr>
            </a:pPr>
            <a:endParaRPr lang="en-US" dirty="0"/>
          </a:p>
          <a:p>
            <a:pPr>
              <a:spcBef>
                <a:spcPts val="1200"/>
              </a:spcBef>
              <a:spcAft>
                <a:spcPts val="1200"/>
              </a:spcAft>
              <a:defRPr sz="2000">
                <a:solidFill>
                  <a:srgbClr val="333333"/>
                </a:solidFill>
              </a:defRPr>
            </a:pPr>
            <a:r>
              <a:rPr lang="en-US" dirty="0"/>
              <a:t>4. Predictions vs Ground Truth: Scatter plot</a:t>
            </a:r>
          </a:p>
          <a:p>
            <a:pPr>
              <a:spcBef>
                <a:spcPts val="1200"/>
              </a:spcBef>
              <a:spcAft>
                <a:spcPts val="1200"/>
              </a:spcAft>
              <a:defRPr sz="2000">
                <a:solidFill>
                  <a:srgbClr val="333333"/>
                </a:solidFill>
              </a:defRPr>
            </a:pPr>
            <a:r>
              <a:rPr lang="en-US" dirty="0"/>
              <a:t>   → Points near diagonal = accurate predictions</a:t>
            </a:r>
          </a:p>
          <a:p>
            <a:pPr>
              <a:spcBef>
                <a:spcPts val="1200"/>
              </a:spcBef>
              <a:spcAft>
                <a:spcPts val="1200"/>
              </a:spcAft>
              <a:defRPr sz="2000">
                <a:solidFill>
                  <a:srgbClr val="333333"/>
                </a:solidFill>
              </a:defRPr>
            </a:pPr>
            <a:endParaRPr lang="en-US" dirty="0"/>
          </a:p>
          <a:p>
            <a:pPr>
              <a:spcBef>
                <a:spcPts val="1200"/>
              </a:spcBef>
              <a:spcAft>
                <a:spcPts val="1200"/>
              </a:spcAft>
              <a:defRPr sz="2000">
                <a:solidFill>
                  <a:srgbClr val="333333"/>
                </a:solidFill>
              </a:defRPr>
            </a:pPr>
            <a:r>
              <a:rPr lang="en-US" dirty="0"/>
              <a:t>📁 All plots saved to: results/training_results.png</a:t>
            </a:r>
          </a:p>
          <a:p>
            <a:endParaRPr lang="en-US" dirty="0"/>
          </a:p>
        </p:txBody>
      </p:sp>
      <p:sp>
        <p:nvSpPr>
          <p:cNvPr id="4" name="Slide Number Placeholder 3"/>
          <p:cNvSpPr>
            <a:spLocks noGrp="1"/>
          </p:cNvSpPr>
          <p:nvPr>
            <p:ph type="sldNum" sz="quarter" idx="5"/>
          </p:nvPr>
        </p:nvSpPr>
        <p:spPr/>
        <p:txBody>
          <a:bodyPr/>
          <a:lstStyle/>
          <a:p>
            <a:pPr>
              <a:defRPr/>
            </a:pPr>
            <a:fld id="{17E32B26-EEC0-9247-A56A-A050A540A0C5}" type="slidenum">
              <a:rPr lang="en-US" smtClean="0"/>
              <a:pPr>
                <a:defRPr/>
              </a:pPr>
              <a:t>9</a:t>
            </a:fld>
            <a:endParaRPr lang="en-US"/>
          </a:p>
        </p:txBody>
      </p:sp>
    </p:spTree>
    <p:extLst>
      <p:ext uri="{BB962C8B-B14F-4D97-AF65-F5344CB8AC3E}">
        <p14:creationId xmlns:p14="http://schemas.microsoft.com/office/powerpoint/2010/main" val="2988217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800"/>
              </a:spcBef>
              <a:spcAft>
                <a:spcPts val="800"/>
              </a:spcAft>
              <a:buClrTx/>
              <a:buSzTx/>
              <a:buFontTx/>
              <a:buNone/>
              <a:tabLst/>
              <a:defRPr sz="18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Core concepts, techniques, and pipeline directly transfer</a:t>
            </a:r>
          </a:p>
          <a:p>
            <a:pPr>
              <a:spcBef>
                <a:spcPts val="800"/>
              </a:spcBef>
              <a:spcAft>
                <a:spcPts val="800"/>
              </a:spcAft>
              <a:defRPr sz="1800">
                <a:solidFill>
                  <a:srgbClr val="333333"/>
                </a:solidFill>
              </a:defRPr>
            </a:pPr>
            <a:endParaRPr lang="en-US" dirty="0"/>
          </a:p>
          <a:p>
            <a:pPr>
              <a:spcBef>
                <a:spcPts val="800"/>
              </a:spcBef>
              <a:spcAft>
                <a:spcPts val="800"/>
              </a:spcAft>
              <a:defRPr sz="1800">
                <a:solidFill>
                  <a:srgbClr val="333333"/>
                </a:solidFill>
              </a:defRPr>
            </a:pPr>
            <a:endParaRPr lang="en-US" dirty="0"/>
          </a:p>
          <a:p>
            <a:pPr>
              <a:spcBef>
                <a:spcPts val="800"/>
              </a:spcBef>
              <a:spcAft>
                <a:spcPts val="800"/>
              </a:spcAft>
              <a:defRPr sz="1800">
                <a:solidFill>
                  <a:srgbClr val="333333"/>
                </a:solidFill>
              </a:defRPr>
            </a:pPr>
            <a:r>
              <a:rPr lang="en-US" dirty="0"/>
              <a:t>Data Representation:</a:t>
            </a:r>
          </a:p>
          <a:p>
            <a:pPr>
              <a:spcBef>
                <a:spcPts val="800"/>
              </a:spcBef>
              <a:spcAft>
                <a:spcPts val="800"/>
              </a:spcAft>
              <a:defRPr sz="1800">
                <a:solidFill>
                  <a:srgbClr val="333333"/>
                </a:solidFill>
              </a:defRPr>
            </a:pPr>
            <a:r>
              <a:rPr lang="en-US" dirty="0"/>
              <a:t>✓ Graph representation</a:t>
            </a:r>
          </a:p>
          <a:p>
            <a:pPr>
              <a:spcBef>
                <a:spcPts val="800"/>
              </a:spcBef>
              <a:spcAft>
                <a:spcPts val="800"/>
              </a:spcAft>
              <a:defRPr sz="1800">
                <a:solidFill>
                  <a:srgbClr val="333333"/>
                </a:solidFill>
              </a:defRPr>
            </a:pPr>
            <a:r>
              <a:rPr lang="en-US" dirty="0"/>
              <a:t>✓ Node features</a:t>
            </a:r>
          </a:p>
          <a:p>
            <a:pPr>
              <a:spcBef>
                <a:spcPts val="800"/>
              </a:spcBef>
              <a:spcAft>
                <a:spcPts val="800"/>
              </a:spcAft>
              <a:defRPr sz="1800">
                <a:solidFill>
                  <a:srgbClr val="333333"/>
                </a:solidFill>
              </a:defRPr>
            </a:pPr>
            <a:r>
              <a:rPr lang="en-US" dirty="0"/>
              <a:t>✓ Edge features</a:t>
            </a:r>
          </a:p>
          <a:p>
            <a:pPr>
              <a:spcBef>
                <a:spcPts val="800"/>
              </a:spcBef>
              <a:spcAft>
                <a:spcPts val="800"/>
              </a:spcAft>
              <a:defRPr sz="1800">
                <a:solidFill>
                  <a:srgbClr val="333333"/>
                </a:solidFill>
              </a:defRPr>
            </a:pPr>
            <a:r>
              <a:rPr lang="en-US" dirty="0"/>
              <a:t>✓ Batch processing</a:t>
            </a:r>
          </a:p>
          <a:p>
            <a:pPr>
              <a:spcBef>
                <a:spcPts val="800"/>
              </a:spcBef>
              <a:spcAft>
                <a:spcPts val="800"/>
              </a:spcAft>
              <a:defRPr sz="1800">
                <a:solidFill>
                  <a:srgbClr val="333333"/>
                </a:solidFill>
              </a:defRPr>
            </a:pPr>
            <a:endParaRPr lang="en-US" dirty="0"/>
          </a:p>
          <a:p>
            <a:pPr>
              <a:spcBef>
                <a:spcPts val="800"/>
              </a:spcBef>
              <a:spcAft>
                <a:spcPts val="800"/>
              </a:spcAft>
              <a:defRPr sz="1800">
                <a:solidFill>
                  <a:srgbClr val="333333"/>
                </a:solidFill>
              </a:defRPr>
            </a:pPr>
            <a:r>
              <a:rPr lang="en-US" dirty="0"/>
              <a:t>Model Architecture:</a:t>
            </a:r>
          </a:p>
          <a:p>
            <a:pPr>
              <a:spcBef>
                <a:spcPts val="800"/>
              </a:spcBef>
              <a:spcAft>
                <a:spcPts val="800"/>
              </a:spcAft>
              <a:defRPr sz="1800">
                <a:solidFill>
                  <a:srgbClr val="333333"/>
                </a:solidFill>
              </a:defRPr>
            </a:pPr>
            <a:r>
              <a:rPr lang="en-US" dirty="0"/>
              <a:t>✓ GCN layers</a:t>
            </a:r>
          </a:p>
          <a:p>
            <a:pPr>
              <a:spcBef>
                <a:spcPts val="800"/>
              </a:spcBef>
              <a:spcAft>
                <a:spcPts val="800"/>
              </a:spcAft>
              <a:defRPr sz="1800">
                <a:solidFill>
                  <a:srgbClr val="333333"/>
                </a:solidFill>
              </a:defRPr>
            </a:pPr>
            <a:r>
              <a:rPr lang="en-US" dirty="0"/>
              <a:t>✓ Message passing</a:t>
            </a:r>
          </a:p>
          <a:p>
            <a:pPr>
              <a:spcBef>
                <a:spcPts val="800"/>
              </a:spcBef>
              <a:spcAft>
                <a:spcPts val="800"/>
              </a:spcAft>
              <a:defRPr sz="1800">
                <a:solidFill>
                  <a:srgbClr val="333333"/>
                </a:solidFill>
              </a:defRPr>
            </a:pPr>
            <a:r>
              <a:rPr lang="en-US" dirty="0"/>
              <a:t>✓ Global pooling</a:t>
            </a:r>
          </a:p>
          <a:p>
            <a:pPr>
              <a:spcBef>
                <a:spcPts val="800"/>
              </a:spcBef>
              <a:spcAft>
                <a:spcPts val="800"/>
              </a:spcAft>
              <a:defRPr sz="1800">
                <a:solidFill>
                  <a:srgbClr val="333333"/>
                </a:solidFill>
              </a:defRPr>
            </a:pPr>
            <a:r>
              <a:rPr lang="en-US" dirty="0"/>
              <a:t>✓ MLP head</a:t>
            </a:r>
          </a:p>
          <a:p>
            <a:pPr>
              <a:spcBef>
                <a:spcPts val="800"/>
              </a:spcBef>
              <a:spcAft>
                <a:spcPts val="800"/>
              </a:spcAft>
              <a:defRPr sz="1800">
                <a:solidFill>
                  <a:srgbClr val="333333"/>
                </a:solidFill>
              </a:defRPr>
            </a:pPr>
            <a:endParaRPr lang="en-US" dirty="0"/>
          </a:p>
          <a:p>
            <a:pPr>
              <a:spcBef>
                <a:spcPts val="800"/>
              </a:spcBef>
              <a:spcAft>
                <a:spcPts val="800"/>
              </a:spcAft>
              <a:defRPr sz="1800">
                <a:solidFill>
                  <a:srgbClr val="333333"/>
                </a:solidFill>
              </a:defRPr>
            </a:pPr>
            <a:r>
              <a:rPr lang="en-US" dirty="0"/>
              <a:t>Training Methodology:</a:t>
            </a:r>
          </a:p>
          <a:p>
            <a:pPr>
              <a:spcBef>
                <a:spcPts val="800"/>
              </a:spcBef>
              <a:spcAft>
                <a:spcPts val="800"/>
              </a:spcAft>
              <a:defRPr sz="1800">
                <a:solidFill>
                  <a:srgbClr val="333333"/>
                </a:solidFill>
              </a:defRPr>
            </a:pPr>
            <a:r>
              <a:rPr lang="en-US" dirty="0"/>
              <a:t>✓ Data splitting</a:t>
            </a:r>
          </a:p>
          <a:p>
            <a:pPr>
              <a:spcBef>
                <a:spcPts val="800"/>
              </a:spcBef>
              <a:spcAft>
                <a:spcPts val="800"/>
              </a:spcAft>
              <a:defRPr sz="1800">
                <a:solidFill>
                  <a:srgbClr val="333333"/>
                </a:solidFill>
              </a:defRPr>
            </a:pPr>
            <a:r>
              <a:rPr lang="en-US" dirty="0"/>
              <a:t>✓ Validation strategy</a:t>
            </a:r>
          </a:p>
          <a:p>
            <a:pPr>
              <a:spcBef>
                <a:spcPts val="800"/>
              </a:spcBef>
              <a:spcAft>
                <a:spcPts val="800"/>
              </a:spcAft>
              <a:defRPr sz="1800">
                <a:solidFill>
                  <a:srgbClr val="333333"/>
                </a:solidFill>
              </a:defRPr>
            </a:pPr>
            <a:r>
              <a:rPr lang="en-US" dirty="0"/>
              <a:t>✓ Early stopping</a:t>
            </a:r>
          </a:p>
          <a:p>
            <a:pPr>
              <a:spcBef>
                <a:spcPts val="800"/>
              </a:spcBef>
              <a:spcAft>
                <a:spcPts val="800"/>
              </a:spcAft>
              <a:defRPr sz="1800">
                <a:solidFill>
                  <a:srgbClr val="333333"/>
                </a:solidFill>
              </a:defRPr>
            </a:pPr>
            <a:r>
              <a:rPr lang="en-US" dirty="0"/>
              <a:t>✓ Hyperparameter tuning</a:t>
            </a:r>
          </a:p>
          <a:p>
            <a:pPr>
              <a:spcBef>
                <a:spcPts val="800"/>
              </a:spcBef>
              <a:spcAft>
                <a:spcPts val="800"/>
              </a:spcAft>
              <a:defRPr sz="1800">
                <a:solidFill>
                  <a:srgbClr val="333333"/>
                </a:solidFill>
              </a:defRPr>
            </a:pPr>
            <a:endParaRPr lang="en-US" dirty="0"/>
          </a:p>
          <a:p>
            <a:pPr>
              <a:spcBef>
                <a:spcPts val="800"/>
              </a:spcBef>
              <a:spcAft>
                <a:spcPts val="800"/>
              </a:spcAft>
              <a:defRPr sz="1800">
                <a:solidFill>
                  <a:srgbClr val="333333"/>
                </a:solidFill>
              </a:defRPr>
            </a:pPr>
            <a:r>
              <a:rPr lang="en-US" dirty="0"/>
              <a:t>Evaluation:</a:t>
            </a:r>
          </a:p>
          <a:p>
            <a:pPr>
              <a:spcBef>
                <a:spcPts val="800"/>
              </a:spcBef>
              <a:spcAft>
                <a:spcPts val="800"/>
              </a:spcAft>
              <a:defRPr sz="1800">
                <a:solidFill>
                  <a:srgbClr val="333333"/>
                </a:solidFill>
              </a:defRPr>
            </a:pPr>
            <a:r>
              <a:rPr lang="en-US" dirty="0"/>
              <a:t>✓ Multi-metric evaluation</a:t>
            </a:r>
          </a:p>
          <a:p>
            <a:pPr>
              <a:spcBef>
                <a:spcPts val="800"/>
              </a:spcBef>
              <a:spcAft>
                <a:spcPts val="800"/>
              </a:spcAft>
              <a:defRPr sz="1800">
                <a:solidFill>
                  <a:srgbClr val="333333"/>
                </a:solidFill>
              </a:defRPr>
            </a:pPr>
            <a:r>
              <a:rPr lang="en-US" dirty="0"/>
              <a:t>✓ Error analysis</a:t>
            </a:r>
          </a:p>
          <a:p>
            <a:pPr>
              <a:spcBef>
                <a:spcPts val="800"/>
              </a:spcBef>
              <a:spcAft>
                <a:spcPts val="800"/>
              </a:spcAft>
              <a:defRPr sz="1800">
                <a:solidFill>
                  <a:srgbClr val="333333"/>
                </a:solidFill>
              </a:defRPr>
            </a:pPr>
            <a:r>
              <a:rPr lang="en-US" dirty="0"/>
              <a:t>✓ Visualization</a:t>
            </a:r>
          </a:p>
          <a:p>
            <a:pPr>
              <a:spcBef>
                <a:spcPts val="800"/>
              </a:spcBef>
              <a:spcAft>
                <a:spcPts val="800"/>
              </a:spcAft>
              <a:defRPr sz="1800">
                <a:solidFill>
                  <a:srgbClr val="333333"/>
                </a:solidFill>
              </a:defRPr>
            </a:pPr>
            <a:r>
              <a:rPr lang="en-US" dirty="0"/>
              <a:t>✓ Interpretation</a:t>
            </a:r>
          </a:p>
          <a:p>
            <a:pPr>
              <a:spcBef>
                <a:spcPts val="800"/>
              </a:spcBef>
              <a:spcAft>
                <a:spcPts val="800"/>
              </a:spcAft>
              <a:defRPr sz="1800">
                <a:solidFill>
                  <a:srgbClr val="333333"/>
                </a:solidFill>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17E32B26-EEC0-9247-A56A-A050A540A0C5}" type="slidenum">
              <a:rPr lang="en-US" smtClean="0"/>
              <a:pPr>
                <a:defRPr/>
              </a:pPr>
              <a:t>11</a:t>
            </a:fld>
            <a:endParaRPr lang="en-US"/>
          </a:p>
        </p:txBody>
      </p:sp>
    </p:spTree>
    <p:extLst>
      <p:ext uri="{BB962C8B-B14F-4D97-AF65-F5344CB8AC3E}">
        <p14:creationId xmlns:p14="http://schemas.microsoft.com/office/powerpoint/2010/main" val="1943902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7E32B26-EEC0-9247-A56A-A050A540A0C5}" type="slidenum">
              <a:rPr lang="en-US" smtClean="0"/>
              <a:pPr>
                <a:defRPr/>
              </a:pPr>
              <a:t>12</a:t>
            </a:fld>
            <a:endParaRPr lang="en-US"/>
          </a:p>
        </p:txBody>
      </p:sp>
    </p:spTree>
    <p:extLst>
      <p:ext uri="{BB962C8B-B14F-4D97-AF65-F5344CB8AC3E}">
        <p14:creationId xmlns:p14="http://schemas.microsoft.com/office/powerpoint/2010/main" val="32583804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ody Slide (1 Title Line)">
    <p:spTree>
      <p:nvGrpSpPr>
        <p:cNvPr id="1" name=""/>
        <p:cNvGrpSpPr/>
        <p:nvPr/>
      </p:nvGrpSpPr>
      <p:grpSpPr>
        <a:xfrm>
          <a:off x="0" y="0"/>
          <a:ext cx="0" cy="0"/>
          <a:chOff x="0" y="0"/>
          <a:chExt cx="0" cy="0"/>
        </a:xfrm>
      </p:grpSpPr>
      <p:pic>
        <p:nvPicPr>
          <p:cNvPr id="5" name="Picture 4" descr="Seal 2color 2 line.png">
            <a:extLst>
              <a:ext uri="{FF2B5EF4-FFF2-40B4-BE49-F238E27FC236}">
                <a16:creationId xmlns:a16="http://schemas.microsoft.com/office/drawing/2014/main" id="{5DFF146A-4BCE-6F95-2D4C-A6F7B2A0D78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2288" y="0"/>
            <a:ext cx="640597" cy="640597"/>
          </a:xfrm>
          <a:prstGeom prst="rect">
            <a:avLst/>
          </a:prstGeom>
        </p:spPr>
      </p:pic>
      <p:sp>
        <p:nvSpPr>
          <p:cNvPr id="6" name="Rectangle 5">
            <a:extLst>
              <a:ext uri="{FF2B5EF4-FFF2-40B4-BE49-F238E27FC236}">
                <a16:creationId xmlns:a16="http://schemas.microsoft.com/office/drawing/2014/main" id="{8A4FB9F8-A929-64F9-8452-DF5F52C12C2C}"/>
              </a:ext>
            </a:extLst>
          </p:cNvPr>
          <p:cNvSpPr/>
          <p:nvPr userDrawn="1"/>
        </p:nvSpPr>
        <p:spPr>
          <a:xfrm>
            <a:off x="8220730" y="0"/>
            <a:ext cx="923270" cy="640080"/>
          </a:xfrm>
          <a:prstGeom prst="rect">
            <a:avLst/>
          </a:prstGeom>
          <a:solidFill>
            <a:srgbClr val="B9A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10">
            <a:extLst>
              <a:ext uri="{FF2B5EF4-FFF2-40B4-BE49-F238E27FC236}">
                <a16:creationId xmlns:a16="http://schemas.microsoft.com/office/drawing/2014/main" id="{3D2B8474-1DC1-B492-A83D-2535C61CCD2A}"/>
              </a:ext>
            </a:extLst>
          </p:cNvPr>
          <p:cNvSpPr>
            <a:spLocks noGrp="1" noChangeArrowheads="1"/>
          </p:cNvSpPr>
          <p:nvPr>
            <p:ph type="sldNum" sz="quarter" idx="4"/>
          </p:nvPr>
        </p:nvSpPr>
        <p:spPr>
          <a:xfrm>
            <a:off x="8229600" y="0"/>
            <a:ext cx="914400" cy="639763"/>
          </a:xfrm>
          <a:prstGeom prst="rect">
            <a:avLst/>
          </a:prstGeom>
          <a:ln/>
        </p:spPr>
        <p:txBody>
          <a:bodyPr vert="horz" wrap="square" lIns="91440" tIns="45720" rIns="91440" bIns="45720" numCol="1" anchor="ctr" anchorCtr="0" compatLnSpc="1">
            <a:prstTxWarp prst="textNoShape">
              <a:avLst/>
            </a:prstTxWarp>
          </a:bodyPr>
          <a:lstStyle>
            <a:lvl1pPr algn="ctr">
              <a:defRPr sz="2800">
                <a:solidFill>
                  <a:schemeClr val="tx1"/>
                </a:solidFill>
              </a:defRPr>
            </a:lvl1pPr>
          </a:lstStyle>
          <a:p>
            <a:pPr>
              <a:defRPr/>
            </a:pPr>
            <a:fld id="{DEE2FDD7-C825-9743-96D4-4DD964AE6A99}" type="slidenum">
              <a:rPr lang="en-US" smtClean="0"/>
              <a:pPr>
                <a:defRPr/>
              </a:pPr>
              <a:t>‹#›</a:t>
            </a:fld>
            <a:endParaRPr lang="en-US" dirty="0"/>
          </a:p>
        </p:txBody>
      </p:sp>
      <p:pic>
        <p:nvPicPr>
          <p:cNvPr id="8" name="Picture 7">
            <a:extLst>
              <a:ext uri="{FF2B5EF4-FFF2-40B4-BE49-F238E27FC236}">
                <a16:creationId xmlns:a16="http://schemas.microsoft.com/office/drawing/2014/main" id="{C670A84B-3904-6B95-68EB-E37CE90A1570}"/>
              </a:ext>
            </a:extLst>
          </p:cNvPr>
          <p:cNvPicPr>
            <a:picLocks noChangeAspect="1"/>
          </p:cNvPicPr>
          <p:nvPr userDrawn="1"/>
        </p:nvPicPr>
        <p:blipFill>
          <a:blip r:embed="rId3"/>
          <a:srcRect r="47333"/>
          <a:stretch>
            <a:fillRect/>
          </a:stretch>
        </p:blipFill>
        <p:spPr>
          <a:xfrm>
            <a:off x="705173" y="-42908"/>
            <a:ext cx="678055" cy="725262"/>
          </a:xfrm>
          <a:prstGeom prst="rect">
            <a:avLst/>
          </a:prstGeom>
        </p:spPr>
      </p:pic>
      <p:pic>
        <p:nvPicPr>
          <p:cNvPr id="9" name="Picture 8">
            <a:extLst>
              <a:ext uri="{FF2B5EF4-FFF2-40B4-BE49-F238E27FC236}">
                <a16:creationId xmlns:a16="http://schemas.microsoft.com/office/drawing/2014/main" id="{6F9C7C03-25AE-60C0-E0C6-14C3DA9A5636}"/>
              </a:ext>
            </a:extLst>
          </p:cNvPr>
          <p:cNvPicPr>
            <a:picLocks noChangeAspect="1"/>
          </p:cNvPicPr>
          <p:nvPr userDrawn="1"/>
        </p:nvPicPr>
        <p:blipFill>
          <a:blip r:embed="rId4"/>
          <a:stretch>
            <a:fillRect/>
          </a:stretch>
        </p:blipFill>
        <p:spPr>
          <a:xfrm>
            <a:off x="1415516" y="-1151"/>
            <a:ext cx="640080" cy="640080"/>
          </a:xfrm>
          <a:prstGeom prst="rect">
            <a:avLst/>
          </a:prstGeom>
        </p:spPr>
      </p:pic>
      <p:sp>
        <p:nvSpPr>
          <p:cNvPr id="10" name="Title 9">
            <a:extLst>
              <a:ext uri="{FF2B5EF4-FFF2-40B4-BE49-F238E27FC236}">
                <a16:creationId xmlns:a16="http://schemas.microsoft.com/office/drawing/2014/main" id="{65BC5DFF-661D-7A87-98CC-549BC73161FB}"/>
              </a:ext>
            </a:extLst>
          </p:cNvPr>
          <p:cNvSpPr>
            <a:spLocks noGrp="1"/>
          </p:cNvSpPr>
          <p:nvPr>
            <p:ph type="title"/>
          </p:nvPr>
        </p:nvSpPr>
        <p:spPr>
          <a:xfrm>
            <a:off x="2209800" y="19572"/>
            <a:ext cx="6010930" cy="639763"/>
          </a:xfrm>
          <a:prstGeom prst="rect">
            <a:avLst/>
          </a:prstGeom>
        </p:spPr>
        <p:txBody>
          <a:body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041DF6-60C1-D18C-A84F-4C23DF4CAED5}"/>
              </a:ext>
            </a:extLst>
          </p:cNvPr>
          <p:cNvSpPr/>
          <p:nvPr userDrawn="1"/>
        </p:nvSpPr>
        <p:spPr>
          <a:xfrm>
            <a:off x="0" y="0"/>
            <a:ext cx="9144000" cy="914400"/>
          </a:xfrm>
          <a:prstGeom prst="rect">
            <a:avLst/>
          </a:prstGeom>
          <a:solidFill>
            <a:schemeClr val="accent3">
              <a:lumMod val="75000"/>
            </a:schemeClr>
          </a:solidFill>
          <a:ln>
            <a:solidFill>
              <a:schemeClr val="tx1"/>
            </a:solidFill>
          </a:ln>
        </p:spPr>
        <p:txBody>
          <a:bodyPr rtlCol="0" anchor="ctr"/>
          <a:lstStyle/>
          <a:p>
            <a:pPr algn="ctr"/>
            <a:endParaRPr lang="en-US"/>
          </a:p>
        </p:txBody>
      </p:sp>
      <p:pic>
        <p:nvPicPr>
          <p:cNvPr id="10" name="Picture 9">
            <a:extLst>
              <a:ext uri="{FF2B5EF4-FFF2-40B4-BE49-F238E27FC236}">
                <a16:creationId xmlns:a16="http://schemas.microsoft.com/office/drawing/2014/main" id="{B7E6410E-FFA5-6012-8204-8E0258311395}"/>
              </a:ext>
            </a:extLst>
          </p:cNvPr>
          <p:cNvPicPr>
            <a:picLocks noChangeAspect="1"/>
          </p:cNvPicPr>
          <p:nvPr userDrawn="1"/>
        </p:nvPicPr>
        <p:blipFill>
          <a:blip r:embed="rId2"/>
          <a:stretch>
            <a:fillRect/>
          </a:stretch>
        </p:blipFill>
        <p:spPr>
          <a:xfrm>
            <a:off x="0" y="0"/>
            <a:ext cx="1729076" cy="975487"/>
          </a:xfrm>
          <a:prstGeom prst="rect">
            <a:avLst/>
          </a:prstGeom>
        </p:spPr>
      </p:pic>
      <p:pic>
        <p:nvPicPr>
          <p:cNvPr id="11" name="Picture 10" descr="University of Pittsburgh, Mechanical Engineering and Materials Science">
            <a:extLst>
              <a:ext uri="{FF2B5EF4-FFF2-40B4-BE49-F238E27FC236}">
                <a16:creationId xmlns:a16="http://schemas.microsoft.com/office/drawing/2014/main" id="{18DF627C-11E2-B857-0B20-57F581D4A15A}"/>
              </a:ext>
            </a:extLst>
          </p:cNvPr>
          <p:cNvPicPr>
            <a:picLocks noChangeAspect="1"/>
          </p:cNvPicPr>
          <p:nvPr userDrawn="1"/>
        </p:nvPicPr>
        <p:blipFill>
          <a:blip r:embed="rId3"/>
          <a:stretch>
            <a:fillRect/>
          </a:stretch>
        </p:blipFill>
        <p:spPr>
          <a:xfrm>
            <a:off x="5334000" y="6159660"/>
            <a:ext cx="2311580" cy="707743"/>
          </a:xfrm>
          <a:prstGeom prst="rect">
            <a:avLst/>
          </a:prstGeom>
        </p:spPr>
      </p:pic>
      <p:pic>
        <p:nvPicPr>
          <p:cNvPr id="12" name="Picture 11" descr="NJIT Launches a Campus Chapter of the National Academy of Inventors | David  A. Bader">
            <a:extLst>
              <a:ext uri="{FF2B5EF4-FFF2-40B4-BE49-F238E27FC236}">
                <a16:creationId xmlns:a16="http://schemas.microsoft.com/office/drawing/2014/main" id="{6B28D72E-749C-EBC3-22F6-A19174E6E21D}"/>
              </a:ext>
            </a:extLst>
          </p:cNvPr>
          <p:cNvPicPr>
            <a:picLocks noChangeAspect="1"/>
          </p:cNvPicPr>
          <p:nvPr userDrawn="1"/>
        </p:nvPicPr>
        <p:blipFill>
          <a:blip r:embed="rId4"/>
          <a:stretch>
            <a:fillRect/>
          </a:stretch>
        </p:blipFill>
        <p:spPr>
          <a:xfrm>
            <a:off x="7924800" y="6284380"/>
            <a:ext cx="1112280" cy="4583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ody Slide (2 Title Lines)">
    <p:spTree>
      <p:nvGrpSpPr>
        <p:cNvPr id="1" name=""/>
        <p:cNvGrpSpPr/>
        <p:nvPr/>
      </p:nvGrpSpPr>
      <p:grpSpPr>
        <a:xfrm>
          <a:off x="0" y="0"/>
          <a:ext cx="0" cy="0"/>
          <a:chOff x="0" y="0"/>
          <a:chExt cx="0" cy="0"/>
        </a:xfrm>
      </p:grpSpPr>
      <p:sp>
        <p:nvSpPr>
          <p:cNvPr id="3" name="Rectangle 10"/>
          <p:cNvSpPr>
            <a:spLocks noGrp="1" noChangeArrowheads="1"/>
          </p:cNvSpPr>
          <p:nvPr>
            <p:ph type="sldNum" sz="quarter" idx="10"/>
          </p:nvPr>
        </p:nvSpPr>
        <p:spPr/>
        <p:txBody>
          <a:bodyPr/>
          <a:lstStyle>
            <a:lvl1pPr>
              <a:defRPr/>
            </a:lvl1pPr>
          </a:lstStyle>
          <a:p>
            <a:pPr>
              <a:defRPr/>
            </a:pPr>
            <a:fld id="{ADF2A186-A842-EB41-93F8-9926F66DBD04}"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317"/>
            <a:ext cx="9144000" cy="640080"/>
          </a:xfrm>
          <a:prstGeom prst="rect">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1" name="Picture 10" descr="Seal 2color 2 line.png"/>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2288" y="0"/>
            <a:ext cx="640597" cy="640597"/>
          </a:xfrm>
          <a:prstGeom prst="rect">
            <a:avLst/>
          </a:prstGeom>
        </p:spPr>
      </p:pic>
      <p:sp>
        <p:nvSpPr>
          <p:cNvPr id="12" name="Rectangle 11"/>
          <p:cNvSpPr/>
          <p:nvPr userDrawn="1"/>
        </p:nvSpPr>
        <p:spPr>
          <a:xfrm>
            <a:off x="8220730" y="0"/>
            <a:ext cx="923270" cy="640080"/>
          </a:xfrm>
          <a:prstGeom prst="rect">
            <a:avLst/>
          </a:prstGeom>
          <a:solidFill>
            <a:srgbClr val="B9A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10"/>
          <p:cNvSpPr>
            <a:spLocks noGrp="1" noChangeArrowheads="1"/>
          </p:cNvSpPr>
          <p:nvPr>
            <p:ph type="sldNum" sz="quarter" idx="4"/>
          </p:nvPr>
        </p:nvSpPr>
        <p:spPr>
          <a:xfrm>
            <a:off x="8229600" y="0"/>
            <a:ext cx="914400" cy="639763"/>
          </a:xfrm>
          <a:prstGeom prst="rect">
            <a:avLst/>
          </a:prstGeom>
          <a:ln/>
        </p:spPr>
        <p:txBody>
          <a:bodyPr vert="horz" wrap="square" lIns="91440" tIns="45720" rIns="91440" bIns="45720" numCol="1" anchor="ctr" anchorCtr="0" compatLnSpc="1">
            <a:prstTxWarp prst="textNoShape">
              <a:avLst/>
            </a:prstTxWarp>
          </a:bodyPr>
          <a:lstStyle>
            <a:lvl1pPr algn="ctr">
              <a:defRPr sz="28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defRPr/>
            </a:pPr>
            <a:fld id="{DEE2FDD7-C825-9743-96D4-4DD964AE6A99}" type="slidenum">
              <a:rPr lang="en-US" smtClean="0"/>
              <a:pPr>
                <a:defRPr/>
              </a:pPr>
              <a:t>‹#›</a:t>
            </a:fld>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D5FFD572-9420-AD18-8C3B-3529F2BF12E8}"/>
              </a:ext>
            </a:extLst>
          </p:cNvPr>
          <p:cNvSpPr txBox="1"/>
          <p:nvPr userDrawn="1"/>
        </p:nvSpPr>
        <p:spPr>
          <a:xfrm>
            <a:off x="2305373" y="3159641"/>
            <a:ext cx="4610746" cy="523220"/>
          </a:xfrm>
          <a:prstGeom prst="rect">
            <a:avLst/>
          </a:prstGeom>
          <a:noFill/>
        </p:spPr>
        <p:txBody>
          <a:bodyPr wrap="square">
            <a:spAutoFit/>
          </a:bodyPr>
          <a:lstStyle/>
          <a:p>
            <a:endParaRPr lang="en-US" dirty="0"/>
          </a:p>
        </p:txBody>
      </p:sp>
      <p:pic>
        <p:nvPicPr>
          <p:cNvPr id="9" name="Picture 8">
            <a:extLst>
              <a:ext uri="{FF2B5EF4-FFF2-40B4-BE49-F238E27FC236}">
                <a16:creationId xmlns:a16="http://schemas.microsoft.com/office/drawing/2014/main" id="{99C9725D-A2D6-16FE-6F5D-47EE05BF272F}"/>
              </a:ext>
            </a:extLst>
          </p:cNvPr>
          <p:cNvPicPr>
            <a:picLocks noChangeAspect="1"/>
          </p:cNvPicPr>
          <p:nvPr userDrawn="1"/>
        </p:nvPicPr>
        <p:blipFill>
          <a:blip r:embed="rId6"/>
          <a:srcRect r="47333"/>
          <a:stretch>
            <a:fillRect/>
          </a:stretch>
        </p:blipFill>
        <p:spPr>
          <a:xfrm>
            <a:off x="705173" y="-42908"/>
            <a:ext cx="678055" cy="725262"/>
          </a:xfrm>
          <a:prstGeom prst="rect">
            <a:avLst/>
          </a:prstGeom>
        </p:spPr>
      </p:pic>
      <p:pic>
        <p:nvPicPr>
          <p:cNvPr id="13" name="Picture 12">
            <a:extLst>
              <a:ext uri="{FF2B5EF4-FFF2-40B4-BE49-F238E27FC236}">
                <a16:creationId xmlns:a16="http://schemas.microsoft.com/office/drawing/2014/main" id="{BE3E585B-2E8A-DEF3-CD0F-C20D13904D3B}"/>
              </a:ext>
            </a:extLst>
          </p:cNvPr>
          <p:cNvPicPr>
            <a:picLocks noChangeAspect="1"/>
          </p:cNvPicPr>
          <p:nvPr userDrawn="1"/>
        </p:nvPicPr>
        <p:blipFill>
          <a:blip r:embed="rId7"/>
          <a:stretch>
            <a:fillRect/>
          </a:stretch>
        </p:blipFill>
        <p:spPr>
          <a:xfrm>
            <a:off x="1415516" y="-1151"/>
            <a:ext cx="640080" cy="640080"/>
          </a:xfrm>
          <a:prstGeom prst="rect">
            <a:avLst/>
          </a:prstGeom>
        </p:spPr>
      </p:pic>
    </p:spTree>
  </p:cSld>
  <p:clrMap bg1="lt1" tx1="dk1" bg2="lt2" tx2="dk2" accent1="accent1" accent2="accent2" accent3="accent3" accent4="accent4" accent5="accent5" accent6="accent6" hlink="hlink" folHlink="folHlink"/>
  <p:sldLayoutIdLst>
    <p:sldLayoutId id="2147483688" r:id="rId1"/>
    <p:sldLayoutId id="2147483690" r:id="rId2"/>
    <p:sldLayoutId id="2147483689" r:id="rId3"/>
  </p:sldLayoutIdLst>
  <p:hf hdr="0" ftr="0" dt="0"/>
  <p:txStyles>
    <p:titleStyle>
      <a:lvl1pPr algn="l" rtl="0" eaLnBrk="1" fontAlgn="base" hangingPunct="1">
        <a:spcBef>
          <a:spcPct val="0"/>
        </a:spcBef>
        <a:spcAft>
          <a:spcPct val="0"/>
        </a:spcAft>
        <a:defRPr sz="2800">
          <a:solidFill>
            <a:schemeClr val="bg1"/>
          </a:solidFill>
          <a:latin typeface="+mj-lt"/>
          <a:ea typeface="ＭＳ Ｐゴシック" charset="-128"/>
          <a:cs typeface="ＭＳ Ｐゴシック" charset="-128"/>
        </a:defRPr>
      </a:lvl1pPr>
      <a:lvl2pPr algn="l" rtl="0" eaLnBrk="1" fontAlgn="base" hangingPunct="1">
        <a:spcBef>
          <a:spcPct val="0"/>
        </a:spcBef>
        <a:spcAft>
          <a:spcPct val="0"/>
        </a:spcAft>
        <a:defRPr sz="2800">
          <a:solidFill>
            <a:schemeClr val="bg1"/>
          </a:solidFill>
          <a:latin typeface="Arial" charset="0"/>
          <a:ea typeface="ＭＳ Ｐゴシック" charset="-128"/>
          <a:cs typeface="ＭＳ Ｐゴシック" charset="-128"/>
        </a:defRPr>
      </a:lvl2pPr>
      <a:lvl3pPr algn="l" rtl="0" eaLnBrk="1" fontAlgn="base" hangingPunct="1">
        <a:spcBef>
          <a:spcPct val="0"/>
        </a:spcBef>
        <a:spcAft>
          <a:spcPct val="0"/>
        </a:spcAft>
        <a:defRPr sz="2800">
          <a:solidFill>
            <a:schemeClr val="bg1"/>
          </a:solidFill>
          <a:latin typeface="Arial" charset="0"/>
          <a:ea typeface="ＭＳ Ｐゴシック" charset="-128"/>
          <a:cs typeface="ＭＳ Ｐゴシック" charset="-128"/>
        </a:defRPr>
      </a:lvl3pPr>
      <a:lvl4pPr algn="l" rtl="0" eaLnBrk="1" fontAlgn="base" hangingPunct="1">
        <a:spcBef>
          <a:spcPct val="0"/>
        </a:spcBef>
        <a:spcAft>
          <a:spcPct val="0"/>
        </a:spcAft>
        <a:defRPr sz="2800">
          <a:solidFill>
            <a:schemeClr val="bg1"/>
          </a:solidFill>
          <a:latin typeface="Arial" charset="0"/>
          <a:ea typeface="ＭＳ Ｐゴシック" charset="-128"/>
          <a:cs typeface="ＭＳ Ｐゴシック" charset="-128"/>
        </a:defRPr>
      </a:lvl4pPr>
      <a:lvl5pPr algn="l" rtl="0" eaLnBrk="1" fontAlgn="base" hangingPunct="1">
        <a:spcBef>
          <a:spcPct val="0"/>
        </a:spcBef>
        <a:spcAft>
          <a:spcPct val="0"/>
        </a:spcAft>
        <a:defRPr sz="2800">
          <a:solidFill>
            <a:schemeClr val="bg1"/>
          </a:solidFill>
          <a:latin typeface="Arial" charset="0"/>
          <a:ea typeface="ＭＳ Ｐゴシック" charset="-128"/>
          <a:cs typeface="ＭＳ Ｐゴシック" charset="-128"/>
        </a:defRPr>
      </a:lvl5pPr>
      <a:lvl6pPr marL="457200" algn="l" rtl="0" eaLnBrk="1" fontAlgn="base" hangingPunct="1">
        <a:spcBef>
          <a:spcPct val="0"/>
        </a:spcBef>
        <a:spcAft>
          <a:spcPct val="0"/>
        </a:spcAft>
        <a:defRPr sz="2800">
          <a:solidFill>
            <a:schemeClr val="bg1"/>
          </a:solidFill>
          <a:latin typeface="Arial" charset="0"/>
        </a:defRPr>
      </a:lvl6pPr>
      <a:lvl7pPr marL="914400" algn="l" rtl="0" eaLnBrk="1" fontAlgn="base" hangingPunct="1">
        <a:spcBef>
          <a:spcPct val="0"/>
        </a:spcBef>
        <a:spcAft>
          <a:spcPct val="0"/>
        </a:spcAft>
        <a:defRPr sz="2800">
          <a:solidFill>
            <a:schemeClr val="bg1"/>
          </a:solidFill>
          <a:latin typeface="Arial" charset="0"/>
        </a:defRPr>
      </a:lvl7pPr>
      <a:lvl8pPr marL="1371600" algn="l" rtl="0" eaLnBrk="1" fontAlgn="base" hangingPunct="1">
        <a:spcBef>
          <a:spcPct val="0"/>
        </a:spcBef>
        <a:spcAft>
          <a:spcPct val="0"/>
        </a:spcAft>
        <a:defRPr sz="2800">
          <a:solidFill>
            <a:schemeClr val="bg1"/>
          </a:solidFill>
          <a:latin typeface="Arial" charset="0"/>
        </a:defRPr>
      </a:lvl8pPr>
      <a:lvl9pPr marL="1828800" algn="l" rtl="0" eaLnBrk="1" fontAlgn="base" hangingPunct="1">
        <a:spcBef>
          <a:spcPct val="0"/>
        </a:spcBef>
        <a:spcAft>
          <a:spcPct val="0"/>
        </a:spcAft>
        <a:defRPr sz="2800">
          <a:solidFill>
            <a:schemeClr val="bg1"/>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ＭＳ Ｐゴシック" charset="-128"/>
          <a:cs typeface="ＭＳ Ｐゴシック" charset="-128"/>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4">
            <a:extLst>
              <a:ext uri="{FF2B5EF4-FFF2-40B4-BE49-F238E27FC236}">
                <a16:creationId xmlns:a16="http://schemas.microsoft.com/office/drawing/2014/main" id="{EC73BF8B-9074-FEFA-90EF-69C858B96FA3}"/>
              </a:ext>
            </a:extLst>
          </p:cNvPr>
          <p:cNvSpPr txBox="1">
            <a:spLocks noChangeArrowheads="1"/>
          </p:cNvSpPr>
          <p:nvPr/>
        </p:nvSpPr>
        <p:spPr bwMode="auto">
          <a:xfrm>
            <a:off x="1028700" y="2667000"/>
            <a:ext cx="7086600" cy="146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83472" tIns="83472" rIns="83472" bIns="83472">
            <a:spAutoFit/>
          </a:bodyPr>
          <a:lstStyle>
            <a:lvl1pPr defTabSz="977900" eaLnBrk="0" hangingPunct="0">
              <a:tabLst>
                <a:tab pos="5362575" algn="l"/>
              </a:tabLst>
              <a:defRPr sz="3200">
                <a:solidFill>
                  <a:schemeClr val="tx1"/>
                </a:solidFill>
                <a:latin typeface="Helvetica" charset="0"/>
                <a:ea typeface="ＭＳ Ｐゴシック" charset="-128"/>
              </a:defRPr>
            </a:lvl1pPr>
            <a:lvl2pPr marL="742950" indent="-285750" defTabSz="977900" eaLnBrk="0" hangingPunct="0">
              <a:tabLst>
                <a:tab pos="5362575" algn="l"/>
              </a:tabLst>
              <a:defRPr sz="3200">
                <a:solidFill>
                  <a:schemeClr val="tx1"/>
                </a:solidFill>
                <a:latin typeface="Helvetica" charset="0"/>
                <a:ea typeface="ＭＳ Ｐゴシック" charset="-128"/>
              </a:defRPr>
            </a:lvl2pPr>
            <a:lvl3pPr marL="1143000" indent="-228600" defTabSz="977900" eaLnBrk="0" hangingPunct="0">
              <a:tabLst>
                <a:tab pos="5362575" algn="l"/>
              </a:tabLst>
              <a:defRPr sz="3200">
                <a:solidFill>
                  <a:schemeClr val="tx1"/>
                </a:solidFill>
                <a:latin typeface="Helvetica" charset="0"/>
                <a:ea typeface="ＭＳ Ｐゴシック" charset="-128"/>
              </a:defRPr>
            </a:lvl3pPr>
            <a:lvl4pPr marL="1600200" indent="-228600" defTabSz="977900" eaLnBrk="0" hangingPunct="0">
              <a:tabLst>
                <a:tab pos="5362575" algn="l"/>
              </a:tabLst>
              <a:defRPr sz="3200">
                <a:solidFill>
                  <a:schemeClr val="tx1"/>
                </a:solidFill>
                <a:latin typeface="Helvetica" charset="0"/>
                <a:ea typeface="ＭＳ Ｐゴシック" charset="-128"/>
              </a:defRPr>
            </a:lvl4pPr>
            <a:lvl5pPr marL="2057400" indent="-228600" defTabSz="977900" eaLnBrk="0" hangingPunct="0">
              <a:tabLst>
                <a:tab pos="5362575" algn="l"/>
              </a:tabLst>
              <a:defRPr sz="3200">
                <a:solidFill>
                  <a:schemeClr val="tx1"/>
                </a:solidFill>
                <a:latin typeface="Helvetica" charset="0"/>
                <a:ea typeface="ＭＳ Ｐゴシック" charset="-128"/>
              </a:defRPr>
            </a:lvl5pPr>
            <a:lvl6pPr marL="2514600" indent="-228600" defTabSz="977900" eaLnBrk="0" fontAlgn="base" hangingPunct="0">
              <a:spcBef>
                <a:spcPct val="0"/>
              </a:spcBef>
              <a:spcAft>
                <a:spcPct val="0"/>
              </a:spcAft>
              <a:tabLst>
                <a:tab pos="5362575" algn="l"/>
              </a:tabLst>
              <a:defRPr sz="3200">
                <a:solidFill>
                  <a:schemeClr val="tx1"/>
                </a:solidFill>
                <a:latin typeface="Helvetica" charset="0"/>
                <a:ea typeface="ＭＳ Ｐゴシック" charset="-128"/>
              </a:defRPr>
            </a:lvl6pPr>
            <a:lvl7pPr marL="2971800" indent="-228600" defTabSz="977900" eaLnBrk="0" fontAlgn="base" hangingPunct="0">
              <a:spcBef>
                <a:spcPct val="0"/>
              </a:spcBef>
              <a:spcAft>
                <a:spcPct val="0"/>
              </a:spcAft>
              <a:tabLst>
                <a:tab pos="5362575" algn="l"/>
              </a:tabLst>
              <a:defRPr sz="3200">
                <a:solidFill>
                  <a:schemeClr val="tx1"/>
                </a:solidFill>
                <a:latin typeface="Helvetica" charset="0"/>
                <a:ea typeface="ＭＳ Ｐゴシック" charset="-128"/>
              </a:defRPr>
            </a:lvl7pPr>
            <a:lvl8pPr marL="3429000" indent="-228600" defTabSz="977900" eaLnBrk="0" fontAlgn="base" hangingPunct="0">
              <a:spcBef>
                <a:spcPct val="0"/>
              </a:spcBef>
              <a:spcAft>
                <a:spcPct val="0"/>
              </a:spcAft>
              <a:tabLst>
                <a:tab pos="5362575" algn="l"/>
              </a:tabLst>
              <a:defRPr sz="3200">
                <a:solidFill>
                  <a:schemeClr val="tx1"/>
                </a:solidFill>
                <a:latin typeface="Helvetica" charset="0"/>
                <a:ea typeface="ＭＳ Ｐゴシック" charset="-128"/>
              </a:defRPr>
            </a:lvl8pPr>
            <a:lvl9pPr marL="3886200" indent="-228600" defTabSz="977900" eaLnBrk="0" fontAlgn="base" hangingPunct="0">
              <a:spcBef>
                <a:spcPct val="0"/>
              </a:spcBef>
              <a:spcAft>
                <a:spcPct val="0"/>
              </a:spcAft>
              <a:tabLst>
                <a:tab pos="5362575" algn="l"/>
              </a:tabLst>
              <a:defRPr sz="3200">
                <a:solidFill>
                  <a:schemeClr val="tx1"/>
                </a:solidFill>
                <a:latin typeface="Helvetica" charset="0"/>
                <a:ea typeface="ＭＳ Ｐゴシック" charset="-128"/>
              </a:defRPr>
            </a:lvl9pPr>
          </a:lstStyle>
          <a:p>
            <a:pPr algn="ctr" eaLnBrk="1" hangingPunct="1">
              <a:spcBef>
                <a:spcPct val="50000"/>
              </a:spcBef>
            </a:pPr>
            <a:r>
              <a:rPr lang="en-US" altLang="en-US" sz="2800" b="1" dirty="0"/>
              <a:t>Simplified Use-Case of Graph Neural Networks (GNNs) for Predicting Synthetic Lattice Stability </a:t>
            </a:r>
            <a:endParaRPr lang="en-US" altLang="en-US" sz="2800" dirty="0">
              <a:solidFill>
                <a:srgbClr val="000000"/>
              </a:solidFill>
            </a:endParaRPr>
          </a:p>
        </p:txBody>
      </p:sp>
      <p:sp>
        <p:nvSpPr>
          <p:cNvPr id="5" name="TextBox 4">
            <a:extLst>
              <a:ext uri="{FF2B5EF4-FFF2-40B4-BE49-F238E27FC236}">
                <a16:creationId xmlns:a16="http://schemas.microsoft.com/office/drawing/2014/main" id="{849E37CF-52DF-9FCE-ABD6-CA0AF5BD4CA2}"/>
              </a:ext>
            </a:extLst>
          </p:cNvPr>
          <p:cNvSpPr txBox="1"/>
          <p:nvPr/>
        </p:nvSpPr>
        <p:spPr>
          <a:xfrm>
            <a:off x="1333500" y="4442936"/>
            <a:ext cx="6477000" cy="496290"/>
          </a:xfrm>
          <a:prstGeom prst="rect">
            <a:avLst/>
          </a:prstGeom>
          <a:noFill/>
        </p:spPr>
        <p:txBody>
          <a:bodyPr wrap="square">
            <a:spAutoFit/>
          </a:bodyPr>
          <a:lstStyle/>
          <a:p>
            <a:pPr algn="ctr" eaLnBrk="1" hangingPunct="1"/>
            <a:r>
              <a:rPr lang="en-US" altLang="en-US" sz="1050" b="1" dirty="0"/>
              <a:t>Alexander Adams </a:t>
            </a:r>
            <a:r>
              <a:rPr lang="en-US" altLang="en-US" sz="1050" b="1" baseline="30000" dirty="0"/>
              <a:t> </a:t>
            </a:r>
            <a:r>
              <a:rPr lang="en-US" altLang="en-US" sz="1050" b="1" dirty="0"/>
              <a:t> </a:t>
            </a:r>
          </a:p>
          <a:p>
            <a:pPr algn="ctr"/>
            <a:r>
              <a:rPr lang="en-US" altLang="en-US" sz="1050" baseline="30000" dirty="0">
                <a:latin typeface="Calibri" pitchFamily="34" charset="0"/>
                <a:ea typeface="Calibri" pitchFamily="34" charset="0"/>
                <a:cs typeface="Calibri" pitchFamily="34" charset="0"/>
              </a:rPr>
              <a:t> </a:t>
            </a:r>
            <a:r>
              <a:rPr lang="en-US" altLang="en-US" sz="1050" dirty="0">
                <a:latin typeface="Calibri" pitchFamily="34" charset="0"/>
                <a:ea typeface="Calibri" pitchFamily="34" charset="0"/>
                <a:cs typeface="Calibri" pitchFamily="34" charset="0"/>
              </a:rPr>
              <a:t>Department of Mechanical Engineering and Materials Science, University of Pittsburgh, Pittsburgh, PA 15260</a:t>
            </a:r>
          </a:p>
        </p:txBody>
      </p:sp>
      <p:sp>
        <p:nvSpPr>
          <p:cNvPr id="2" name="TextBox 1">
            <a:extLst>
              <a:ext uri="{FF2B5EF4-FFF2-40B4-BE49-F238E27FC236}">
                <a16:creationId xmlns:a16="http://schemas.microsoft.com/office/drawing/2014/main" id="{26AD81BF-565F-7FF3-7CB6-6F9B243F885D}"/>
              </a:ext>
            </a:extLst>
          </p:cNvPr>
          <p:cNvSpPr txBox="1"/>
          <p:nvPr/>
        </p:nvSpPr>
        <p:spPr>
          <a:xfrm>
            <a:off x="1333500" y="4128236"/>
            <a:ext cx="6477000" cy="253916"/>
          </a:xfrm>
          <a:prstGeom prst="rect">
            <a:avLst/>
          </a:prstGeom>
          <a:noFill/>
        </p:spPr>
        <p:txBody>
          <a:bodyPr wrap="square">
            <a:spAutoFit/>
          </a:bodyPr>
          <a:lstStyle/>
          <a:p>
            <a:pPr algn="ctr" eaLnBrk="1" hangingPunct="1"/>
            <a:r>
              <a:rPr lang="en-US" sz="1050" b="1" dirty="0"/>
              <a:t>June 9</a:t>
            </a:r>
            <a:r>
              <a:rPr lang="en-US" sz="1050" b="1" baseline="30000" dirty="0"/>
              <a:t>th</a:t>
            </a:r>
            <a:r>
              <a:rPr lang="en-US" sz="1050" b="1" dirty="0"/>
              <a:t> 2026</a:t>
            </a:r>
            <a:endParaRPr lang="en-US" sz="1050" dirty="0"/>
          </a:p>
        </p:txBody>
      </p:sp>
    </p:spTree>
    <p:extLst>
      <p:ext uri="{BB962C8B-B14F-4D97-AF65-F5344CB8AC3E}">
        <p14:creationId xmlns:p14="http://schemas.microsoft.com/office/powerpoint/2010/main" val="3949509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C37E8E-DC5A-2D7E-941E-9988B75C86FD}"/>
              </a:ext>
            </a:extLst>
          </p:cNvPr>
          <p:cNvSpPr>
            <a:spLocks noGrp="1"/>
          </p:cNvSpPr>
          <p:nvPr>
            <p:ph type="sldNum" sz="quarter" idx="10"/>
          </p:nvPr>
        </p:nvSpPr>
        <p:spPr/>
        <p:txBody>
          <a:bodyPr/>
          <a:lstStyle/>
          <a:p>
            <a:pPr>
              <a:defRPr/>
            </a:pPr>
            <a:fld id="{ADF2A186-A842-EB41-93F8-9926F66DBD04}" type="slidenum">
              <a:rPr lang="en-US" smtClean="0">
                <a:latin typeface="Calibri" panose="020F0502020204030204" pitchFamily="34" charset="0"/>
                <a:ea typeface="Calibri" panose="020F0502020204030204" pitchFamily="34" charset="0"/>
                <a:cs typeface="Calibri" panose="020F0502020204030204" pitchFamily="34" charset="0"/>
              </a:rPr>
              <a:pPr>
                <a:defRPr/>
              </a:pPr>
              <a:t>2</a:t>
            </a:fld>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BBFACA65-382A-B590-11F9-3C130CA0629C}"/>
              </a:ext>
            </a:extLst>
          </p:cNvPr>
          <p:cNvSpPr txBox="1"/>
          <p:nvPr/>
        </p:nvSpPr>
        <p:spPr>
          <a:xfrm>
            <a:off x="2209800" y="58271"/>
            <a:ext cx="2206053" cy="584775"/>
          </a:xfrm>
          <a:prstGeom prst="rect">
            <a:avLst/>
          </a:prstGeom>
          <a:noFill/>
        </p:spPr>
        <p:txBody>
          <a:bodyPr wrap="none" rtlCol="0">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Background</a:t>
            </a:r>
          </a:p>
        </p:txBody>
      </p:sp>
      <p:pic>
        <p:nvPicPr>
          <p:cNvPr id="7" name="Picture 6">
            <a:extLst>
              <a:ext uri="{FF2B5EF4-FFF2-40B4-BE49-F238E27FC236}">
                <a16:creationId xmlns:a16="http://schemas.microsoft.com/office/drawing/2014/main" id="{C63721A8-0318-854E-7D19-32D46A7FF4F4}"/>
              </a:ext>
            </a:extLst>
          </p:cNvPr>
          <p:cNvPicPr>
            <a:picLocks noChangeAspect="1"/>
          </p:cNvPicPr>
          <p:nvPr/>
        </p:nvPicPr>
        <p:blipFill>
          <a:blip r:embed="rId3"/>
          <a:stretch>
            <a:fillRect/>
          </a:stretch>
        </p:blipFill>
        <p:spPr>
          <a:xfrm>
            <a:off x="457200" y="914400"/>
            <a:ext cx="8096250" cy="5505450"/>
          </a:xfrm>
          <a:prstGeom prst="rect">
            <a:avLst/>
          </a:prstGeom>
        </p:spPr>
      </p:pic>
    </p:spTree>
    <p:extLst>
      <p:ext uri="{BB962C8B-B14F-4D97-AF65-F5344CB8AC3E}">
        <p14:creationId xmlns:p14="http://schemas.microsoft.com/office/powerpoint/2010/main" val="3842392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F1E32-24C4-FF22-589D-749D8ED9F74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8663CF-06A0-E316-A4E6-FADD42733E74}"/>
              </a:ext>
            </a:extLst>
          </p:cNvPr>
          <p:cNvSpPr>
            <a:spLocks noGrp="1"/>
          </p:cNvSpPr>
          <p:nvPr>
            <p:ph type="sldNum" sz="quarter" idx="10"/>
          </p:nvPr>
        </p:nvSpPr>
        <p:spPr/>
        <p:txBody>
          <a:bodyPr/>
          <a:lstStyle/>
          <a:p>
            <a:pPr>
              <a:defRPr/>
            </a:pPr>
            <a:fld id="{ADF2A186-A842-EB41-93F8-9926F66DBD04}" type="slidenum">
              <a:rPr lang="en-US" smtClean="0"/>
              <a:pPr>
                <a:defRPr/>
              </a:pPr>
              <a:t>3</a:t>
            </a:fld>
            <a:endParaRPr lang="en-US" dirty="0"/>
          </a:p>
        </p:txBody>
      </p:sp>
      <p:sp>
        <p:nvSpPr>
          <p:cNvPr id="3" name="TextBox 2">
            <a:extLst>
              <a:ext uri="{FF2B5EF4-FFF2-40B4-BE49-F238E27FC236}">
                <a16:creationId xmlns:a16="http://schemas.microsoft.com/office/drawing/2014/main" id="{FC8B90A3-15AD-2846-1EBF-B8F6E0F41CBD}"/>
              </a:ext>
            </a:extLst>
          </p:cNvPr>
          <p:cNvSpPr txBox="1"/>
          <p:nvPr/>
        </p:nvSpPr>
        <p:spPr>
          <a:xfrm>
            <a:off x="2209800" y="58271"/>
            <a:ext cx="2940420" cy="523220"/>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GNN Forward Pass</a:t>
            </a:r>
          </a:p>
        </p:txBody>
      </p:sp>
      <p:pic>
        <p:nvPicPr>
          <p:cNvPr id="5" name="Picture 4" descr="Model of a single node's forward pass for the j th layer of the GNN architecture. The output of the previous layer is aggregated over the neighborhood of the target node. The aggregated output is passed into a NN. The output of the NN is the input to the j th layer activation function. The activation function also appends a bias. The activated output serves as an input for the next GNN layer [45].">
            <a:extLst>
              <a:ext uri="{FF2B5EF4-FFF2-40B4-BE49-F238E27FC236}">
                <a16:creationId xmlns:a16="http://schemas.microsoft.com/office/drawing/2014/main" id="{C2325581-0DA4-4B67-06E5-0971E12C2079}"/>
              </a:ext>
            </a:extLst>
          </p:cNvPr>
          <p:cNvPicPr>
            <a:picLocks noChangeAspect="1"/>
          </p:cNvPicPr>
          <p:nvPr/>
        </p:nvPicPr>
        <p:blipFill>
          <a:blip r:embed="rId3"/>
          <a:stretch>
            <a:fillRect/>
          </a:stretch>
        </p:blipFill>
        <p:spPr>
          <a:xfrm>
            <a:off x="455944" y="1534715"/>
            <a:ext cx="8232111" cy="3788569"/>
          </a:xfrm>
          <a:prstGeom prst="rect">
            <a:avLst/>
          </a:prstGeom>
        </p:spPr>
      </p:pic>
    </p:spTree>
    <p:extLst>
      <p:ext uri="{BB962C8B-B14F-4D97-AF65-F5344CB8AC3E}">
        <p14:creationId xmlns:p14="http://schemas.microsoft.com/office/powerpoint/2010/main" val="2956933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2DC3B-C2E2-C492-FB4A-37701EC2FAC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B51052-277A-6507-E8CA-82CE6C23AF43}"/>
              </a:ext>
            </a:extLst>
          </p:cNvPr>
          <p:cNvSpPr>
            <a:spLocks noGrp="1"/>
          </p:cNvSpPr>
          <p:nvPr>
            <p:ph type="sldNum" sz="quarter" idx="10"/>
          </p:nvPr>
        </p:nvSpPr>
        <p:spPr/>
        <p:txBody>
          <a:bodyPr/>
          <a:lstStyle/>
          <a:p>
            <a:pPr>
              <a:defRPr/>
            </a:pPr>
            <a:fld id="{ADF2A186-A842-EB41-93F8-9926F66DBD04}" type="slidenum">
              <a:rPr lang="en-US" smtClean="0"/>
              <a:pPr>
                <a:defRPr/>
              </a:pPr>
              <a:t>4</a:t>
            </a:fld>
            <a:endParaRPr lang="en-US"/>
          </a:p>
        </p:txBody>
      </p:sp>
      <p:sp>
        <p:nvSpPr>
          <p:cNvPr id="3" name="TextBox 2">
            <a:extLst>
              <a:ext uri="{FF2B5EF4-FFF2-40B4-BE49-F238E27FC236}">
                <a16:creationId xmlns:a16="http://schemas.microsoft.com/office/drawing/2014/main" id="{26F37742-CAC9-13E0-EA25-ED546BD2D344}"/>
              </a:ext>
            </a:extLst>
          </p:cNvPr>
          <p:cNvSpPr txBox="1"/>
          <p:nvPr/>
        </p:nvSpPr>
        <p:spPr>
          <a:xfrm>
            <a:off x="2209800" y="58271"/>
            <a:ext cx="5965095" cy="584775"/>
          </a:xfrm>
          <a:prstGeom prst="rect">
            <a:avLst/>
          </a:prstGeom>
          <a:noFill/>
        </p:spPr>
        <p:txBody>
          <a:bodyPr wrap="none" rtlCol="0">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Step 1: Synthetic Data Generation</a:t>
            </a:r>
          </a:p>
        </p:txBody>
      </p:sp>
      <p:sp>
        <p:nvSpPr>
          <p:cNvPr id="24" name="TextBox 23">
            <a:extLst>
              <a:ext uri="{FF2B5EF4-FFF2-40B4-BE49-F238E27FC236}">
                <a16:creationId xmlns:a16="http://schemas.microsoft.com/office/drawing/2014/main" id="{B624D3FD-A2C8-083D-3019-0F5059FD9E2D}"/>
              </a:ext>
            </a:extLst>
          </p:cNvPr>
          <p:cNvSpPr txBox="1"/>
          <p:nvPr/>
        </p:nvSpPr>
        <p:spPr>
          <a:xfrm>
            <a:off x="274864" y="1295400"/>
            <a:ext cx="4917483" cy="6801862"/>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Created 100 cubic lattice structures</a:t>
            </a:r>
          </a:p>
          <a:p>
            <a:r>
              <a:rPr lang="en-US" sz="1800" dirty="0">
                <a:latin typeface="Calibri" panose="020F0502020204030204" pitchFamily="34" charset="0"/>
                <a:ea typeface="Calibri" panose="020F0502020204030204" pitchFamily="34" charset="0"/>
                <a:cs typeface="Calibri" panose="020F0502020204030204" pitchFamily="34" charset="0"/>
              </a:rPr>
              <a:t>   • Sizes: 2×2×2 to 4×4×4 atoms</a:t>
            </a:r>
          </a:p>
          <a:p>
            <a:r>
              <a:rPr lang="en-US" sz="1800" dirty="0">
                <a:latin typeface="Calibri" panose="020F0502020204030204" pitchFamily="34" charset="0"/>
                <a:ea typeface="Calibri" panose="020F0502020204030204" pitchFamily="34" charset="0"/>
                <a:cs typeface="Calibri" panose="020F0502020204030204" pitchFamily="34" charset="0"/>
              </a:rPr>
              <a:t>   • Node features: Atom types (0 or 1)</a:t>
            </a:r>
          </a:p>
          <a:p>
            <a:r>
              <a:rPr lang="en-US" sz="1800" dirty="0">
                <a:latin typeface="Calibri" panose="020F0502020204030204" pitchFamily="34" charset="0"/>
                <a:ea typeface="Calibri" panose="020F0502020204030204" pitchFamily="34" charset="0"/>
                <a:cs typeface="Calibri" panose="020F0502020204030204" pitchFamily="34" charset="0"/>
              </a:rPr>
              <a:t>   • Edge features: Bond strengths (0.7-1.0)</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Stability labels computed from:</a:t>
            </a:r>
          </a:p>
          <a:p>
            <a:r>
              <a:rPr lang="en-US" sz="1800" dirty="0">
                <a:latin typeface="Calibri" panose="020F0502020204030204" pitchFamily="34" charset="0"/>
                <a:ea typeface="Calibri" panose="020F0502020204030204" pitchFamily="34" charset="0"/>
                <a:cs typeface="Calibri" panose="020F0502020204030204" pitchFamily="34" charset="0"/>
              </a:rPr>
              <a:t>   • Average node degree (connectivity)</a:t>
            </a:r>
          </a:p>
          <a:p>
            <a:r>
              <a:rPr lang="en-US" sz="1800" dirty="0">
                <a:latin typeface="Calibri" panose="020F0502020204030204" pitchFamily="34" charset="0"/>
                <a:ea typeface="Calibri" panose="020F0502020204030204" pitchFamily="34" charset="0"/>
                <a:cs typeface="Calibri" panose="020F0502020204030204" pitchFamily="34" charset="0"/>
              </a:rPr>
              <a:t>   • Average bond strength (quality)</a:t>
            </a:r>
          </a:p>
          <a:p>
            <a:r>
              <a:rPr lang="en-US" sz="1800" dirty="0">
                <a:latin typeface="Calibri" panose="020F0502020204030204" pitchFamily="34" charset="0"/>
                <a:ea typeface="Calibri" panose="020F0502020204030204" pitchFamily="34" charset="0"/>
                <a:cs typeface="Calibri" panose="020F0502020204030204" pitchFamily="34" charset="0"/>
              </a:rPr>
              <a:t>   • Graph connectivity (integrity)</a:t>
            </a:r>
          </a:p>
          <a:p>
            <a:r>
              <a:rPr lang="en-US" sz="1800" dirty="0">
                <a:latin typeface="Calibri" panose="020F0502020204030204" pitchFamily="34" charset="0"/>
                <a:ea typeface="Calibri" panose="020F0502020204030204" pitchFamily="34" charset="0"/>
                <a:cs typeface="Calibri" panose="020F0502020204030204" pitchFamily="34" charset="0"/>
              </a:rPr>
              <a:t>   • Added noise</a:t>
            </a:r>
          </a:p>
          <a:p>
            <a:r>
              <a:rPr lang="en-US" sz="1600" i="1" dirty="0">
                <a:latin typeface="Calibri" panose="020F0502020204030204" pitchFamily="34" charset="0"/>
                <a:ea typeface="Calibri" panose="020F0502020204030204" pitchFamily="34" charset="0"/>
                <a:cs typeface="Calibri" panose="020F0502020204030204" pitchFamily="34" charset="0"/>
              </a:rPr>
              <a:t>Stability labels were computed from average degree, mean bond strength, connectivity, and added noise.</a:t>
            </a:r>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25" name="Picture 24" descr="Types of Unit Cells: Body-Centered Cubic and Face-Centered Cubic (M11Q5) –  UW-Madison Chemistry 103/104 Resource Book">
            <a:extLst>
              <a:ext uri="{FF2B5EF4-FFF2-40B4-BE49-F238E27FC236}">
                <a16:creationId xmlns:a16="http://schemas.microsoft.com/office/drawing/2014/main" id="{9483B281-388E-689A-2277-137A10A08CE7}"/>
              </a:ext>
            </a:extLst>
          </p:cNvPr>
          <p:cNvPicPr>
            <a:picLocks noChangeAspect="1"/>
          </p:cNvPicPr>
          <p:nvPr/>
        </p:nvPicPr>
        <p:blipFill>
          <a:blip r:embed="rId3"/>
          <a:stretch>
            <a:fillRect/>
          </a:stretch>
        </p:blipFill>
        <p:spPr>
          <a:xfrm>
            <a:off x="4724400" y="1981528"/>
            <a:ext cx="4338454" cy="2895272"/>
          </a:xfrm>
          <a:prstGeom prst="rect">
            <a:avLst/>
          </a:prstGeom>
        </p:spPr>
      </p:pic>
    </p:spTree>
    <p:extLst>
      <p:ext uri="{BB962C8B-B14F-4D97-AF65-F5344CB8AC3E}">
        <p14:creationId xmlns:p14="http://schemas.microsoft.com/office/powerpoint/2010/main" val="3684987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AB187-25D8-EDEA-55EE-C6D36BDF709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D287F1-9157-51AC-F830-3AEF1FB129AD}"/>
              </a:ext>
            </a:extLst>
          </p:cNvPr>
          <p:cNvSpPr>
            <a:spLocks noGrp="1"/>
          </p:cNvSpPr>
          <p:nvPr>
            <p:ph type="sldNum" sz="quarter" idx="10"/>
          </p:nvPr>
        </p:nvSpPr>
        <p:spPr/>
        <p:txBody>
          <a:bodyPr/>
          <a:lstStyle/>
          <a:p>
            <a:pPr>
              <a:defRPr/>
            </a:pPr>
            <a:fld id="{ADF2A186-A842-EB41-93F8-9926F66DBD04}" type="slidenum">
              <a:rPr lang="en-US" smtClean="0"/>
              <a:pPr>
                <a:defRPr/>
              </a:pPr>
              <a:t>5</a:t>
            </a:fld>
            <a:endParaRPr lang="en-US" dirty="0"/>
          </a:p>
        </p:txBody>
      </p:sp>
      <p:sp>
        <p:nvSpPr>
          <p:cNvPr id="3" name="TextBox 2">
            <a:extLst>
              <a:ext uri="{FF2B5EF4-FFF2-40B4-BE49-F238E27FC236}">
                <a16:creationId xmlns:a16="http://schemas.microsoft.com/office/drawing/2014/main" id="{73858530-D60F-5715-D051-9D7BE7674512}"/>
              </a:ext>
            </a:extLst>
          </p:cNvPr>
          <p:cNvSpPr txBox="1"/>
          <p:nvPr/>
        </p:nvSpPr>
        <p:spPr>
          <a:xfrm>
            <a:off x="2209800" y="58271"/>
            <a:ext cx="3553345" cy="584775"/>
          </a:xfrm>
          <a:prstGeom prst="rect">
            <a:avLst/>
          </a:prstGeom>
          <a:noFill/>
        </p:spPr>
        <p:txBody>
          <a:bodyPr wrap="none" rtlCol="0">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Data Characteristics</a:t>
            </a:r>
          </a:p>
        </p:txBody>
      </p:sp>
      <p:sp>
        <p:nvSpPr>
          <p:cNvPr id="11" name="TextBox 10">
            <a:extLst>
              <a:ext uri="{FF2B5EF4-FFF2-40B4-BE49-F238E27FC236}">
                <a16:creationId xmlns:a16="http://schemas.microsoft.com/office/drawing/2014/main" id="{27559D1C-405F-1E43-91D3-3400344A886E}"/>
              </a:ext>
            </a:extLst>
          </p:cNvPr>
          <p:cNvSpPr txBox="1"/>
          <p:nvPr/>
        </p:nvSpPr>
        <p:spPr>
          <a:xfrm>
            <a:off x="519372" y="1166842"/>
            <a:ext cx="6934200" cy="5355312"/>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Graph Structure Statistics:</a:t>
            </a:r>
          </a:p>
          <a:p>
            <a:r>
              <a:rPr lang="en-US" sz="1800" dirty="0">
                <a:latin typeface="Calibri" panose="020F0502020204030204" pitchFamily="34" charset="0"/>
                <a:ea typeface="Calibri" panose="020F0502020204030204" pitchFamily="34" charset="0"/>
                <a:cs typeface="Calibri" panose="020F0502020204030204" pitchFamily="34" charset="0"/>
              </a:rPr>
              <a:t>   • Average nodes per structure: ~33.29</a:t>
            </a:r>
          </a:p>
          <a:p>
            <a:r>
              <a:rPr lang="en-US" sz="1800" dirty="0">
                <a:latin typeface="Calibri" panose="020F0502020204030204" pitchFamily="34" charset="0"/>
                <a:ea typeface="Calibri" panose="020F0502020204030204" pitchFamily="34" charset="0"/>
                <a:cs typeface="Calibri" panose="020F0502020204030204" pitchFamily="34" charset="0"/>
              </a:rPr>
              <a:t>   • Average edges per structure: ~70.86</a:t>
            </a:r>
          </a:p>
          <a:p>
            <a:r>
              <a:rPr lang="en-US" sz="1800" dirty="0">
                <a:latin typeface="Calibri" panose="020F0502020204030204" pitchFamily="34" charset="0"/>
                <a:ea typeface="Calibri" panose="020F0502020204030204" pitchFamily="34" charset="0"/>
                <a:cs typeface="Calibri" panose="020F0502020204030204" pitchFamily="34" charset="0"/>
              </a:rPr>
              <a:t>   • Stability range: [0.644, 0.960]</a:t>
            </a:r>
          </a:p>
          <a:p>
            <a:r>
              <a:rPr lang="en-US" sz="1800" dirty="0">
                <a:latin typeface="Calibri" panose="020F0502020204030204" pitchFamily="34" charset="0"/>
                <a:ea typeface="Calibri" panose="020F0502020204030204" pitchFamily="34" charset="0"/>
                <a:cs typeface="Calibri" panose="020F0502020204030204" pitchFamily="34" charset="0"/>
              </a:rPr>
              <a:t>   • Size counts: 2×2×2: 37, 3×3×3: 27, 4×4×4: 36</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Train/Validation/Test Split:</a:t>
            </a:r>
          </a:p>
          <a:p>
            <a:r>
              <a:rPr lang="en-US" sz="1800" dirty="0">
                <a:latin typeface="Calibri" panose="020F0502020204030204" pitchFamily="34" charset="0"/>
                <a:ea typeface="Calibri" panose="020F0502020204030204" pitchFamily="34" charset="0"/>
                <a:cs typeface="Calibri" panose="020F0502020204030204" pitchFamily="34" charset="0"/>
              </a:rPr>
              <a:t>   • Training: 70 samples (70%)</a:t>
            </a:r>
          </a:p>
          <a:p>
            <a:r>
              <a:rPr lang="en-US" sz="1800" dirty="0">
                <a:latin typeface="Calibri" panose="020F0502020204030204" pitchFamily="34" charset="0"/>
                <a:ea typeface="Calibri" panose="020F0502020204030204" pitchFamily="34" charset="0"/>
                <a:cs typeface="Calibri" panose="020F0502020204030204" pitchFamily="34" charset="0"/>
              </a:rPr>
              <a:t>   • Validation: 15 samples (15%)</a:t>
            </a:r>
          </a:p>
          <a:p>
            <a:r>
              <a:rPr lang="en-US" sz="1800" dirty="0">
                <a:latin typeface="Calibri" panose="020F0502020204030204" pitchFamily="34" charset="0"/>
                <a:ea typeface="Calibri" panose="020F0502020204030204" pitchFamily="34" charset="0"/>
                <a:cs typeface="Calibri" panose="020F0502020204030204" pitchFamily="34" charset="0"/>
              </a:rPr>
              <a:t>   • Testing: 15 samples (15%)</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Batch Processing: </a:t>
            </a:r>
          </a:p>
          <a:p>
            <a:r>
              <a:rPr lang="en-US" sz="1800" dirty="0">
                <a:latin typeface="Calibri" panose="020F0502020204030204" pitchFamily="34" charset="0"/>
                <a:ea typeface="Calibri" panose="020F0502020204030204" pitchFamily="34" charset="0"/>
                <a:cs typeface="Calibri" panose="020F0502020204030204" pitchFamily="34" charset="0"/>
              </a:rPr>
              <a:t>8 samples per batch</a:t>
            </a:r>
          </a:p>
        </p:txBody>
      </p:sp>
      <p:pic>
        <p:nvPicPr>
          <p:cNvPr id="13" name="Picture 12" descr="Graph in Data Structure | Types &amp; Explanation">
            <a:extLst>
              <a:ext uri="{FF2B5EF4-FFF2-40B4-BE49-F238E27FC236}">
                <a16:creationId xmlns:a16="http://schemas.microsoft.com/office/drawing/2014/main" id="{0FF8F954-47BD-6C7F-40FA-B2F100410000}"/>
              </a:ext>
            </a:extLst>
          </p:cNvPr>
          <p:cNvPicPr>
            <a:picLocks noChangeAspect="1"/>
          </p:cNvPicPr>
          <p:nvPr/>
        </p:nvPicPr>
        <p:blipFill>
          <a:blip r:embed="rId3"/>
          <a:srcRect l="19322" t="13966" r="21842" b="26948"/>
          <a:stretch>
            <a:fillRect/>
          </a:stretch>
        </p:blipFill>
        <p:spPr>
          <a:xfrm>
            <a:off x="5181600" y="1166842"/>
            <a:ext cx="2743200" cy="1549580"/>
          </a:xfrm>
          <a:prstGeom prst="rect">
            <a:avLst/>
          </a:prstGeom>
        </p:spPr>
      </p:pic>
    </p:spTree>
    <p:extLst>
      <p:ext uri="{BB962C8B-B14F-4D97-AF65-F5344CB8AC3E}">
        <p14:creationId xmlns:p14="http://schemas.microsoft.com/office/powerpoint/2010/main" val="2488814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4817A-EC99-243C-BACC-03066046AD7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807A47-B4E5-E1E6-6628-A1C6A82693A1}"/>
              </a:ext>
            </a:extLst>
          </p:cNvPr>
          <p:cNvSpPr>
            <a:spLocks noGrp="1"/>
          </p:cNvSpPr>
          <p:nvPr>
            <p:ph type="sldNum" sz="quarter" idx="10"/>
          </p:nvPr>
        </p:nvSpPr>
        <p:spPr/>
        <p:txBody>
          <a:bodyPr/>
          <a:lstStyle/>
          <a:p>
            <a:pPr>
              <a:defRPr/>
            </a:pPr>
            <a:fld id="{ADF2A186-A842-EB41-93F8-9926F66DBD04}" type="slidenum">
              <a:rPr lang="en-US" smtClean="0"/>
              <a:pPr>
                <a:defRPr/>
              </a:pPr>
              <a:t>6</a:t>
            </a:fld>
            <a:endParaRPr lang="en-US" dirty="0"/>
          </a:p>
        </p:txBody>
      </p:sp>
      <p:sp>
        <p:nvSpPr>
          <p:cNvPr id="3" name="TextBox 2">
            <a:extLst>
              <a:ext uri="{FF2B5EF4-FFF2-40B4-BE49-F238E27FC236}">
                <a16:creationId xmlns:a16="http://schemas.microsoft.com/office/drawing/2014/main" id="{2228B8F8-11F3-1B67-2C9C-316F50FB730E}"/>
              </a:ext>
            </a:extLst>
          </p:cNvPr>
          <p:cNvSpPr txBox="1"/>
          <p:nvPr/>
        </p:nvSpPr>
        <p:spPr>
          <a:xfrm>
            <a:off x="2209800" y="58271"/>
            <a:ext cx="3898824" cy="523220"/>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Step 2: GCN Architecture</a:t>
            </a:r>
          </a:p>
        </p:txBody>
      </p:sp>
      <p:sp>
        <p:nvSpPr>
          <p:cNvPr id="5" name="TextBox 4">
            <a:extLst>
              <a:ext uri="{FF2B5EF4-FFF2-40B4-BE49-F238E27FC236}">
                <a16:creationId xmlns:a16="http://schemas.microsoft.com/office/drawing/2014/main" id="{ADB1FE21-E569-AB1E-2ABA-38A41808627C}"/>
              </a:ext>
            </a:extLst>
          </p:cNvPr>
          <p:cNvSpPr txBox="1"/>
          <p:nvPr/>
        </p:nvSpPr>
        <p:spPr>
          <a:xfrm>
            <a:off x="151143" y="990601"/>
            <a:ext cx="4192257" cy="3893374"/>
          </a:xfrm>
          <a:prstGeom prst="rect">
            <a:avLst/>
          </a:prstGeom>
          <a:noFill/>
        </p:spPr>
        <p:txBody>
          <a:bodyPr wrap="square">
            <a:spAutoFit/>
          </a:bodyPr>
          <a:lstStyle/>
          <a:p>
            <a:pPr>
              <a:spcBef>
                <a:spcPts val="1080"/>
              </a:spcBef>
              <a:spcAft>
                <a:spcPts val="0"/>
              </a:spcAft>
              <a:defRPr sz="2000">
                <a:solidFill>
                  <a:srgbClr val="333333"/>
                </a:solidFill>
              </a:defRPr>
            </a:pPr>
            <a:r>
              <a:rPr lang="en-US" sz="1600" b="1" dirty="0">
                <a:latin typeface="Calibri" panose="020F0502020204030204" pitchFamily="34" charset="0"/>
                <a:ea typeface="Calibri" panose="020F0502020204030204" pitchFamily="34" charset="0"/>
                <a:cs typeface="Calibri" panose="020F0502020204030204" pitchFamily="34" charset="0"/>
              </a:rPr>
              <a:t>Model Design:</a:t>
            </a:r>
          </a:p>
          <a:p>
            <a:pPr marL="285750" indent="-285750">
              <a:spcBef>
                <a:spcPts val="1080"/>
              </a:spcBef>
              <a:spcAft>
                <a:spcPts val="0"/>
              </a:spcAft>
              <a:buFont typeface="Arial" panose="020B0604020202020204" pitchFamily="34" charset="0"/>
              <a:buChar char="•"/>
              <a:defRPr sz="2000">
                <a:solidFill>
                  <a:srgbClr val="333333"/>
                </a:solidFill>
              </a:defRPr>
            </a:pPr>
            <a:r>
              <a:rPr lang="en-US" sz="1600" dirty="0">
                <a:latin typeface="Calibri" panose="020F0502020204030204" pitchFamily="34" charset="0"/>
                <a:ea typeface="Calibri" panose="020F0502020204030204" pitchFamily="34" charset="0"/>
                <a:cs typeface="Calibri" panose="020F0502020204030204" pitchFamily="34" charset="0"/>
              </a:rPr>
              <a:t>Node features: atom type + normalized degree (2 dims)</a:t>
            </a:r>
          </a:p>
          <a:p>
            <a:pPr marL="285750" indent="-285750">
              <a:spcBef>
                <a:spcPts val="1080"/>
              </a:spcBef>
              <a:spcAft>
                <a:spcPts val="0"/>
              </a:spcAft>
              <a:buFont typeface="Arial" panose="020B0604020202020204" pitchFamily="34" charset="0"/>
              <a:buChar char="•"/>
              <a:defRPr sz="2000">
                <a:solidFill>
                  <a:srgbClr val="333333"/>
                </a:solidFill>
              </a:defRPr>
            </a:pPr>
            <a:r>
              <a:rPr lang="en-US" sz="1600" dirty="0">
                <a:latin typeface="Calibri" panose="020F0502020204030204" pitchFamily="34" charset="0"/>
                <a:ea typeface="Calibri" panose="020F0502020204030204" pitchFamily="34" charset="0"/>
                <a:cs typeface="Calibri" panose="020F0502020204030204" pitchFamily="34" charset="0"/>
              </a:rPr>
              <a:t>Edge weights: bond strength</a:t>
            </a:r>
          </a:p>
          <a:p>
            <a:pPr marL="285750" indent="-285750">
              <a:spcBef>
                <a:spcPts val="1080"/>
              </a:spcBef>
              <a:spcAft>
                <a:spcPts val="0"/>
              </a:spcAft>
              <a:buFont typeface="Arial" panose="020B0604020202020204" pitchFamily="34" charset="0"/>
              <a:buChar char="•"/>
              <a:defRPr sz="2000">
                <a:solidFill>
                  <a:srgbClr val="333333"/>
                </a:solidFill>
              </a:defRPr>
            </a:pPr>
            <a:r>
              <a:rPr lang="en-US" sz="1600" dirty="0">
                <a:latin typeface="Calibri" panose="020F0502020204030204" pitchFamily="34" charset="0"/>
                <a:ea typeface="Calibri" panose="020F0502020204030204" pitchFamily="34" charset="0"/>
                <a:cs typeface="Calibri" panose="020F0502020204030204" pitchFamily="34" charset="0"/>
              </a:rPr>
              <a:t>Graph summary features: node count, edge count, avg degree, mean bond strength, connectivity</a:t>
            </a:r>
          </a:p>
          <a:p>
            <a:pPr marL="285750" indent="-285750">
              <a:spcBef>
                <a:spcPts val="1080"/>
              </a:spcBef>
              <a:spcAft>
                <a:spcPts val="0"/>
              </a:spcAft>
              <a:buFont typeface="Arial" panose="020B0604020202020204" pitchFamily="34" charset="0"/>
              <a:buChar char="•"/>
              <a:defRPr sz="2000">
                <a:solidFill>
                  <a:srgbClr val="333333"/>
                </a:solidFill>
              </a:defRPr>
            </a:pPr>
            <a:r>
              <a:rPr lang="en-US" sz="1600" dirty="0">
                <a:latin typeface="Calibri" panose="020F0502020204030204" pitchFamily="34" charset="0"/>
                <a:ea typeface="Calibri" panose="020F0502020204030204" pitchFamily="34" charset="0"/>
                <a:cs typeface="Calibri" panose="020F0502020204030204" pitchFamily="34" charset="0"/>
              </a:rPr>
              <a:t>3 GCN layers + global mean pooling + MLP head + direct residual path from graph summary features</a:t>
            </a:r>
          </a:p>
          <a:p>
            <a:pPr>
              <a:spcBef>
                <a:spcPts val="1080"/>
              </a:spcBef>
              <a:spcAft>
                <a:spcPts val="0"/>
              </a:spcAft>
              <a:defRPr sz="2000">
                <a:solidFill>
                  <a:srgbClr val="333333"/>
                </a:solidFill>
              </a:defRPr>
            </a:pPr>
            <a:r>
              <a:rPr lang="en-US" sz="1600" b="1" dirty="0">
                <a:latin typeface="Calibri" panose="020F0502020204030204" pitchFamily="34" charset="0"/>
                <a:ea typeface="Calibri" panose="020F0502020204030204" pitchFamily="34" charset="0"/>
                <a:cs typeface="Calibri" panose="020F0502020204030204" pitchFamily="34" charset="0"/>
              </a:rPr>
              <a:t>Total Parameters: </a:t>
            </a:r>
          </a:p>
          <a:p>
            <a:pPr marL="285750" indent="-285750">
              <a:spcBef>
                <a:spcPts val="1080"/>
              </a:spcBef>
              <a:spcAft>
                <a:spcPts val="0"/>
              </a:spcAft>
              <a:buFont typeface="Arial" panose="020B0604020202020204" pitchFamily="34" charset="0"/>
              <a:buChar char="•"/>
              <a:defRPr sz="2000">
                <a:solidFill>
                  <a:srgbClr val="333333"/>
                </a:solidFill>
              </a:defRPr>
            </a:pPr>
            <a:r>
              <a:rPr lang="en-US" sz="1600" dirty="0">
                <a:latin typeface="Calibri" panose="020F0502020204030204" pitchFamily="34" charset="0"/>
                <a:ea typeface="Calibri" panose="020F0502020204030204" pitchFamily="34" charset="0"/>
                <a:cs typeface="Calibri" panose="020F0502020204030204" pitchFamily="34" charset="0"/>
              </a:rPr>
              <a:t>15,463</a:t>
            </a:r>
          </a:p>
        </p:txBody>
      </p:sp>
      <p:pic>
        <p:nvPicPr>
          <p:cNvPr id="6" name="Picture 5" descr="Overview of different architectures of GNN, CNN, GCN, and GAT. | Download  Scientific Diagram">
            <a:extLst>
              <a:ext uri="{FF2B5EF4-FFF2-40B4-BE49-F238E27FC236}">
                <a16:creationId xmlns:a16="http://schemas.microsoft.com/office/drawing/2014/main" id="{FF51F859-CBB5-192F-34EF-712045101089}"/>
              </a:ext>
            </a:extLst>
          </p:cNvPr>
          <p:cNvPicPr>
            <a:picLocks noChangeAspect="1"/>
          </p:cNvPicPr>
          <p:nvPr/>
        </p:nvPicPr>
        <p:blipFill>
          <a:blip r:embed="rId3"/>
          <a:stretch>
            <a:fillRect/>
          </a:stretch>
        </p:blipFill>
        <p:spPr>
          <a:xfrm>
            <a:off x="4419600" y="2048472"/>
            <a:ext cx="4647321" cy="2761055"/>
          </a:xfrm>
          <a:prstGeom prst="rect">
            <a:avLst/>
          </a:prstGeom>
        </p:spPr>
      </p:pic>
    </p:spTree>
    <p:extLst>
      <p:ext uri="{BB962C8B-B14F-4D97-AF65-F5344CB8AC3E}">
        <p14:creationId xmlns:p14="http://schemas.microsoft.com/office/powerpoint/2010/main" val="78207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07253-F9A6-A481-94C4-FA15A8DA2E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03C14E-ECD4-DC36-9D4C-A2501CFCC90E}"/>
              </a:ext>
            </a:extLst>
          </p:cNvPr>
          <p:cNvSpPr>
            <a:spLocks noGrp="1"/>
          </p:cNvSpPr>
          <p:nvPr>
            <p:ph type="sldNum" sz="quarter" idx="10"/>
          </p:nvPr>
        </p:nvSpPr>
        <p:spPr/>
        <p:txBody>
          <a:bodyPr/>
          <a:lstStyle/>
          <a:p>
            <a:pPr>
              <a:defRPr/>
            </a:pPr>
            <a:fld id="{ADF2A186-A842-EB41-93F8-9926F66DBD04}" type="slidenum">
              <a:rPr lang="en-US" smtClean="0"/>
              <a:pPr>
                <a:defRPr/>
              </a:pPr>
              <a:t>7</a:t>
            </a:fld>
            <a:endParaRPr lang="en-US" dirty="0"/>
          </a:p>
        </p:txBody>
      </p:sp>
      <p:sp>
        <p:nvSpPr>
          <p:cNvPr id="3" name="TextBox 2">
            <a:extLst>
              <a:ext uri="{FF2B5EF4-FFF2-40B4-BE49-F238E27FC236}">
                <a16:creationId xmlns:a16="http://schemas.microsoft.com/office/drawing/2014/main" id="{3A0C2971-DFFC-B0F9-C92F-0373C31402AB}"/>
              </a:ext>
            </a:extLst>
          </p:cNvPr>
          <p:cNvSpPr txBox="1"/>
          <p:nvPr/>
        </p:nvSpPr>
        <p:spPr>
          <a:xfrm>
            <a:off x="2209800" y="58271"/>
            <a:ext cx="4113434" cy="523220"/>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Step 3: Training the Model</a:t>
            </a:r>
          </a:p>
        </p:txBody>
      </p:sp>
      <p:sp>
        <p:nvSpPr>
          <p:cNvPr id="5" name="TextBox 4">
            <a:extLst>
              <a:ext uri="{FF2B5EF4-FFF2-40B4-BE49-F238E27FC236}">
                <a16:creationId xmlns:a16="http://schemas.microsoft.com/office/drawing/2014/main" id="{AE93D42A-2F72-18DF-70B2-56106972674E}"/>
              </a:ext>
            </a:extLst>
          </p:cNvPr>
          <p:cNvSpPr txBox="1"/>
          <p:nvPr/>
        </p:nvSpPr>
        <p:spPr>
          <a:xfrm>
            <a:off x="152400" y="975359"/>
            <a:ext cx="8839200" cy="5804153"/>
          </a:xfrm>
          <a:prstGeom prst="rect">
            <a:avLst/>
          </a:prstGeom>
          <a:noFill/>
        </p:spPr>
        <p:txBody>
          <a:bodyPr wrap="square">
            <a:spAutoFit/>
          </a:bodyPr>
          <a:lstStyle/>
          <a:p>
            <a:pPr>
              <a:spcBef>
                <a:spcPts val="1080"/>
              </a:spcBef>
              <a:spcAft>
                <a:spcPts val="0"/>
              </a:spcAft>
              <a:defRPr sz="2000">
                <a:solidFill>
                  <a:srgbClr val="333333"/>
                </a:solidFill>
              </a:defRPr>
            </a:pPr>
            <a:r>
              <a:rPr lang="en-US" sz="1800" b="1" dirty="0">
                <a:latin typeface="Calibri" panose="020F0502020204030204" pitchFamily="34" charset="0"/>
                <a:ea typeface="Calibri" panose="020F0502020204030204" pitchFamily="34" charset="0"/>
                <a:cs typeface="Calibri" panose="020F0502020204030204" pitchFamily="34" charset="0"/>
              </a:rPr>
              <a:t>Optimization Setup:</a:t>
            </a:r>
          </a:p>
          <a:p>
            <a:pPr>
              <a:spcBef>
                <a:spcPts val="1080"/>
              </a:spcBef>
              <a:spcAft>
                <a:spcPts val="0"/>
              </a:spcAft>
              <a:defRPr sz="2000">
                <a:solidFill>
                  <a:srgbClr val="333333"/>
                </a:solidFill>
              </a:defRPr>
            </a:pPr>
            <a:r>
              <a:rPr lang="en-US" sz="1800" dirty="0">
                <a:latin typeface="Calibri" panose="020F0502020204030204" pitchFamily="34" charset="0"/>
                <a:ea typeface="Calibri" panose="020F0502020204030204" pitchFamily="34" charset="0"/>
                <a:cs typeface="Calibri" panose="020F0502020204030204" pitchFamily="34" charset="0"/>
              </a:rPr>
              <a:t>   • Optimizer: Adam (learning rate 0.001)</a:t>
            </a:r>
          </a:p>
          <a:p>
            <a:pPr>
              <a:spcBef>
                <a:spcPts val="1080"/>
              </a:spcBef>
              <a:spcAft>
                <a:spcPts val="0"/>
              </a:spcAft>
              <a:defRPr sz="2000">
                <a:solidFill>
                  <a:srgbClr val="333333"/>
                </a:solidFill>
              </a:defRPr>
            </a:pPr>
            <a:r>
              <a:rPr lang="en-US" sz="1800" dirty="0">
                <a:latin typeface="Calibri" panose="020F0502020204030204" pitchFamily="34" charset="0"/>
                <a:ea typeface="Calibri" panose="020F0502020204030204" pitchFamily="34" charset="0"/>
                <a:cs typeface="Calibri" panose="020F0502020204030204" pitchFamily="34" charset="0"/>
              </a:rPr>
              <a:t>   • Loss Function: Mean Squared Error (MSE)</a:t>
            </a:r>
          </a:p>
          <a:p>
            <a:pPr>
              <a:spcBef>
                <a:spcPts val="1080"/>
              </a:spcBef>
              <a:spcAft>
                <a:spcPts val="0"/>
              </a:spcAft>
              <a:defRPr sz="2000">
                <a:solidFill>
                  <a:srgbClr val="333333"/>
                </a:solidFill>
              </a:defRPr>
            </a:pPr>
            <a:r>
              <a:rPr lang="en-US" sz="1800" dirty="0">
                <a:latin typeface="Calibri" panose="020F0502020204030204" pitchFamily="34" charset="0"/>
                <a:ea typeface="Calibri" panose="020F0502020204030204" pitchFamily="34" charset="0"/>
                <a:cs typeface="Calibri" panose="020F0502020204030204" pitchFamily="34" charset="0"/>
              </a:rPr>
              <a:t>   • Early Stopping: patience = 15 epochs</a:t>
            </a:r>
          </a:p>
          <a:p>
            <a:pPr>
              <a:spcBef>
                <a:spcPts val="1080"/>
              </a:spcBef>
              <a:spcAft>
                <a:spcPts val="0"/>
              </a:spcAft>
              <a:defRPr sz="2000">
                <a:solidFill>
                  <a:srgbClr val="333333"/>
                </a:solidFill>
              </a:defRPr>
            </a:pPr>
            <a:r>
              <a:rPr lang="en-US" sz="1800" dirty="0">
                <a:latin typeface="Calibri" panose="020F0502020204030204" pitchFamily="34" charset="0"/>
                <a:ea typeface="Calibri" panose="020F0502020204030204" pitchFamily="34" charset="0"/>
                <a:cs typeface="Calibri" panose="020F0502020204030204" pitchFamily="34" charset="0"/>
              </a:rPr>
              <a:t>   • Max Epochs: 100</a:t>
            </a:r>
          </a:p>
          <a:p>
            <a:pPr>
              <a:spcBef>
                <a:spcPts val="1080"/>
              </a:spcBef>
              <a:spcAft>
                <a:spcPts val="0"/>
              </a:spcAft>
              <a:defRPr sz="2000">
                <a:solidFill>
                  <a:srgbClr val="333333"/>
                </a:solidFill>
              </a:defRPr>
            </a:pPr>
            <a:r>
              <a:rPr lang="en-US" sz="1800" dirty="0">
                <a:latin typeface="Calibri" panose="020F0502020204030204" pitchFamily="34" charset="0"/>
                <a:ea typeface="Calibri" panose="020F0502020204030204" pitchFamily="34" charset="0"/>
                <a:cs typeface="Calibri" panose="020F0502020204030204" pitchFamily="34" charset="0"/>
              </a:rPr>
              <a:t>   Best run stopped at epoch 47 via early stopping</a:t>
            </a:r>
          </a:p>
          <a:p>
            <a:pPr>
              <a:spcBef>
                <a:spcPts val="1080"/>
              </a:spcBef>
              <a:spcAft>
                <a:spcPts val="0"/>
              </a:spcAft>
              <a:defRPr sz="2000">
                <a:solidFill>
                  <a:srgbClr val="333333"/>
                </a:solidFill>
              </a:defRPr>
            </a:pPr>
            <a:endParaRPr lang="en-US" sz="1800" dirty="0">
              <a:latin typeface="Calibri" panose="020F0502020204030204" pitchFamily="34" charset="0"/>
              <a:ea typeface="Calibri" panose="020F0502020204030204" pitchFamily="34" charset="0"/>
              <a:cs typeface="Calibri" panose="020F0502020204030204" pitchFamily="34" charset="0"/>
            </a:endParaRPr>
          </a:p>
          <a:p>
            <a:pPr>
              <a:spcBef>
                <a:spcPts val="1080"/>
              </a:spcBef>
              <a:spcAft>
                <a:spcPts val="0"/>
              </a:spcAft>
              <a:defRPr sz="2000">
                <a:solidFill>
                  <a:srgbClr val="333333"/>
                </a:solidFill>
              </a:defRPr>
            </a:pPr>
            <a:r>
              <a:rPr lang="en-US" sz="1800" b="1" dirty="0">
                <a:latin typeface="Calibri" panose="020F0502020204030204" pitchFamily="34" charset="0"/>
                <a:ea typeface="Calibri" panose="020F0502020204030204" pitchFamily="34" charset="0"/>
                <a:cs typeface="Calibri" panose="020F0502020204030204" pitchFamily="34" charset="0"/>
              </a:rPr>
              <a:t>Training Process:</a:t>
            </a:r>
          </a:p>
          <a:p>
            <a:pPr>
              <a:spcBef>
                <a:spcPts val="1080"/>
              </a:spcBef>
              <a:spcAft>
                <a:spcPts val="0"/>
              </a:spcAft>
              <a:defRPr sz="2000">
                <a:solidFill>
                  <a:srgbClr val="333333"/>
                </a:solidFill>
              </a:defRPr>
            </a:pPr>
            <a:r>
              <a:rPr lang="en-US" sz="1800" dirty="0">
                <a:latin typeface="Calibri" panose="020F0502020204030204" pitchFamily="34" charset="0"/>
                <a:ea typeface="Calibri" panose="020F0502020204030204" pitchFamily="34" charset="0"/>
                <a:cs typeface="Calibri" panose="020F0502020204030204" pitchFamily="34" charset="0"/>
              </a:rPr>
              <a:t>   1. Forward pass through batch</a:t>
            </a:r>
          </a:p>
          <a:p>
            <a:pPr>
              <a:spcBef>
                <a:spcPts val="1080"/>
              </a:spcBef>
              <a:spcAft>
                <a:spcPts val="0"/>
              </a:spcAft>
              <a:defRPr sz="2000">
                <a:solidFill>
                  <a:srgbClr val="333333"/>
                </a:solidFill>
              </a:defRPr>
            </a:pPr>
            <a:r>
              <a:rPr lang="en-US" sz="1800" dirty="0">
                <a:latin typeface="Calibri" panose="020F0502020204030204" pitchFamily="34" charset="0"/>
                <a:ea typeface="Calibri" panose="020F0502020204030204" pitchFamily="34" charset="0"/>
                <a:cs typeface="Calibri" panose="020F0502020204030204" pitchFamily="34" charset="0"/>
              </a:rPr>
              <a:t>   2. Compute MSE loss</a:t>
            </a:r>
          </a:p>
          <a:p>
            <a:pPr>
              <a:spcBef>
                <a:spcPts val="1080"/>
              </a:spcBef>
              <a:spcAft>
                <a:spcPts val="0"/>
              </a:spcAft>
              <a:defRPr sz="2000">
                <a:solidFill>
                  <a:srgbClr val="333333"/>
                </a:solidFill>
              </a:defRPr>
            </a:pPr>
            <a:r>
              <a:rPr lang="en-US" sz="1800" dirty="0">
                <a:latin typeface="Calibri" panose="020F0502020204030204" pitchFamily="34" charset="0"/>
                <a:ea typeface="Calibri" panose="020F0502020204030204" pitchFamily="34" charset="0"/>
                <a:cs typeface="Calibri" panose="020F0502020204030204" pitchFamily="34" charset="0"/>
              </a:rPr>
              <a:t>   3. Backward pass (compute gradients)</a:t>
            </a:r>
          </a:p>
          <a:p>
            <a:pPr>
              <a:spcBef>
                <a:spcPts val="1080"/>
              </a:spcBef>
              <a:spcAft>
                <a:spcPts val="0"/>
              </a:spcAft>
              <a:defRPr sz="2000">
                <a:solidFill>
                  <a:srgbClr val="333333"/>
                </a:solidFill>
              </a:defRPr>
            </a:pPr>
            <a:r>
              <a:rPr lang="en-US" sz="1800" dirty="0">
                <a:latin typeface="Calibri" panose="020F0502020204030204" pitchFamily="34" charset="0"/>
                <a:ea typeface="Calibri" panose="020F0502020204030204" pitchFamily="34" charset="0"/>
                <a:cs typeface="Calibri" panose="020F0502020204030204" pitchFamily="34" charset="0"/>
              </a:rPr>
              <a:t>   4. Update weights</a:t>
            </a:r>
          </a:p>
          <a:p>
            <a:pPr>
              <a:spcBef>
                <a:spcPts val="1080"/>
              </a:spcBef>
              <a:spcAft>
                <a:spcPts val="0"/>
              </a:spcAft>
              <a:defRPr sz="2000">
                <a:solidFill>
                  <a:srgbClr val="333333"/>
                </a:solidFill>
              </a:defRPr>
            </a:pPr>
            <a:r>
              <a:rPr lang="en-US" sz="1800" dirty="0">
                <a:latin typeface="Calibri" panose="020F0502020204030204" pitchFamily="34" charset="0"/>
                <a:ea typeface="Calibri" panose="020F0502020204030204" pitchFamily="34" charset="0"/>
                <a:cs typeface="Calibri" panose="020F0502020204030204" pitchFamily="34" charset="0"/>
              </a:rPr>
              <a:t>   5. Validate on validation set</a:t>
            </a:r>
          </a:p>
          <a:p>
            <a:pPr>
              <a:spcBef>
                <a:spcPts val="1080"/>
              </a:spcBef>
              <a:spcAft>
                <a:spcPts val="0"/>
              </a:spcAft>
              <a:defRPr sz="2000">
                <a:solidFill>
                  <a:srgbClr val="333333"/>
                </a:solidFill>
              </a:defRPr>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descr="Intro to optimization in deep learning: Momentum, RMSProp and Adam |  DigitalOcean">
            <a:extLst>
              <a:ext uri="{FF2B5EF4-FFF2-40B4-BE49-F238E27FC236}">
                <a16:creationId xmlns:a16="http://schemas.microsoft.com/office/drawing/2014/main" id="{159A5FF4-7EC1-3558-F875-F4C148E36B9F}"/>
              </a:ext>
            </a:extLst>
          </p:cNvPr>
          <p:cNvPicPr>
            <a:picLocks noChangeAspect="1"/>
          </p:cNvPicPr>
          <p:nvPr/>
        </p:nvPicPr>
        <p:blipFill>
          <a:blip r:embed="rId3"/>
          <a:srcRect l="15216" t="10500" r="10767" b="16002"/>
          <a:stretch>
            <a:fillRect/>
          </a:stretch>
        </p:blipFill>
        <p:spPr>
          <a:xfrm>
            <a:off x="5334000" y="990599"/>
            <a:ext cx="3472542" cy="2209801"/>
          </a:xfrm>
          <a:prstGeom prst="rect">
            <a:avLst/>
          </a:prstGeom>
        </p:spPr>
      </p:pic>
      <p:pic>
        <p:nvPicPr>
          <p:cNvPr id="7" name="Picture 6" descr="optimization - How Adam optimizer influence the learning rate? - Data  Science Stack Exchange">
            <a:extLst>
              <a:ext uri="{FF2B5EF4-FFF2-40B4-BE49-F238E27FC236}">
                <a16:creationId xmlns:a16="http://schemas.microsoft.com/office/drawing/2014/main" id="{834C9BAB-AC9E-1BB2-B117-EBC5EF823E1F}"/>
              </a:ext>
            </a:extLst>
          </p:cNvPr>
          <p:cNvPicPr>
            <a:picLocks noChangeAspect="1"/>
          </p:cNvPicPr>
          <p:nvPr/>
        </p:nvPicPr>
        <p:blipFill>
          <a:blip r:embed="rId4"/>
          <a:stretch>
            <a:fillRect/>
          </a:stretch>
        </p:blipFill>
        <p:spPr>
          <a:xfrm>
            <a:off x="5410200" y="3915918"/>
            <a:ext cx="2819400" cy="1951483"/>
          </a:xfrm>
          <a:prstGeom prst="rect">
            <a:avLst/>
          </a:prstGeom>
        </p:spPr>
      </p:pic>
    </p:spTree>
    <p:extLst>
      <p:ext uri="{BB962C8B-B14F-4D97-AF65-F5344CB8AC3E}">
        <p14:creationId xmlns:p14="http://schemas.microsoft.com/office/powerpoint/2010/main" val="2019931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E161F-04DF-F15D-50C7-6CA0E16B03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96284E-C1EE-63E7-EFA3-E71CB34A7FD3}"/>
              </a:ext>
            </a:extLst>
          </p:cNvPr>
          <p:cNvSpPr>
            <a:spLocks noGrp="1"/>
          </p:cNvSpPr>
          <p:nvPr>
            <p:ph type="sldNum" sz="quarter" idx="10"/>
          </p:nvPr>
        </p:nvSpPr>
        <p:spPr/>
        <p:txBody>
          <a:bodyPr/>
          <a:lstStyle/>
          <a:p>
            <a:pPr>
              <a:defRPr/>
            </a:pPr>
            <a:fld id="{ADF2A186-A842-EB41-93F8-9926F66DBD04}" type="slidenum">
              <a:rPr lang="en-US" smtClean="0"/>
              <a:pPr>
                <a:defRPr/>
              </a:pPr>
              <a:t>8</a:t>
            </a:fld>
            <a:endParaRPr lang="en-US" dirty="0"/>
          </a:p>
        </p:txBody>
      </p:sp>
      <p:sp>
        <p:nvSpPr>
          <p:cNvPr id="3" name="TextBox 2">
            <a:extLst>
              <a:ext uri="{FF2B5EF4-FFF2-40B4-BE49-F238E27FC236}">
                <a16:creationId xmlns:a16="http://schemas.microsoft.com/office/drawing/2014/main" id="{61595AA6-7355-CCA3-7037-2999AF44D6B6}"/>
              </a:ext>
            </a:extLst>
          </p:cNvPr>
          <p:cNvSpPr txBox="1"/>
          <p:nvPr/>
        </p:nvSpPr>
        <p:spPr>
          <a:xfrm>
            <a:off x="2209800" y="58271"/>
            <a:ext cx="4697120" cy="523220"/>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Step 4: Results &amp; Performance</a:t>
            </a:r>
          </a:p>
        </p:txBody>
      </p:sp>
      <p:graphicFrame>
        <p:nvGraphicFramePr>
          <p:cNvPr id="6" name="Table 0">
            <a:extLst>
              <a:ext uri="{FF2B5EF4-FFF2-40B4-BE49-F238E27FC236}">
                <a16:creationId xmlns:a16="http://schemas.microsoft.com/office/drawing/2014/main" id="{F312D416-3EAA-BFC2-8561-B32E5B7DF074}"/>
              </a:ext>
            </a:extLst>
          </p:cNvPr>
          <p:cNvGraphicFramePr>
            <a:graphicFrameLocks noGrp="1"/>
          </p:cNvGraphicFramePr>
          <p:nvPr>
            <p:extLst>
              <p:ext uri="{D42A27DB-BD31-4B8C-83A1-F6EECF244321}">
                <p14:modId xmlns:p14="http://schemas.microsoft.com/office/powerpoint/2010/main" val="1643091518"/>
              </p:ext>
            </p:extLst>
          </p:nvPr>
        </p:nvGraphicFramePr>
        <p:xfrm>
          <a:off x="365760" y="1600200"/>
          <a:ext cx="8412480" cy="2834640"/>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926080">
                  <a:extLst>
                    <a:ext uri="{9D8B030D-6E8A-4147-A177-3AD203B41FA5}">
                      <a16:colId xmlns:a16="http://schemas.microsoft.com/office/drawing/2014/main" val="20004"/>
                    </a:ext>
                  </a:extLst>
                </a:gridCol>
              </a:tblGrid>
              <a:tr h="566928">
                <a:tc>
                  <a:txBody>
                    <a:bodyPr/>
                    <a:lstStyle/>
                    <a:p>
                      <a:pPr marL="0" indent="0" algn="ctr">
                        <a:buNone/>
                      </a:pPr>
                      <a:r>
                        <a:rPr lang="en-US" sz="1400" b="1" dirty="0">
                          <a:solidFill>
                            <a:srgbClr val="FFFFFF"/>
                          </a:solidFill>
                        </a:rPr>
                        <a:t>Metric</a:t>
                      </a:r>
                      <a:endParaRPr lang="en-US" sz="1400" dirty="0"/>
                    </a:p>
                  </a:txBody>
                  <a:tcPr>
                    <a:lnL w="12700" cap="flat" cmpd="sng" algn="ctr">
                      <a:solidFill>
                        <a:schemeClr val="tx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tx2">
                        <a:lumMod val="50000"/>
                        <a:lumOff val="50000"/>
                      </a:schemeClr>
                    </a:solidFill>
                  </a:tcPr>
                </a:tc>
                <a:tc>
                  <a:txBody>
                    <a:bodyPr/>
                    <a:lstStyle/>
                    <a:p>
                      <a:pPr marL="0" indent="0" algn="ctr">
                        <a:buNone/>
                      </a:pPr>
                      <a:r>
                        <a:rPr lang="en-US" sz="1400" b="1" dirty="0">
                          <a:solidFill>
                            <a:srgbClr val="FFFFFF"/>
                          </a:solidFill>
                        </a:rPr>
                        <a:t>Target</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tx2">
                        <a:lumMod val="50000"/>
                        <a:lumOff val="50000"/>
                      </a:schemeClr>
                    </a:solidFill>
                  </a:tcPr>
                </a:tc>
                <a:tc>
                  <a:txBody>
                    <a:bodyPr/>
                    <a:lstStyle/>
                    <a:p>
                      <a:pPr marL="0" indent="0" algn="ctr">
                        <a:buNone/>
                      </a:pPr>
                      <a:r>
                        <a:rPr lang="en-US" sz="1400" b="1" dirty="0">
                          <a:solidFill>
                            <a:srgbClr val="FFFFFF"/>
                          </a:solidFill>
                        </a:rPr>
                        <a:t>Achieved</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tx2">
                        <a:lumMod val="50000"/>
                        <a:lumOff val="50000"/>
                      </a:schemeClr>
                    </a:solidFill>
                  </a:tcPr>
                </a:tc>
                <a:tc>
                  <a:txBody>
                    <a:bodyPr/>
                    <a:lstStyle/>
                    <a:p>
                      <a:pPr marL="0" indent="0" algn="ctr">
                        <a:buNone/>
                      </a:pPr>
                      <a:r>
                        <a:rPr lang="en-US" sz="1400" b="1" dirty="0">
                          <a:solidFill>
                            <a:srgbClr val="FFFFFF"/>
                          </a:solidFill>
                        </a:rPr>
                        <a:t>Status</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tx2">
                        <a:lumMod val="50000"/>
                        <a:lumOff val="50000"/>
                      </a:schemeClr>
                    </a:solidFill>
                  </a:tcPr>
                </a:tc>
                <a:tc>
                  <a:txBody>
                    <a:bodyPr/>
                    <a:lstStyle/>
                    <a:p>
                      <a:pPr marL="0" indent="0" algn="ctr">
                        <a:buNone/>
                      </a:pPr>
                      <a:r>
                        <a:rPr lang="en-US" sz="1400" b="1" dirty="0">
                          <a:solidFill>
                            <a:srgbClr val="FFFFFF"/>
                          </a:solidFill>
                        </a:rPr>
                        <a:t>Notes</a:t>
                      </a:r>
                      <a:endParaRPr lang="en-US" sz="1400" dirty="0"/>
                    </a:p>
                  </a:txBody>
                  <a:tcPr>
                    <a:lnL w="12700" cap="flat" cmpd="sng" algn="ctr">
                      <a:solidFill>
                        <a:srgbClr val="CBD5E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10000"/>
                  </a:ext>
                </a:extLst>
              </a:tr>
              <a:tr h="566928">
                <a:tc>
                  <a:txBody>
                    <a:bodyPr/>
                    <a:lstStyle/>
                    <a:p>
                      <a:pPr marL="0" indent="0" algn="ctr">
                        <a:buNone/>
                      </a:pPr>
                      <a:r>
                        <a:rPr lang="en-US" sz="1300" b="1" dirty="0">
                          <a:solidFill>
                            <a:srgbClr val="1E293B"/>
                          </a:solidFill>
                        </a:rPr>
                        <a:t>R² Score</a:t>
                      </a:r>
                      <a:endParaRPr lang="en-US" sz="1300" dirty="0"/>
                    </a:p>
                  </a:txBody>
                  <a:tcPr>
                    <a:lnL w="12700" cap="flat" cmpd="sng" algn="ctr">
                      <a:solidFill>
                        <a:schemeClr val="tx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334155"/>
                          </a:solidFill>
                        </a:rPr>
                        <a:t>—</a:t>
                      </a:r>
                      <a:endParaRPr lang="en-US" sz="13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b="1" dirty="0">
                          <a:solidFill>
                            <a:srgbClr val="15803D"/>
                          </a:solidFill>
                        </a:rPr>
                        <a:t>0.675</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15803D"/>
                          </a:solidFill>
                        </a:rPr>
                        <a:t>Pass</a:t>
                      </a:r>
                      <a:endParaRPr lang="en-US" sz="13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100" dirty="0">
                          <a:solidFill>
                            <a:srgbClr val="475569"/>
                          </a:solidFill>
                        </a:rPr>
                        <a:t>Test R²: 0.675448</a:t>
                      </a:r>
                      <a:endParaRPr lang="en-US" sz="1100" dirty="0"/>
                    </a:p>
                  </a:txBody>
                  <a:tcPr>
                    <a:lnL w="12700" cap="flat" cmpd="sng" algn="ctr">
                      <a:solidFill>
                        <a:srgbClr val="CBD5E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lgn="ctr">
                        <a:buNone/>
                      </a:pPr>
                      <a:r>
                        <a:rPr lang="en-US" sz="1300" b="1" dirty="0">
                          <a:solidFill>
                            <a:srgbClr val="1E293B"/>
                          </a:solidFill>
                        </a:rPr>
                        <a:t>MAE</a:t>
                      </a:r>
                      <a:endParaRPr lang="en-US" sz="1300" dirty="0"/>
                    </a:p>
                  </a:txBody>
                  <a:tcPr>
                    <a:lnL w="12700" cap="flat" cmpd="sng" algn="ctr">
                      <a:solidFill>
                        <a:schemeClr val="tx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334155"/>
                          </a:solidFill>
                        </a:rPr>
                        <a:t>&lt; 0.12</a:t>
                      </a:r>
                      <a:endParaRPr lang="en-US" sz="13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b="1" dirty="0">
                          <a:solidFill>
                            <a:srgbClr val="15803D"/>
                          </a:solidFill>
                        </a:rPr>
                        <a:t>0.037175</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15803D"/>
                          </a:solidFill>
                        </a:rPr>
                        <a:t>Pass</a:t>
                      </a:r>
                      <a:endParaRPr lang="en-US" sz="13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100" dirty="0">
                          <a:solidFill>
                            <a:srgbClr val="475569"/>
                          </a:solidFill>
                        </a:rPr>
                        <a:t>Test MAE: 0.037175</a:t>
                      </a:r>
                      <a:endParaRPr lang="en-US" sz="1100" dirty="0"/>
                    </a:p>
                  </a:txBody>
                  <a:tcPr>
                    <a:lnL w="12700" cap="flat" cmpd="sng" algn="ctr">
                      <a:solidFill>
                        <a:srgbClr val="CBD5E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lgn="ctr">
                        <a:buNone/>
                      </a:pPr>
                      <a:r>
                        <a:rPr lang="en-US" sz="1300" b="1" dirty="0">
                          <a:solidFill>
                            <a:srgbClr val="1E293B"/>
                          </a:solidFill>
                        </a:rPr>
                        <a:t>RMSE</a:t>
                      </a:r>
                      <a:endParaRPr lang="en-US" sz="1300" dirty="0"/>
                    </a:p>
                  </a:txBody>
                  <a:tcPr>
                    <a:lnL w="12700" cap="flat" cmpd="sng" algn="ctr">
                      <a:solidFill>
                        <a:schemeClr val="tx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94A3B8"/>
                          </a:solidFill>
                        </a:rPr>
                        <a:t>—</a:t>
                      </a:r>
                      <a:endParaRPr lang="en-US" sz="13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b="1" dirty="0">
                          <a:solidFill>
                            <a:srgbClr val="15803D"/>
                          </a:solidFill>
                        </a:rPr>
                        <a:t>0.048447</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15803D"/>
                          </a:solidFill>
                        </a:rPr>
                        <a:t>Pass</a:t>
                      </a:r>
                      <a:endParaRPr lang="en-US" sz="13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100" dirty="0">
                          <a:solidFill>
                            <a:srgbClr val="475569"/>
                          </a:solidFill>
                        </a:rPr>
                        <a:t>Test RMSE: 0.048447</a:t>
                      </a:r>
                      <a:endParaRPr lang="en-US" sz="1100" dirty="0"/>
                    </a:p>
                  </a:txBody>
                  <a:tcPr>
                    <a:lnL w="12700" cap="flat" cmpd="sng" algn="ctr">
                      <a:solidFill>
                        <a:srgbClr val="CBD5E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lgn="ctr">
                        <a:buNone/>
                      </a:pPr>
                      <a:r>
                        <a:rPr lang="en-US" sz="1300" b="1" dirty="0">
                          <a:solidFill>
                            <a:srgbClr val="1E293B"/>
                          </a:solidFill>
                        </a:rPr>
                        <a:t>Training Time</a:t>
                      </a:r>
                      <a:endParaRPr lang="en-US" sz="1300" dirty="0"/>
                    </a:p>
                  </a:txBody>
                  <a:tcPr>
                    <a:lnL w="12700" cap="flat" cmpd="sng" algn="ctr">
                      <a:solidFill>
                        <a:schemeClr val="tx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94A3B8"/>
                          </a:solidFill>
                        </a:rPr>
                        <a:t>—</a:t>
                      </a:r>
                      <a:endParaRPr lang="en-US" sz="13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1D4ED8"/>
                          </a:solidFill>
                        </a:rPr>
                        <a:t>~20 s on CPU</a:t>
                      </a:r>
                      <a:endParaRPr lang="en-US" sz="1200" dirty="0"/>
                    </a:p>
                    <a:p>
                      <a:pPr marL="0" indent="0" algn="ctr">
                        <a:buNone/>
                      </a:pPr>
                      <a:r>
                        <a:rPr lang="en-US" sz="1200" dirty="0">
                          <a:solidFill>
                            <a:srgbClr val="1D4ED8"/>
                          </a:solidFill>
                        </a:rPr>
                        <a:t>~10 sec (GPU)</a:t>
                      </a:r>
                      <a:endParaRPr lang="en-US" sz="12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94A3B8"/>
                          </a:solidFill>
                        </a:rPr>
                        <a:t>—</a:t>
                      </a:r>
                      <a:endParaRPr lang="en-US" sz="13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buNone/>
                      </a:pPr>
                      <a:r>
                        <a:rPr lang="en-US" sz="1100" dirty="0">
                          <a:solidFill>
                            <a:srgbClr val="475569"/>
                          </a:solidFill>
                        </a:rPr>
                        <a:t>Fast GPU inference</a:t>
                      </a:r>
                      <a:endParaRPr lang="en-US" sz="1100" dirty="0"/>
                    </a:p>
                  </a:txBody>
                  <a:tcPr>
                    <a:lnL w="12700" cap="flat" cmpd="sng" algn="ctr">
                      <a:solidFill>
                        <a:srgbClr val="CBD5E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7" name="Text 1">
            <a:extLst>
              <a:ext uri="{FF2B5EF4-FFF2-40B4-BE49-F238E27FC236}">
                <a16:creationId xmlns:a16="http://schemas.microsoft.com/office/drawing/2014/main" id="{92E1120C-6C01-B7D9-AFD5-D1A895C18336}"/>
              </a:ext>
            </a:extLst>
          </p:cNvPr>
          <p:cNvSpPr/>
          <p:nvPr/>
        </p:nvSpPr>
        <p:spPr>
          <a:xfrm>
            <a:off x="457200" y="5029200"/>
            <a:ext cx="8229600" cy="320040"/>
          </a:xfrm>
          <a:prstGeom prst="rect">
            <a:avLst/>
          </a:prstGeom>
          <a:noFill/>
          <a:ln/>
        </p:spPr>
        <p:txBody>
          <a:bodyPr wrap="square" rtlCol="0" anchor="ctr"/>
          <a:lstStyle/>
          <a:p>
            <a:pPr marL="0" indent="0" algn="ctr">
              <a:buNone/>
            </a:pPr>
            <a:r>
              <a:rPr lang="en-US" sz="1300" b="1" dirty="0">
                <a:solidFill>
                  <a:srgbClr val="94A3B8"/>
                </a:solidFill>
                <a:latin typeface="Calibri" pitchFamily="34" charset="0"/>
                <a:ea typeface="Calibri" pitchFamily="34" charset="-122"/>
                <a:cs typeface="Calibri" pitchFamily="34" charset="-120"/>
              </a:rPr>
              <a:t>Model Quality Assessment</a:t>
            </a:r>
            <a:endParaRPr lang="en-US" sz="1300" dirty="0"/>
          </a:p>
        </p:txBody>
      </p:sp>
      <p:sp>
        <p:nvSpPr>
          <p:cNvPr id="8" name="Shape 2">
            <a:extLst>
              <a:ext uri="{FF2B5EF4-FFF2-40B4-BE49-F238E27FC236}">
                <a16:creationId xmlns:a16="http://schemas.microsoft.com/office/drawing/2014/main" id="{73DA63C5-9B6A-35C8-D6D4-0C3EA8A66C1D}"/>
              </a:ext>
            </a:extLst>
          </p:cNvPr>
          <p:cNvSpPr/>
          <p:nvPr/>
        </p:nvSpPr>
        <p:spPr>
          <a:xfrm>
            <a:off x="914400" y="5394960"/>
            <a:ext cx="2286000" cy="347472"/>
          </a:xfrm>
          <a:prstGeom prst="roundRect">
            <a:avLst>
              <a:gd name="adj" fmla="val 21053"/>
            </a:avLst>
          </a:prstGeom>
          <a:solidFill>
            <a:srgbClr val="DCFCE7"/>
          </a:solidFill>
          <a:ln w="12700">
            <a:solidFill>
              <a:srgbClr val="15803D"/>
            </a:solidFill>
            <a:prstDash val="solid"/>
          </a:ln>
        </p:spPr>
      </p:sp>
      <p:sp>
        <p:nvSpPr>
          <p:cNvPr id="9" name="Text 3">
            <a:extLst>
              <a:ext uri="{FF2B5EF4-FFF2-40B4-BE49-F238E27FC236}">
                <a16:creationId xmlns:a16="http://schemas.microsoft.com/office/drawing/2014/main" id="{4326C6AF-EAAE-4F8B-4212-727035EF5721}"/>
              </a:ext>
            </a:extLst>
          </p:cNvPr>
          <p:cNvSpPr/>
          <p:nvPr/>
        </p:nvSpPr>
        <p:spPr>
          <a:xfrm>
            <a:off x="914400" y="5394960"/>
            <a:ext cx="2286000" cy="347472"/>
          </a:xfrm>
          <a:prstGeom prst="rect">
            <a:avLst/>
          </a:prstGeom>
          <a:noFill/>
          <a:ln/>
        </p:spPr>
        <p:txBody>
          <a:bodyPr wrap="square" lIns="0" tIns="0" rIns="0" bIns="0" rtlCol="0" anchor="ctr"/>
          <a:lstStyle/>
          <a:p>
            <a:pPr marL="0" indent="0" algn="ctr">
              <a:buNone/>
            </a:pPr>
            <a:r>
              <a:rPr lang="en-US" sz="1050" b="1" dirty="0">
                <a:solidFill>
                  <a:srgbClr val="15803D"/>
                </a:solidFill>
                <a:latin typeface="Calibri" pitchFamily="34" charset="0"/>
                <a:ea typeface="Calibri" pitchFamily="34" charset="-122"/>
                <a:cs typeface="Calibri" pitchFamily="34" charset="-120"/>
              </a:rPr>
              <a:t>Stable convergence on small noisy data</a:t>
            </a:r>
            <a:endParaRPr lang="en-US" sz="1050" dirty="0"/>
          </a:p>
        </p:txBody>
      </p:sp>
      <p:sp>
        <p:nvSpPr>
          <p:cNvPr id="10" name="Shape 4">
            <a:extLst>
              <a:ext uri="{FF2B5EF4-FFF2-40B4-BE49-F238E27FC236}">
                <a16:creationId xmlns:a16="http://schemas.microsoft.com/office/drawing/2014/main" id="{34CABB14-4581-93AE-419A-2D51BCB19C42}"/>
              </a:ext>
            </a:extLst>
          </p:cNvPr>
          <p:cNvSpPr/>
          <p:nvPr/>
        </p:nvSpPr>
        <p:spPr>
          <a:xfrm>
            <a:off x="3520440" y="5394960"/>
            <a:ext cx="2286000" cy="347472"/>
          </a:xfrm>
          <a:prstGeom prst="roundRect">
            <a:avLst>
              <a:gd name="adj" fmla="val 21053"/>
            </a:avLst>
          </a:prstGeom>
          <a:solidFill>
            <a:srgbClr val="DBEAFE"/>
          </a:solidFill>
          <a:ln w="12700">
            <a:solidFill>
              <a:srgbClr val="1D4ED8"/>
            </a:solidFill>
            <a:prstDash val="solid"/>
          </a:ln>
        </p:spPr>
      </p:sp>
      <p:sp>
        <p:nvSpPr>
          <p:cNvPr id="11" name="Text 5">
            <a:extLst>
              <a:ext uri="{FF2B5EF4-FFF2-40B4-BE49-F238E27FC236}">
                <a16:creationId xmlns:a16="http://schemas.microsoft.com/office/drawing/2014/main" id="{FB3B9E9A-2CA3-5B25-CD69-298BC8C19CD2}"/>
              </a:ext>
            </a:extLst>
          </p:cNvPr>
          <p:cNvSpPr/>
          <p:nvPr/>
        </p:nvSpPr>
        <p:spPr>
          <a:xfrm>
            <a:off x="3520440" y="5394960"/>
            <a:ext cx="2286000" cy="347472"/>
          </a:xfrm>
          <a:prstGeom prst="rect">
            <a:avLst/>
          </a:prstGeom>
          <a:noFill/>
          <a:ln/>
        </p:spPr>
        <p:txBody>
          <a:bodyPr wrap="square" lIns="0" tIns="0" rIns="0" bIns="0" rtlCol="0" anchor="ctr"/>
          <a:lstStyle/>
          <a:p>
            <a:pPr marL="0" indent="0" algn="ctr">
              <a:buNone/>
            </a:pPr>
            <a:r>
              <a:rPr lang="en-US" sz="1050" b="1" dirty="0">
                <a:solidFill>
                  <a:srgbClr val="1D4ED8"/>
                </a:solidFill>
                <a:latin typeface="Calibri" pitchFamily="34" charset="0"/>
                <a:ea typeface="Calibri" pitchFamily="34" charset="-122"/>
                <a:cs typeface="Calibri" pitchFamily="34" charset="-120"/>
              </a:rPr>
              <a:t>Good fit, some range compression at extremes</a:t>
            </a:r>
            <a:endParaRPr lang="en-US" sz="1050" dirty="0"/>
          </a:p>
        </p:txBody>
      </p:sp>
      <p:sp>
        <p:nvSpPr>
          <p:cNvPr id="12" name="Shape 6">
            <a:extLst>
              <a:ext uri="{FF2B5EF4-FFF2-40B4-BE49-F238E27FC236}">
                <a16:creationId xmlns:a16="http://schemas.microsoft.com/office/drawing/2014/main" id="{A1D72464-49F9-4161-974A-3602A610990C}"/>
              </a:ext>
            </a:extLst>
          </p:cNvPr>
          <p:cNvSpPr/>
          <p:nvPr/>
        </p:nvSpPr>
        <p:spPr>
          <a:xfrm>
            <a:off x="6126480" y="5394960"/>
            <a:ext cx="2286000" cy="347472"/>
          </a:xfrm>
          <a:prstGeom prst="roundRect">
            <a:avLst>
              <a:gd name="adj" fmla="val 21053"/>
            </a:avLst>
          </a:prstGeom>
          <a:solidFill>
            <a:srgbClr val="EDE9FE"/>
          </a:solidFill>
          <a:ln w="12700">
            <a:solidFill>
              <a:srgbClr val="7C3AED"/>
            </a:solidFill>
            <a:prstDash val="solid"/>
          </a:ln>
        </p:spPr>
      </p:sp>
      <p:sp>
        <p:nvSpPr>
          <p:cNvPr id="13" name="Text 7">
            <a:extLst>
              <a:ext uri="{FF2B5EF4-FFF2-40B4-BE49-F238E27FC236}">
                <a16:creationId xmlns:a16="http://schemas.microsoft.com/office/drawing/2014/main" id="{BC5A7352-B41D-D64D-F6DD-F16323411F87}"/>
              </a:ext>
            </a:extLst>
          </p:cNvPr>
          <p:cNvSpPr/>
          <p:nvPr/>
        </p:nvSpPr>
        <p:spPr>
          <a:xfrm>
            <a:off x="6126480" y="5394960"/>
            <a:ext cx="2286000" cy="347472"/>
          </a:xfrm>
          <a:prstGeom prst="rect">
            <a:avLst/>
          </a:prstGeom>
          <a:noFill/>
          <a:ln/>
        </p:spPr>
        <p:txBody>
          <a:bodyPr wrap="square" lIns="0" tIns="0" rIns="0" bIns="0" rtlCol="0" anchor="ctr"/>
          <a:lstStyle/>
          <a:p>
            <a:pPr marL="0" indent="0" algn="ctr">
              <a:buNone/>
            </a:pPr>
            <a:r>
              <a:rPr lang="en-US" sz="1050" b="1" dirty="0">
                <a:solidFill>
                  <a:srgbClr val="7C3AED"/>
                </a:solidFill>
                <a:latin typeface="Calibri" pitchFamily="34" charset="0"/>
                <a:ea typeface="Calibri" pitchFamily="34" charset="-122"/>
                <a:cs typeface="Calibri" pitchFamily="34" charset="-120"/>
              </a:rPr>
              <a:t>Test MSE: 0.002347</a:t>
            </a:r>
            <a:endParaRPr lang="en-US" sz="1050" dirty="0"/>
          </a:p>
        </p:txBody>
      </p:sp>
    </p:spTree>
    <p:extLst>
      <p:ext uri="{BB962C8B-B14F-4D97-AF65-F5344CB8AC3E}">
        <p14:creationId xmlns:p14="http://schemas.microsoft.com/office/powerpoint/2010/main" val="754276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6B65D-368B-5709-94DF-A157CAB296B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EE10E6-CAA8-8BDD-B2A0-46C737347776}"/>
              </a:ext>
            </a:extLst>
          </p:cNvPr>
          <p:cNvSpPr>
            <a:spLocks noGrp="1"/>
          </p:cNvSpPr>
          <p:nvPr>
            <p:ph type="sldNum" sz="quarter" idx="10"/>
          </p:nvPr>
        </p:nvSpPr>
        <p:spPr/>
        <p:txBody>
          <a:bodyPr/>
          <a:lstStyle/>
          <a:p>
            <a:pPr>
              <a:defRPr/>
            </a:pPr>
            <a:fld id="{ADF2A186-A842-EB41-93F8-9926F66DBD04}" type="slidenum">
              <a:rPr lang="en-US" smtClean="0"/>
              <a:pPr>
                <a:defRPr/>
              </a:pPr>
              <a:t>9</a:t>
            </a:fld>
            <a:endParaRPr lang="en-US" dirty="0"/>
          </a:p>
        </p:txBody>
      </p:sp>
      <p:sp>
        <p:nvSpPr>
          <p:cNvPr id="3" name="TextBox 2">
            <a:extLst>
              <a:ext uri="{FF2B5EF4-FFF2-40B4-BE49-F238E27FC236}">
                <a16:creationId xmlns:a16="http://schemas.microsoft.com/office/drawing/2014/main" id="{CE2896E4-9822-3973-8152-6F5AFFE7309C}"/>
              </a:ext>
            </a:extLst>
          </p:cNvPr>
          <p:cNvSpPr txBox="1"/>
          <p:nvPr/>
        </p:nvSpPr>
        <p:spPr>
          <a:xfrm>
            <a:off x="2209800" y="58271"/>
            <a:ext cx="3389069" cy="523220"/>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Training Visualization</a:t>
            </a:r>
          </a:p>
        </p:txBody>
      </p:sp>
      <p:pic>
        <p:nvPicPr>
          <p:cNvPr id="6" name="Picture 5">
            <a:extLst>
              <a:ext uri="{FF2B5EF4-FFF2-40B4-BE49-F238E27FC236}">
                <a16:creationId xmlns:a16="http://schemas.microsoft.com/office/drawing/2014/main" id="{5E3044CF-0415-C33E-06CA-CB4564F1D762}"/>
              </a:ext>
            </a:extLst>
          </p:cNvPr>
          <p:cNvPicPr>
            <a:picLocks noChangeAspect="1"/>
          </p:cNvPicPr>
          <p:nvPr/>
        </p:nvPicPr>
        <p:blipFill>
          <a:blip r:embed="rId3"/>
          <a:stretch>
            <a:fillRect/>
          </a:stretch>
        </p:blipFill>
        <p:spPr>
          <a:xfrm>
            <a:off x="241747" y="639763"/>
            <a:ext cx="8660505" cy="6159966"/>
          </a:xfrm>
          <a:prstGeom prst="rect">
            <a:avLst/>
          </a:prstGeom>
        </p:spPr>
      </p:pic>
    </p:spTree>
    <p:extLst>
      <p:ext uri="{BB962C8B-B14F-4D97-AF65-F5344CB8AC3E}">
        <p14:creationId xmlns:p14="http://schemas.microsoft.com/office/powerpoint/2010/main" val="294058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70312-3597-40BB-7816-EE3DE3F20D8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4A9FB6-A116-CC82-EB90-5F8B7468E1F7}"/>
              </a:ext>
            </a:extLst>
          </p:cNvPr>
          <p:cNvSpPr>
            <a:spLocks noGrp="1"/>
          </p:cNvSpPr>
          <p:nvPr>
            <p:ph type="sldNum" sz="quarter" idx="10"/>
          </p:nvPr>
        </p:nvSpPr>
        <p:spPr/>
        <p:txBody>
          <a:bodyPr/>
          <a:lstStyle/>
          <a:p>
            <a:pPr>
              <a:defRPr/>
            </a:pPr>
            <a:fld id="{ADF2A186-A842-EB41-93F8-9926F66DBD04}" type="slidenum">
              <a:rPr lang="en-US" smtClean="0"/>
              <a:pPr>
                <a:defRPr/>
              </a:pPr>
              <a:t>10</a:t>
            </a:fld>
            <a:endParaRPr lang="en-US" dirty="0"/>
          </a:p>
        </p:txBody>
      </p:sp>
      <p:sp>
        <p:nvSpPr>
          <p:cNvPr id="3" name="TextBox 2">
            <a:extLst>
              <a:ext uri="{FF2B5EF4-FFF2-40B4-BE49-F238E27FC236}">
                <a16:creationId xmlns:a16="http://schemas.microsoft.com/office/drawing/2014/main" id="{9369FCA5-9EE9-0C00-D6D2-2E569BA24E7A}"/>
              </a:ext>
            </a:extLst>
          </p:cNvPr>
          <p:cNvSpPr txBox="1"/>
          <p:nvPr/>
        </p:nvSpPr>
        <p:spPr>
          <a:xfrm>
            <a:off x="2209800" y="58271"/>
            <a:ext cx="3919535" cy="523220"/>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What the Model Learned</a:t>
            </a:r>
          </a:p>
        </p:txBody>
      </p:sp>
      <p:sp>
        <p:nvSpPr>
          <p:cNvPr id="5" name="TextBox 4">
            <a:extLst>
              <a:ext uri="{FF2B5EF4-FFF2-40B4-BE49-F238E27FC236}">
                <a16:creationId xmlns:a16="http://schemas.microsoft.com/office/drawing/2014/main" id="{69EA842D-FEBB-1491-4931-2D6AFAFC12D8}"/>
              </a:ext>
            </a:extLst>
          </p:cNvPr>
          <p:cNvSpPr txBox="1"/>
          <p:nvPr/>
        </p:nvSpPr>
        <p:spPr>
          <a:xfrm>
            <a:off x="228600" y="914400"/>
            <a:ext cx="6096000" cy="5786199"/>
          </a:xfrm>
          <a:prstGeom prst="rect">
            <a:avLst/>
          </a:prstGeom>
          <a:noFill/>
        </p:spPr>
        <p:txBody>
          <a:bodyPr wrap="square">
            <a:spAutoFit/>
          </a:bodyPr>
          <a:lstStyle/>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1. Message Passing:</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The model captures the main stability trend from graph structure and bond quality</a:t>
            </a:r>
          </a:p>
          <a:p>
            <a:pPr>
              <a:spcBef>
                <a:spcPts val="1080"/>
              </a:spcBef>
              <a:spcAft>
                <a:spcPts val="0"/>
              </a:spcAft>
              <a:defRPr sz="2000">
                <a:solidFill>
                  <a:srgbClr val="333333"/>
                </a:solidFill>
              </a:defRPr>
            </a:pPr>
            <a:endParaRPr lang="en-US" dirty="0">
              <a:latin typeface="Calibri" panose="020F0502020204030204" pitchFamily="34" charset="0"/>
              <a:ea typeface="Calibri" panose="020F0502020204030204" pitchFamily="34" charset="0"/>
              <a:cs typeface="Calibri" panose="020F0502020204030204" pitchFamily="34" charset="0"/>
            </a:endParaRP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2. Prediction Range:</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Predictions are strongest in the mid-range</a:t>
            </a:r>
          </a:p>
          <a:p>
            <a:pPr>
              <a:spcBef>
                <a:spcPts val="1080"/>
              </a:spcBef>
              <a:spcAft>
                <a:spcPts val="0"/>
              </a:spcAft>
              <a:defRPr sz="2000">
                <a:solidFill>
                  <a:srgbClr val="333333"/>
                </a:solidFill>
              </a:defRPr>
            </a:pPr>
            <a:endParaRPr lang="en-US" dirty="0">
              <a:latin typeface="Calibri" panose="020F0502020204030204" pitchFamily="34" charset="0"/>
              <a:ea typeface="Calibri" panose="020F0502020204030204" pitchFamily="34" charset="0"/>
              <a:cs typeface="Calibri" panose="020F0502020204030204" pitchFamily="34" charset="0"/>
            </a:endParaRP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3. Remaining Limitations:</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Model still underpredicts some high-stability samples and overpredicts the lowest-stability sample</a:t>
            </a:r>
          </a:p>
          <a:p>
            <a:pPr>
              <a:spcBef>
                <a:spcPts val="1080"/>
              </a:spcBef>
              <a:spcAft>
                <a:spcPts val="0"/>
              </a:spcAft>
              <a:defRPr sz="2000">
                <a:solidFill>
                  <a:srgbClr val="333333"/>
                </a:solidFill>
              </a:defRPr>
            </a:pPr>
            <a:endParaRPr lang="en-US" dirty="0">
              <a:latin typeface="Calibri" panose="020F0502020204030204" pitchFamily="34" charset="0"/>
              <a:ea typeface="Calibri" panose="020F0502020204030204" pitchFamily="34" charset="0"/>
              <a:cs typeface="Calibri" panose="020F0502020204030204" pitchFamily="34" charset="0"/>
            </a:endParaRP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4. Key Takeaway:</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This shows why scatter plots are necessary alongside scalar metrics</a:t>
            </a:r>
          </a:p>
        </p:txBody>
      </p:sp>
    </p:spTree>
    <p:extLst>
      <p:ext uri="{BB962C8B-B14F-4D97-AF65-F5344CB8AC3E}">
        <p14:creationId xmlns:p14="http://schemas.microsoft.com/office/powerpoint/2010/main" val="350614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3E020-E11F-30CA-9FF9-1F828335180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F19A86-0F9B-1C72-B03B-D5E3B56DD122}"/>
              </a:ext>
            </a:extLst>
          </p:cNvPr>
          <p:cNvSpPr>
            <a:spLocks noGrp="1"/>
          </p:cNvSpPr>
          <p:nvPr>
            <p:ph type="sldNum" sz="quarter" idx="10"/>
          </p:nvPr>
        </p:nvSpPr>
        <p:spPr/>
        <p:txBody>
          <a:bodyPr/>
          <a:lstStyle/>
          <a:p>
            <a:pPr>
              <a:defRPr/>
            </a:pPr>
            <a:fld id="{ADF2A186-A842-EB41-93F8-9926F66DBD04}" type="slidenum">
              <a:rPr lang="en-US" smtClean="0"/>
              <a:pPr>
                <a:defRPr/>
              </a:pPr>
              <a:t>11</a:t>
            </a:fld>
            <a:endParaRPr lang="en-US" dirty="0"/>
          </a:p>
        </p:txBody>
      </p:sp>
      <p:sp>
        <p:nvSpPr>
          <p:cNvPr id="3" name="TextBox 2">
            <a:extLst>
              <a:ext uri="{FF2B5EF4-FFF2-40B4-BE49-F238E27FC236}">
                <a16:creationId xmlns:a16="http://schemas.microsoft.com/office/drawing/2014/main" id="{C3F2C519-106E-FE53-5186-C9B91885172C}"/>
              </a:ext>
            </a:extLst>
          </p:cNvPr>
          <p:cNvSpPr txBox="1"/>
          <p:nvPr/>
        </p:nvSpPr>
        <p:spPr>
          <a:xfrm>
            <a:off x="2209800" y="58271"/>
            <a:ext cx="3705438" cy="523220"/>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Connection to Research</a:t>
            </a:r>
          </a:p>
        </p:txBody>
      </p:sp>
      <p:sp>
        <p:nvSpPr>
          <p:cNvPr id="5" name="TextBox 4">
            <a:extLst>
              <a:ext uri="{FF2B5EF4-FFF2-40B4-BE49-F238E27FC236}">
                <a16:creationId xmlns:a16="http://schemas.microsoft.com/office/drawing/2014/main" id="{E9E550AF-C60E-6CEC-F216-56DAC5B98D61}"/>
              </a:ext>
            </a:extLst>
          </p:cNvPr>
          <p:cNvSpPr txBox="1"/>
          <p:nvPr/>
        </p:nvSpPr>
        <p:spPr>
          <a:xfrm>
            <a:off x="152400" y="762000"/>
            <a:ext cx="6629400" cy="4888518"/>
          </a:xfrm>
          <a:prstGeom prst="rect">
            <a:avLst/>
          </a:prstGeom>
          <a:noFill/>
        </p:spPr>
        <p:txBody>
          <a:bodyPr wrap="square">
            <a:spAutoFit/>
          </a:bodyPr>
          <a:lstStyle/>
          <a:p>
            <a:pPr>
              <a:spcBef>
                <a:spcPts val="1080"/>
              </a:spcBef>
              <a:spcAft>
                <a:spcPts val="0"/>
              </a:spcAft>
              <a:defRPr sz="2000">
                <a:solidFill>
                  <a:srgbClr val="333333"/>
                </a:solidFill>
              </a:defRPr>
            </a:pPr>
            <a:r>
              <a:rPr lang="en-US" b="1" dirty="0">
                <a:latin typeface="Calibri" panose="020F0502020204030204" pitchFamily="34" charset="0"/>
                <a:ea typeface="Calibri" panose="020F0502020204030204" pitchFamily="34" charset="0"/>
                <a:cs typeface="Calibri" panose="020F0502020204030204" pitchFamily="34" charset="0"/>
              </a:rPr>
              <a:t>Mock Project Characteristics:</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 Synthetic cubic lattices</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 Random atom types</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 Arbitrary stability labels</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 100 samples</a:t>
            </a:r>
          </a:p>
          <a:p>
            <a:pPr>
              <a:spcBef>
                <a:spcPts val="1080"/>
              </a:spcBef>
              <a:spcAft>
                <a:spcPts val="0"/>
              </a:spcAft>
              <a:defRPr sz="2000">
                <a:solidFill>
                  <a:srgbClr val="333333"/>
                </a:solidFill>
              </a:defRPr>
            </a:pPr>
            <a:endParaRPr lang="en-US" dirty="0">
              <a:latin typeface="Calibri" panose="020F0502020204030204" pitchFamily="34" charset="0"/>
              <a:ea typeface="Calibri" panose="020F0502020204030204" pitchFamily="34" charset="0"/>
              <a:cs typeface="Calibri" panose="020F0502020204030204" pitchFamily="34" charset="0"/>
            </a:endParaRPr>
          </a:p>
          <a:p>
            <a:pPr>
              <a:spcBef>
                <a:spcPts val="1080"/>
              </a:spcBef>
              <a:spcAft>
                <a:spcPts val="0"/>
              </a:spcAft>
              <a:defRPr sz="2000">
                <a:solidFill>
                  <a:srgbClr val="333333"/>
                </a:solidFill>
              </a:defRPr>
            </a:pPr>
            <a:r>
              <a:rPr lang="en-US" b="1" dirty="0">
                <a:latin typeface="Calibri" panose="020F0502020204030204" pitchFamily="34" charset="0"/>
                <a:ea typeface="Calibri" panose="020F0502020204030204" pitchFamily="34" charset="0"/>
                <a:cs typeface="Calibri" panose="020F0502020204030204" pitchFamily="34" charset="0"/>
              </a:rPr>
              <a:t>Real Project Characteristics:</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 Real crystal structures (ICSD, Materials Project)</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 DFT-computed properties</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 Actual material strength measurements</a:t>
            </a:r>
          </a:p>
          <a:p>
            <a:pPr>
              <a:spcBef>
                <a:spcPts val="1080"/>
              </a:spcBef>
              <a:spcAft>
                <a:spcPts val="0"/>
              </a:spcAft>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   • Thousands of samples</a:t>
            </a:r>
          </a:p>
        </p:txBody>
      </p:sp>
    </p:spTree>
    <p:extLst>
      <p:ext uri="{BB962C8B-B14F-4D97-AF65-F5344CB8AC3E}">
        <p14:creationId xmlns:p14="http://schemas.microsoft.com/office/powerpoint/2010/main" val="2095827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FA08D-C97D-F346-710E-C552CDB575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6450D5-0A74-DFBE-54A0-0498C26A112B}"/>
              </a:ext>
            </a:extLst>
          </p:cNvPr>
          <p:cNvSpPr>
            <a:spLocks noGrp="1"/>
          </p:cNvSpPr>
          <p:nvPr>
            <p:ph type="sldNum" sz="quarter" idx="10"/>
          </p:nvPr>
        </p:nvSpPr>
        <p:spPr/>
        <p:txBody>
          <a:bodyPr/>
          <a:lstStyle/>
          <a:p>
            <a:pPr>
              <a:defRPr/>
            </a:pPr>
            <a:fld id="{ADF2A186-A842-EB41-93F8-9926F66DBD04}" type="slidenum">
              <a:rPr lang="en-US" smtClean="0"/>
              <a:pPr>
                <a:defRPr/>
              </a:pPr>
              <a:t>12</a:t>
            </a:fld>
            <a:endParaRPr lang="en-US" dirty="0"/>
          </a:p>
        </p:txBody>
      </p:sp>
      <p:sp>
        <p:nvSpPr>
          <p:cNvPr id="3" name="TextBox 2">
            <a:extLst>
              <a:ext uri="{FF2B5EF4-FFF2-40B4-BE49-F238E27FC236}">
                <a16:creationId xmlns:a16="http://schemas.microsoft.com/office/drawing/2014/main" id="{C35E2758-ADFF-8A23-CB25-DB9C26C9D965}"/>
              </a:ext>
            </a:extLst>
          </p:cNvPr>
          <p:cNvSpPr txBox="1"/>
          <p:nvPr/>
        </p:nvSpPr>
        <p:spPr>
          <a:xfrm>
            <a:off x="2209800" y="58271"/>
            <a:ext cx="1774332" cy="523220"/>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Next Steps</a:t>
            </a:r>
          </a:p>
        </p:txBody>
      </p:sp>
      <p:sp>
        <p:nvSpPr>
          <p:cNvPr id="5" name="TextBox 4">
            <a:extLst>
              <a:ext uri="{FF2B5EF4-FFF2-40B4-BE49-F238E27FC236}">
                <a16:creationId xmlns:a16="http://schemas.microsoft.com/office/drawing/2014/main" id="{AA9DD7E5-B024-9FA7-CE83-5AC5E075516F}"/>
              </a:ext>
            </a:extLst>
          </p:cNvPr>
          <p:cNvSpPr txBox="1"/>
          <p:nvPr/>
        </p:nvSpPr>
        <p:spPr>
          <a:xfrm>
            <a:off x="277566" y="990600"/>
            <a:ext cx="5638800" cy="1913344"/>
          </a:xfrm>
          <a:prstGeom prst="rect">
            <a:avLst/>
          </a:prstGeom>
          <a:noFill/>
        </p:spPr>
        <p:txBody>
          <a:bodyPr wrap="square">
            <a:spAutoFit/>
          </a:bodyPr>
          <a:lstStyle/>
          <a:p>
            <a:pPr marL="342900" indent="-342900">
              <a:spcBef>
                <a:spcPts val="1080"/>
              </a:spcBef>
              <a:spcAft>
                <a:spcPts val="0"/>
              </a:spcAft>
              <a:buFont typeface="Arial" panose="020B0604020202020204" pitchFamily="34" charset="0"/>
              <a:buChar char="•"/>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Review and understand the code in legacy codebase (so far)</a:t>
            </a:r>
          </a:p>
          <a:p>
            <a:pPr marL="342900" indent="-342900">
              <a:spcBef>
                <a:spcPts val="1080"/>
              </a:spcBef>
              <a:spcAft>
                <a:spcPts val="0"/>
              </a:spcAft>
              <a:buFont typeface="Arial" panose="020B0604020202020204" pitchFamily="34" charset="0"/>
              <a:buChar char="•"/>
              <a:defRPr sz="2000">
                <a:solidFill>
                  <a:srgbClr val="333333"/>
                </a:solidFill>
              </a:defRPr>
            </a:pPr>
            <a:r>
              <a:rPr lang="en-US" dirty="0">
                <a:latin typeface="Calibri" panose="020F0502020204030204" pitchFamily="34" charset="0"/>
                <a:ea typeface="Calibri" panose="020F0502020204030204" pitchFamily="34" charset="0"/>
                <a:cs typeface="Calibri" panose="020F0502020204030204" pitchFamily="34" charset="0"/>
              </a:rPr>
              <a:t>Try generating different lattice types with random asperities in Abaqus</a:t>
            </a:r>
          </a:p>
          <a:p>
            <a:pPr marL="342900" indent="-342900">
              <a:spcBef>
                <a:spcPts val="1080"/>
              </a:spcBef>
              <a:spcAft>
                <a:spcPts val="0"/>
              </a:spcAft>
              <a:buFont typeface="Arial" panose="020B0604020202020204" pitchFamily="34" charset="0"/>
              <a:buChar char="•"/>
              <a:defRPr sz="2000">
                <a:solidFill>
                  <a:srgbClr val="333333"/>
                </a:solidFill>
              </a:defRPr>
            </a:pP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54924307"/>
      </p:ext>
    </p:extLst>
  </p:cSld>
  <p:clrMapOvr>
    <a:masterClrMapping/>
  </p:clrMapOvr>
</p:sld>
</file>

<file path=ppt/theme/theme1.xml><?xml version="1.0" encoding="utf-8"?>
<a:theme xmlns:a="http://schemas.openxmlformats.org/drawingml/2006/main" name="Body Slides">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Myriad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solidFill>
            <a:schemeClr val="tx1"/>
          </a:solidFill>
        </a:ln>
      </a:spPr>
      <a:bodyPr rtlCol="0" anchor="ctr"/>
      <a:lstStyle>
        <a:defPPr algn="ctr">
          <a:defRPr/>
        </a:defPPr>
      </a:lstStyle>
    </a:spDef>
    <a:lnDef>
      <a:spPr bwMode="auto">
        <a:noFill/>
        <a:ln w="9525" cap="flat" cmpd="sng" algn="ctr">
          <a:solidFill>
            <a:schemeClr val="tx1"/>
          </a:solidFill>
          <a:prstDash val="solid"/>
          <a:round/>
          <a:headEnd type="none" w="med" len="med"/>
          <a:tailEnd type="none" w="med" len="med"/>
        </a:ln>
        <a:effectLst/>
      </a:spPr>
      <a:body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Bmechbpresentation" id="{69F95A6D-80FB-42CF-9430-49B8985042DD}" vid="{8DAACE04-E927-497C-BE7F-C965F736CC2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E759F7608B13A4D86BCC979C54BBCCB" ma:contentTypeVersion="3" ma:contentTypeDescription="Create a new document." ma:contentTypeScope="" ma:versionID="562f52eeba954e953f3dbe994cae5a50">
  <xsd:schema xmlns:xsd="http://www.w3.org/2001/XMLSchema" xmlns:xs="http://www.w3.org/2001/XMLSchema" xmlns:p="http://schemas.microsoft.com/office/2006/metadata/properties" xmlns:ns2="08677264-7440-49ce-928a-9917bd2fc905" targetNamespace="http://schemas.microsoft.com/office/2006/metadata/properties" ma:root="true" ma:fieldsID="cfe0b1e2cc427cbe41c2a2bde47cd0a9" ns2:_="">
    <xsd:import namespace="08677264-7440-49ce-928a-9917bd2fc905"/>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677264-7440-49ce-928a-9917bd2fc9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31EAF09-CD46-4973-8E3F-6CB46C90CA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677264-7440-49ce-928a-9917bd2fc9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74ED9B8-9FE6-4BEC-B456-79D1D6C96D7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6C02176-421E-4469-B6C2-6437A9690DA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reu '26 template</Template>
  <TotalTime>3995</TotalTime>
  <Words>1882</Words>
  <Application>Microsoft Office PowerPoint</Application>
  <PresentationFormat>On-screen Show (4:3)</PresentationFormat>
  <Paragraphs>196</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Myriad Pro</vt:lpstr>
      <vt:lpstr>Body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Adams, Alex</dc:creator>
  <cp:keywords/>
  <dc:description/>
  <cp:lastModifiedBy>Adams, Alex</cp:lastModifiedBy>
  <cp:revision>18</cp:revision>
  <cp:lastPrinted>2016-03-29T19:22:42Z</cp:lastPrinted>
  <dcterms:created xsi:type="dcterms:W3CDTF">2026-05-27T15:51:39Z</dcterms:created>
  <dcterms:modified xsi:type="dcterms:W3CDTF">2026-06-09T15:46:58Z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0x010100CE759F7608B13A4D86BCC979C54BBCCB</vt:lpwstr>
  </property>
</Properties>
</file>