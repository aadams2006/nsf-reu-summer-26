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8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evis Jacobs" initials="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686"/>
    <a:srgbClr val="0F3E7B"/>
    <a:srgbClr val="014F9E"/>
    <a:srgbClr val="FCB61C"/>
    <a:srgbClr val="001F5B"/>
    <a:srgbClr val="A7D2E0"/>
    <a:srgbClr val="0432FF"/>
    <a:srgbClr val="FF0000"/>
    <a:srgbClr val="FF25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5052" autoAdjust="0"/>
  </p:normalViewPr>
  <p:slideViewPr>
    <p:cSldViewPr>
      <p:cViewPr varScale="1">
        <p:scale>
          <a:sx n="99" d="100"/>
          <a:sy n="99" d="100"/>
        </p:scale>
        <p:origin x="931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152"/>
    </p:cViewPr>
  </p:sorterViewPr>
  <p:notesViewPr>
    <p:cSldViewPr>
      <p:cViewPr varScale="1">
        <p:scale>
          <a:sx n="86" d="100"/>
          <a:sy n="86" d="100"/>
        </p:scale>
        <p:origin x="-3042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77948F-8F14-D741-A91D-17DAA1A33C3C}" type="datetime1">
              <a:rPr lang="en-US"/>
              <a:pPr>
                <a:defRPr/>
              </a:pPr>
              <a:t>6/7/2026</a:t>
            </a:fld>
            <a:endParaRPr lang="en-US"/>
          </a:p>
        </p:txBody>
      </p:sp>
      <p:sp>
        <p:nvSpPr>
          <p:cNvPr id="214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9EFBD60-ED00-9F49-9C44-185C37AA92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232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/>
            </a:lvl1pPr>
          </a:lstStyle>
          <a:p>
            <a:pPr>
              <a:defRPr/>
            </a:pPr>
            <a:fld id="{17E32B26-EEC0-9247-A56A-A050A540A0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162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Berkache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et al. (2022) used micropolar continuum theory to derive analytical scaling laws for hexagonal, triangular, and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kagome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lattices.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</a:b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Shaikeea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et al. (2022): fracture in 3D octet-truss metamaterials depends on T-stress AND Kᴵ, not Kᴵ alone. Standard testing protocols developed for continua are fundamentally inadequate.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Fleck, Deshpande &amp; Ashby (2010) show fracture toughness Kᴵᴶ ∝ ρ̄ᵈ via full lattice simulations.</a:t>
            </a:r>
            <a:endParaRPr lang="en-US" b="0" dirty="0">
              <a:effectLst/>
            </a:endParaRP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6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 Features (atom types)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[GCN Layer 1: aggregate 1-hop neighbors]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[GCN Layer 2: aggregate 2-hop neighbors]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[GCN Layer 3: aggregate 3-hop neighbors]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[Global Mean Pooling: graph-level representation]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[MLP Head: 64→32→16→1 dimensions]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Stability Prediction (0-1)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43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model automatically saved during training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15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704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📊 Four Key Plots Generated: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1. Loss Curves: Train vs validation loss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   → Shows convergence and overfitting patterns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2. MAE Progression: Validation mean absolute error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   → Steady decrease indicates learning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3. R² Score: Validation goodness of fit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   → Increases toward 1.0 (excellent fit)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4. Predictions vs Ground Truth: Scatter plot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   → Points near diagonal = accurate predictions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📁 All plots saved to: results/training_results.png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17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concepts, techniques, and pipeline directly transfer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Data Representation: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Graph representation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Node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Edge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Batch 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Model Architecture: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GCN layers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Message passing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Global pooling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MLP head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Training Methodology: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Data splitting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Validation strategy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Early stopping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Hyperparameter tuning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Evaluation: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Multi-metric evaluation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Error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Visualization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Interpretation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02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1 Tit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5DFF146A-4BCE-6F95-2D4C-A6F7B2A0D7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4FB9F8-A929-64F9-8452-DF5F52C12C2C}"/>
              </a:ext>
            </a:extLst>
          </p:cNvPr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D2B8474-1DC1-B492-A83D-2535C61CCD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70A84B-3904-6B95-68EB-E37CE90A15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9C7C03-25AE-60C0-E0C6-14C3DA9A56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5BC5DFF-661D-7A87-98CC-549BC731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19572"/>
            <a:ext cx="6010930" cy="6397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041DF6-60C1-D18C-A84F-4C23DF4CAED5}"/>
              </a:ext>
            </a:extLst>
          </p:cNvPr>
          <p:cNvSpPr/>
          <p:nvPr userDrawn="1"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E6410E-FFA5-6012-8204-8E02583113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29076" cy="975487"/>
          </a:xfrm>
          <a:prstGeom prst="rect">
            <a:avLst/>
          </a:prstGeom>
        </p:spPr>
      </p:pic>
      <p:pic>
        <p:nvPicPr>
          <p:cNvPr id="11" name="Picture 10" descr="University of Pittsburgh, Mechanical Engineering and Materials Science">
            <a:extLst>
              <a:ext uri="{FF2B5EF4-FFF2-40B4-BE49-F238E27FC236}">
                <a16:creationId xmlns:a16="http://schemas.microsoft.com/office/drawing/2014/main" id="{18DF627C-11E2-B857-0B20-57F581D4A1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4000" y="6159660"/>
            <a:ext cx="2311580" cy="707743"/>
          </a:xfrm>
          <a:prstGeom prst="rect">
            <a:avLst/>
          </a:prstGeom>
        </p:spPr>
      </p:pic>
      <p:pic>
        <p:nvPicPr>
          <p:cNvPr id="12" name="Picture 11" descr="NJIT Launches a Campus Chapter of the National Academy of Inventors | David  A. Bader">
            <a:extLst>
              <a:ext uri="{FF2B5EF4-FFF2-40B4-BE49-F238E27FC236}">
                <a16:creationId xmlns:a16="http://schemas.microsoft.com/office/drawing/2014/main" id="{6B28D72E-749C-EBC3-22F6-A19174E6E21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24800" y="6284380"/>
            <a:ext cx="1112280" cy="4583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2 Title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2A186-A842-EB41-93F8-9926F66DBD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317"/>
            <a:ext cx="9144000" cy="64008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Seal 2color 2 line.png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FD572-9420-AD18-8C3B-3529F2BF12E8}"/>
              </a:ext>
            </a:extLst>
          </p:cNvPr>
          <p:cNvSpPr txBox="1"/>
          <p:nvPr userDrawn="1"/>
        </p:nvSpPr>
        <p:spPr>
          <a:xfrm>
            <a:off x="2305373" y="3159641"/>
            <a:ext cx="4610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C9725D-A2D6-16FE-6F5D-47EE05BF27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3E585B-2E8A-DEF3-CD0F-C20D13904D3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89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4">
            <a:extLst>
              <a:ext uri="{FF2B5EF4-FFF2-40B4-BE49-F238E27FC236}">
                <a16:creationId xmlns:a16="http://schemas.microsoft.com/office/drawing/2014/main" id="{EC73BF8B-9074-FEFA-90EF-69C858B96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667000"/>
            <a:ext cx="7086600" cy="1461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3472" tIns="83472" rIns="83472" bIns="83472">
            <a:spAutoFit/>
          </a:bodyPr>
          <a:lstStyle>
            <a:lvl1pPr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1pPr>
            <a:lvl2pPr marL="742950" indent="-28575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2pPr>
            <a:lvl3pPr marL="11430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3pPr>
            <a:lvl4pPr marL="16002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4pPr>
            <a:lvl5pPr marL="20574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5pPr>
            <a:lvl6pPr marL="25146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6pPr>
            <a:lvl7pPr marL="29718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7pPr>
            <a:lvl8pPr marL="34290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8pPr>
            <a:lvl9pPr marL="38862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 dirty="0"/>
              <a:t>Simplified Use-Case of Graph Neural Networks (GNNs) Predicting Synthetic Lattice Stability </a:t>
            </a: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E37CF-52DF-9FCE-ABD6-CA0AF5BD4CA2}"/>
              </a:ext>
            </a:extLst>
          </p:cNvPr>
          <p:cNvSpPr txBox="1"/>
          <p:nvPr/>
        </p:nvSpPr>
        <p:spPr>
          <a:xfrm>
            <a:off x="1333500" y="4442936"/>
            <a:ext cx="6477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050" b="1" dirty="0"/>
              <a:t>Alexander </a:t>
            </a:r>
            <a:r>
              <a:rPr lang="en-US" altLang="en-US" sz="1050" b="1" dirty="0" err="1"/>
              <a:t>Adams</a:t>
            </a:r>
            <a:r>
              <a:rPr lang="en-US" altLang="en-US" sz="1050" b="1" baseline="30000" dirty="0" err="1"/>
              <a:t>a</a:t>
            </a:r>
            <a:r>
              <a:rPr lang="en-US" altLang="en-US" sz="1050" b="1" baseline="30000" dirty="0"/>
              <a:t> </a:t>
            </a:r>
            <a:r>
              <a:rPr lang="en-US" altLang="en-US" sz="1050" b="1" dirty="0"/>
              <a:t>and Dr. Xing </a:t>
            </a:r>
            <a:r>
              <a:rPr lang="en-US" altLang="en-US" sz="1050" b="1" dirty="0" err="1"/>
              <a:t>Liu</a:t>
            </a:r>
            <a:r>
              <a:rPr lang="en-US" altLang="en-US" sz="1050" b="1" baseline="30000" dirty="0" err="1"/>
              <a:t>b</a:t>
            </a:r>
            <a:endParaRPr lang="en-US" altLang="en-US" sz="1050" b="1" dirty="0"/>
          </a:p>
          <a:p>
            <a:pPr algn="ctr"/>
            <a:r>
              <a:rPr lang="en-US" altLang="en-US" sz="1050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a </a:t>
            </a:r>
            <a:r>
              <a:rPr lang="en-US" altLang="en-US" sz="1050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Engineering and Materials Science, University of Pittsburgh, Pittsburgh, PA 15260</a:t>
            </a:r>
          </a:p>
          <a:p>
            <a:pPr algn="ctr"/>
            <a:r>
              <a:rPr lang="en-US" altLang="en-US" sz="1050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b </a:t>
            </a:r>
            <a:r>
              <a:rPr lang="en-US" altLang="en-US" sz="1050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and Industrial Engineering, New Jersey Institute of Technology, Newark, NJ 07102</a:t>
            </a:r>
            <a:endParaRPr lang="en-US"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AD81BF-565F-7FF3-7CB6-6F9B243F885D}"/>
              </a:ext>
            </a:extLst>
          </p:cNvPr>
          <p:cNvSpPr txBox="1"/>
          <p:nvPr/>
        </p:nvSpPr>
        <p:spPr>
          <a:xfrm>
            <a:off x="1333500" y="4128236"/>
            <a:ext cx="6477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sz="1050" b="1" dirty="0"/>
              <a:t>June 9</a:t>
            </a:r>
            <a:r>
              <a:rPr lang="en-US" sz="1050" b="1" baseline="30000" dirty="0"/>
              <a:t>th</a:t>
            </a:r>
            <a:r>
              <a:rPr lang="en-US" sz="1050" b="1" dirty="0"/>
              <a:t> 2026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49509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C37E8E-DC5A-2D7E-941E-9988B75C8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2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ACA65-382A-B590-11F9-3C130CA0629C}"/>
              </a:ext>
            </a:extLst>
          </p:cNvPr>
          <p:cNvSpPr txBox="1"/>
          <p:nvPr/>
        </p:nvSpPr>
        <p:spPr>
          <a:xfrm>
            <a:off x="2209800" y="58271"/>
            <a:ext cx="22060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3721A8-0318-854E-7D19-32D46A7FF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096250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9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2DC3B-C2E2-C492-FB4A-37701EC2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B51052-277A-6507-E8CA-82CE6C23AF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37742-CAC9-13E0-EA25-ED546BD2D344}"/>
              </a:ext>
            </a:extLst>
          </p:cNvPr>
          <p:cNvSpPr txBox="1"/>
          <p:nvPr/>
        </p:nvSpPr>
        <p:spPr>
          <a:xfrm>
            <a:off x="2209800" y="58271"/>
            <a:ext cx="59650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1: Synthetic Data Generation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24D3FD-A2C8-083D-3019-0F5059FD9E2D}"/>
              </a:ext>
            </a:extLst>
          </p:cNvPr>
          <p:cNvSpPr txBox="1"/>
          <p:nvPr/>
        </p:nvSpPr>
        <p:spPr>
          <a:xfrm>
            <a:off x="274864" y="1295400"/>
            <a:ext cx="491748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100 cubic lattice structures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Sizes: 2×2×2 to 4×4×4 atoms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Node features: Atom types (0 or 1)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Edge features: Bond strengths (0.7-1.0)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Stability labels computed from: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Average node degree (connectivity)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Average bond strength (quality)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Graph connectivity (integrity)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</a:t>
            </a:r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noise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Stability labels were computed from average degree, mean bond strength, connectivity, and added noise.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5" name="Picture 24" descr="Types of Unit Cells: Body-Centered Cubic and Face-Centered Cubic (M11Q5) –  UW-Madison Chemistry 103/104 Resource Book">
            <a:extLst>
              <a:ext uri="{FF2B5EF4-FFF2-40B4-BE49-F238E27FC236}">
                <a16:creationId xmlns:a16="http://schemas.microsoft.com/office/drawing/2014/main" id="{9483B281-388E-689A-2277-137A10A08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981528"/>
            <a:ext cx="4338454" cy="289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87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AB187-25D8-EDEA-55EE-C6D36BDF7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D287F1-9157-51AC-F830-3AEF1FB12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58530-D60F-5715-D051-9D7BE7674512}"/>
              </a:ext>
            </a:extLst>
          </p:cNvPr>
          <p:cNvSpPr txBox="1"/>
          <p:nvPr/>
        </p:nvSpPr>
        <p:spPr>
          <a:xfrm>
            <a:off x="2209800" y="58271"/>
            <a:ext cx="35533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Characteristics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559D1C-405F-1E43-91D3-3400344A886E}"/>
              </a:ext>
            </a:extLst>
          </p:cNvPr>
          <p:cNvSpPr txBox="1"/>
          <p:nvPr/>
        </p:nvSpPr>
        <p:spPr>
          <a:xfrm>
            <a:off x="519372" y="1166842"/>
            <a:ext cx="6934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Structure Statistics: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Average nodes per structure: ~33.29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Average edges per structure: ~70.86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Stability range: [0.644, 0.960]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Size counts: 2×2×2: 37, 3×3×3: 27, 4×4×4: 36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Train/Validation/Test Split: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Training: 70 samples (70%)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Validation: 15 samples (15%)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Testing: 15 samples (15%)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Processing: 8 samples per batch</a:t>
            </a:r>
          </a:p>
        </p:txBody>
      </p:sp>
      <p:pic>
        <p:nvPicPr>
          <p:cNvPr id="13" name="Picture 12" descr="Graph in Data Structure | Types &amp; Explanation">
            <a:extLst>
              <a:ext uri="{FF2B5EF4-FFF2-40B4-BE49-F238E27FC236}">
                <a16:creationId xmlns:a16="http://schemas.microsoft.com/office/drawing/2014/main" id="{0FF8F954-47BD-6C7F-40FA-B2F10041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22" t="13966" r="21842" b="26948"/>
          <a:stretch>
            <a:fillRect/>
          </a:stretch>
        </p:blipFill>
        <p:spPr>
          <a:xfrm>
            <a:off x="5181600" y="1166842"/>
            <a:ext cx="2743200" cy="154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14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4817A-EC99-243C-BACC-03066046A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807A47-B4E5-E1E6-6628-A1C6A82693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28B8F8-11F3-1B67-2C9C-316F50FB730E}"/>
              </a:ext>
            </a:extLst>
          </p:cNvPr>
          <p:cNvSpPr txBox="1"/>
          <p:nvPr/>
        </p:nvSpPr>
        <p:spPr>
          <a:xfrm>
            <a:off x="2209800" y="58271"/>
            <a:ext cx="3898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2: GCN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1FE21-E569-AB1E-2ABA-38A41808627C}"/>
              </a:ext>
            </a:extLst>
          </p:cNvPr>
          <p:cNvSpPr txBox="1"/>
          <p:nvPr/>
        </p:nvSpPr>
        <p:spPr>
          <a:xfrm>
            <a:off x="151143" y="990601"/>
            <a:ext cx="4420857" cy="554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Design:</a:t>
            </a:r>
          </a:p>
          <a:p>
            <a:pPr marL="285750" indent="-28575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 features: atom type + normalized degree (2 dims)</a:t>
            </a:r>
          </a:p>
          <a:p>
            <a:pPr marL="285750" indent="-28575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Edge weights: bond strength</a:t>
            </a:r>
          </a:p>
          <a:p>
            <a:pPr marL="285750" indent="-28575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summary features: node count, edge count, avg degree, mean bond strength, connectivity</a:t>
            </a:r>
          </a:p>
          <a:p>
            <a:pPr marL="285750" indent="-28575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GCN layers + global mean pooling + MLP head + direct residual path from graph summary features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Parameters: </a:t>
            </a:r>
          </a:p>
          <a:p>
            <a:pPr marL="285750" indent="-28575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15,463</a:t>
            </a:r>
          </a:p>
        </p:txBody>
      </p:sp>
      <p:pic>
        <p:nvPicPr>
          <p:cNvPr id="6" name="Picture 5" descr="Overview of different architectures of GNN, CNN, GCN, and GAT. | Download  Scientific Diagram">
            <a:extLst>
              <a:ext uri="{FF2B5EF4-FFF2-40B4-BE49-F238E27FC236}">
                <a16:creationId xmlns:a16="http://schemas.microsoft.com/office/drawing/2014/main" id="{FF51F859-CBB5-192F-34EF-712045101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048472"/>
            <a:ext cx="4647321" cy="276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07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F1E32-24C4-FF22-589D-749D8ED9F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8663CF-06A0-E316-A4E6-FADD42733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B90A3-15AD-2846-1EBF-B8F6E0F41CBD}"/>
              </a:ext>
            </a:extLst>
          </p:cNvPr>
          <p:cNvSpPr txBox="1"/>
          <p:nvPr/>
        </p:nvSpPr>
        <p:spPr>
          <a:xfrm>
            <a:off x="2209800" y="58271"/>
            <a:ext cx="2940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GNN Forward Pass</a:t>
            </a:r>
          </a:p>
        </p:txBody>
      </p:sp>
      <p:pic>
        <p:nvPicPr>
          <p:cNvPr id="5" name="Picture 4" descr="Model of a single node's forward pass for the j th layer of the GNN architecture. The output of the previous layer is aggregated over the neighborhood of the target node. The aggregated output is passed into a NN. The output of the NN is the input to the j th layer activation function. The activation function also appends a bias. The activated output serves as an input for the next GNN layer [45].">
            <a:extLst>
              <a:ext uri="{FF2B5EF4-FFF2-40B4-BE49-F238E27FC236}">
                <a16:creationId xmlns:a16="http://schemas.microsoft.com/office/drawing/2014/main" id="{C2325581-0DA4-4B67-06E5-0971E12C2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44" y="1534715"/>
            <a:ext cx="8232111" cy="378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33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07253-F9A6-A481-94C4-FA15A8DA2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03C14E-ECD4-DC36-9D4C-A2501CFCC9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C2971-DFFC-B0F9-C92F-0373C31402AB}"/>
              </a:ext>
            </a:extLst>
          </p:cNvPr>
          <p:cNvSpPr txBox="1"/>
          <p:nvPr/>
        </p:nvSpPr>
        <p:spPr>
          <a:xfrm>
            <a:off x="2209800" y="58271"/>
            <a:ext cx="4113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3: Training the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3D42A-2F72-18DF-70B2-56106972674E}"/>
              </a:ext>
            </a:extLst>
          </p:cNvPr>
          <p:cNvSpPr txBox="1"/>
          <p:nvPr/>
        </p:nvSpPr>
        <p:spPr>
          <a:xfrm>
            <a:off x="152400" y="975359"/>
            <a:ext cx="883920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Optimization Setup: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Optimizer: Adam (learning rate 0.001)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Loss Function: Mean Squared Error (MSE)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Early Stopping: patience = 15 epochs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Max Epochs: 100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→ Best run stopped at epoch 47 via early stopping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Process: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1. Forward pass through batch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2. Compute MSE loss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3. Backward pass (compute gradients)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4. Update weights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5. Validate on validation set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Intro to optimization in deep learning: Momentum, RMSProp and Adam |  DigitalOcean">
            <a:extLst>
              <a:ext uri="{FF2B5EF4-FFF2-40B4-BE49-F238E27FC236}">
                <a16:creationId xmlns:a16="http://schemas.microsoft.com/office/drawing/2014/main" id="{159A5FF4-7EC1-3558-F875-F4C148E36B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16" t="10500" r="10767" b="16002"/>
          <a:stretch>
            <a:fillRect/>
          </a:stretch>
        </p:blipFill>
        <p:spPr>
          <a:xfrm>
            <a:off x="5334000" y="990599"/>
            <a:ext cx="3472542" cy="2209801"/>
          </a:xfrm>
          <a:prstGeom prst="rect">
            <a:avLst/>
          </a:prstGeom>
        </p:spPr>
      </p:pic>
      <p:pic>
        <p:nvPicPr>
          <p:cNvPr id="7" name="Picture 6" descr="optimization - How Adam optimizer influence the learning rate? - Data  Science Stack Exchange">
            <a:extLst>
              <a:ext uri="{FF2B5EF4-FFF2-40B4-BE49-F238E27FC236}">
                <a16:creationId xmlns:a16="http://schemas.microsoft.com/office/drawing/2014/main" id="{834C9BAB-AC9E-1BB2-B117-EBC5EF823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3915918"/>
            <a:ext cx="2819400" cy="19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31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E161F-04DF-F15D-50C7-6CA0E16B0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96284E-C1EE-63E7-EFA3-E71CB34A7F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95AA6-7355-CCA3-7037-2999AF44D6B6}"/>
              </a:ext>
            </a:extLst>
          </p:cNvPr>
          <p:cNvSpPr txBox="1"/>
          <p:nvPr/>
        </p:nvSpPr>
        <p:spPr>
          <a:xfrm>
            <a:off x="2209800" y="58271"/>
            <a:ext cx="4697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4: Results &amp; Performance</a:t>
            </a: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F312D416-3EAA-BFC2-8561-B32E5B7DF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091518"/>
              </p:ext>
            </p:extLst>
          </p:nvPr>
        </p:nvGraphicFramePr>
        <p:xfrm>
          <a:off x="365760" y="1600200"/>
          <a:ext cx="8412480" cy="28346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Achieved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R² Score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</a:rPr>
                        <a:t>0.675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Test R²: 0.675448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MAE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&lt; 0.12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</a:rPr>
                        <a:t>0.037175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Test MAE: 0.037175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RMSE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</a:rPr>
                        <a:t>0.048447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Test RMSE: 0.048447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Training Time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4ED8"/>
                          </a:solidFill>
                        </a:rPr>
                        <a:t>~20 s on CPU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4ED8"/>
                          </a:solidFill>
                        </a:rPr>
                        <a:t>~10 sec (GPU)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Fast GPU inference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1">
            <a:extLst>
              <a:ext uri="{FF2B5EF4-FFF2-40B4-BE49-F238E27FC236}">
                <a16:creationId xmlns:a16="http://schemas.microsoft.com/office/drawing/2014/main" id="{92E1120C-6C01-B7D9-AFD5-D1A895C18336}"/>
              </a:ext>
            </a:extLst>
          </p:cNvPr>
          <p:cNvSpPr/>
          <p:nvPr/>
        </p:nvSpPr>
        <p:spPr>
          <a:xfrm>
            <a:off x="457200" y="5029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 Assessment</a:t>
            </a:r>
            <a:endParaRPr lang="en-US" sz="13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73DA63C5-9B6A-35C8-D6D4-0C3EA8A66C1D}"/>
              </a:ext>
            </a:extLst>
          </p:cNvPr>
          <p:cNvSpPr/>
          <p:nvPr/>
        </p:nvSpPr>
        <p:spPr>
          <a:xfrm>
            <a:off x="914400" y="539496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326C6AF-EAAE-4F8B-4212-727035EF5721}"/>
              </a:ext>
            </a:extLst>
          </p:cNvPr>
          <p:cNvSpPr/>
          <p:nvPr/>
        </p:nvSpPr>
        <p:spPr>
          <a:xfrm>
            <a:off x="914400" y="5394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convergence on small noisy data</a:t>
            </a:r>
            <a:endParaRPr lang="en-US" sz="105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34CABB14-4581-93AE-419A-2D51BCB19C42}"/>
              </a:ext>
            </a:extLst>
          </p:cNvPr>
          <p:cNvSpPr/>
          <p:nvPr/>
        </p:nvSpPr>
        <p:spPr>
          <a:xfrm>
            <a:off x="3520440" y="539496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FB3B9E9A-2CA3-5B25-CD69-298BC8C19CD2}"/>
              </a:ext>
            </a:extLst>
          </p:cNvPr>
          <p:cNvSpPr/>
          <p:nvPr/>
        </p:nvSpPr>
        <p:spPr>
          <a:xfrm>
            <a:off x="3520440" y="5394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fit, some range compression at extremes</a:t>
            </a:r>
            <a:endParaRPr lang="en-US" sz="105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A1D72464-49F9-4161-974A-3602A610990C}"/>
              </a:ext>
            </a:extLst>
          </p:cNvPr>
          <p:cNvSpPr/>
          <p:nvPr/>
        </p:nvSpPr>
        <p:spPr>
          <a:xfrm>
            <a:off x="6126480" y="539496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BC5A7352-B41D-D64D-F6DD-F16323411F87}"/>
              </a:ext>
            </a:extLst>
          </p:cNvPr>
          <p:cNvSpPr/>
          <p:nvPr/>
        </p:nvSpPr>
        <p:spPr>
          <a:xfrm>
            <a:off x="6126480" y="5394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MSE: 0.002347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54276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6B65D-368B-5709-94DF-A157CAB29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EE10E6-CAA8-8BDD-B2A0-46C737347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2896E4-9822-3973-8152-6F5AFFE7309C}"/>
              </a:ext>
            </a:extLst>
          </p:cNvPr>
          <p:cNvSpPr txBox="1"/>
          <p:nvPr/>
        </p:nvSpPr>
        <p:spPr>
          <a:xfrm>
            <a:off x="2209800" y="58271"/>
            <a:ext cx="33890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Visualization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3044CF-0415-C33E-06CA-CB4564F1D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47" y="639763"/>
            <a:ext cx="8660505" cy="615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8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70312-3597-40BB-7816-EE3DE3F20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4A9FB6-A116-CC82-EB90-5F8B7468E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9FCA5-9EE9-0C00-D6D2-2E569BA24E7A}"/>
              </a:ext>
            </a:extLst>
          </p:cNvPr>
          <p:cNvSpPr txBox="1"/>
          <p:nvPr/>
        </p:nvSpPr>
        <p:spPr>
          <a:xfrm>
            <a:off x="2209800" y="58271"/>
            <a:ext cx="39195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the Model Learned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EA842D-FEBB-1491-4931-2D6AFAFC12D8}"/>
              </a:ext>
            </a:extLst>
          </p:cNvPr>
          <p:cNvSpPr txBox="1"/>
          <p:nvPr/>
        </p:nvSpPr>
        <p:spPr>
          <a:xfrm>
            <a:off x="228600" y="914400"/>
            <a:ext cx="609600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Message Passing: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The model captures the main stability trend from graph structure and bond quality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Prediction Range: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Predictions are strongest in the mid-range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Remaining Limitations: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Model still underpredicts some high-stability samples and overpredicts the lowest-stability sample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Key Takeaway: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This shows why scatter plots are necessary alongside scalar metrics</a:t>
            </a:r>
          </a:p>
        </p:txBody>
      </p:sp>
    </p:spTree>
    <p:extLst>
      <p:ext uri="{BB962C8B-B14F-4D97-AF65-F5344CB8AC3E}">
        <p14:creationId xmlns:p14="http://schemas.microsoft.com/office/powerpoint/2010/main" val="350614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3E020-E11F-30CA-9FF9-1F828335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F19A86-0F9B-1C72-B03B-D5E3B56DD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F2C519-106E-FE53-5186-C9B91885172C}"/>
              </a:ext>
            </a:extLst>
          </p:cNvPr>
          <p:cNvSpPr txBox="1"/>
          <p:nvPr/>
        </p:nvSpPr>
        <p:spPr>
          <a:xfrm>
            <a:off x="2209800" y="58271"/>
            <a:ext cx="5080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Connection to NSF-REU Research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550AF-C60E-6CEC-F216-56DAC5B98D61}"/>
              </a:ext>
            </a:extLst>
          </p:cNvPr>
          <p:cNvSpPr txBox="1"/>
          <p:nvPr/>
        </p:nvSpPr>
        <p:spPr>
          <a:xfrm>
            <a:off x="152400" y="762000"/>
            <a:ext cx="662940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Mock Project Characteristics: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Synthetic cubic lattices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Random atom types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Arbitrary stability labels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100 samples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 Project Characteristics: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Real crystal structures (ICSD, Materials Project)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DFT-computed properties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Actual material strength measurements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Thousands of samples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concepts, techniques, and pipeline directly transfer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Lesson for Real REU Workflow: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Architecture-feature alignment matters: the model improved only after explicitly using graph-level structural summaries and edge-weight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2095827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E1648-7D59-355E-A4E1-EC1661487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B220A4-E4E2-5F2D-DEFB-7F7ACA7ED2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D00A56-7DCA-47DB-0328-F4AB413D840B}"/>
              </a:ext>
            </a:extLst>
          </p:cNvPr>
          <p:cNvSpPr txBox="1"/>
          <p:nvPr/>
        </p:nvSpPr>
        <p:spPr>
          <a:xfrm>
            <a:off x="2209800" y="58271"/>
            <a:ext cx="447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Learnings Demonstrated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DC7F9-CB87-41BD-B7F2-D483E08183E4}"/>
              </a:ext>
            </a:extLst>
          </p:cNvPr>
          <p:cNvSpPr txBox="1"/>
          <p:nvPr/>
        </p:nvSpPr>
        <p:spPr>
          <a:xfrm>
            <a:off x="228600" y="762000"/>
            <a:ext cx="4572000" cy="5814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GNN Fundamentals: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Graph representation of materials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Message passing mechanism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Permutation invariance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Skills: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building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Geometric workflows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Training loop design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 Best Practices: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Data pipeline design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Validation strategies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Hyperparameter tuning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Model debugging and calibration analysis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Feature engineering for graph data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Importance of checking prediction scatter, not just MAE/RMSE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 Knowledge: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Materials as graphs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Structure-property relationships</a:t>
            </a:r>
          </a:p>
        </p:txBody>
      </p:sp>
    </p:spTree>
    <p:extLst>
      <p:ext uri="{BB962C8B-B14F-4D97-AF65-F5344CB8AC3E}">
        <p14:creationId xmlns:p14="http://schemas.microsoft.com/office/powerpoint/2010/main" val="3992366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FA08D-C97D-F346-710E-C552CDB57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6450D5-0A74-DFBE-54A0-0498C26A11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E2758-ADFF-8A23-CB25-DB9C26C9D965}"/>
              </a:ext>
            </a:extLst>
          </p:cNvPr>
          <p:cNvSpPr txBox="1"/>
          <p:nvPr/>
        </p:nvSpPr>
        <p:spPr>
          <a:xfrm>
            <a:off x="2209800" y="58271"/>
            <a:ext cx="1774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9DD7E5-B024-9FA7-CE83-5AC5E075516F}"/>
              </a:ext>
            </a:extLst>
          </p:cNvPr>
          <p:cNvSpPr txBox="1"/>
          <p:nvPr/>
        </p:nvSpPr>
        <p:spPr>
          <a:xfrm>
            <a:off x="277566" y="990600"/>
            <a:ext cx="5638800" cy="2669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and understand the code in legacy codebase (so far)</a:t>
            </a:r>
          </a:p>
          <a:p>
            <a:pPr marL="342900" indent="-34290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 with hyperparameters (if access to legacy codebase is given) </a:t>
            </a:r>
          </a:p>
          <a:p>
            <a:pPr marL="342900" indent="-34290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generating different lattice types with random asperities in Abaqus</a:t>
            </a:r>
          </a:p>
          <a:p>
            <a:pPr marL="342900" indent="-34290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924307"/>
      </p:ext>
    </p:extLst>
  </p:cSld>
  <p:clrMapOvr>
    <a:masterClrMapping/>
  </p:clrMapOvr>
</p:sld>
</file>

<file path=ppt/theme/theme1.xml><?xml version="1.0" encoding="utf-8"?>
<a:theme xmlns:a="http://schemas.openxmlformats.org/drawingml/2006/main" name="Body Slides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Bmechbpresentation" id="{69F95A6D-80FB-42CF-9430-49B8985042DD}" vid="{8DAACE04-E927-497C-BE7F-C965F736CC2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759F7608B13A4D86BCC979C54BBCCB" ma:contentTypeVersion="3" ma:contentTypeDescription="Create a new document." ma:contentTypeScope="" ma:versionID="562f52eeba954e953f3dbe994cae5a50">
  <xsd:schema xmlns:xsd="http://www.w3.org/2001/XMLSchema" xmlns:xs="http://www.w3.org/2001/XMLSchema" xmlns:p="http://schemas.microsoft.com/office/2006/metadata/properties" xmlns:ns2="08677264-7440-49ce-928a-9917bd2fc905" targetNamespace="http://schemas.microsoft.com/office/2006/metadata/properties" ma:root="true" ma:fieldsID="cfe0b1e2cc427cbe41c2a2bde47cd0a9" ns2:_="">
    <xsd:import namespace="08677264-7440-49ce-928a-9917bd2fc9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77264-7440-49ce-928a-9917bd2fc9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C02176-421E-4469-B6C2-6437A9690D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4ED9B8-9FE6-4BEC-B456-79D1D6C96D7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31EAF09-CD46-4973-8E3F-6CB46C90CA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77264-7440-49ce-928a-9917bd2fc9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reu '26 template</Template>
  <TotalTime>2384</TotalTime>
  <Words>1091</Words>
  <Application>Microsoft Office PowerPoint</Application>
  <PresentationFormat>On-screen Show (4:3)</PresentationFormat>
  <Paragraphs>208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Myriad Pro</vt:lpstr>
      <vt:lpstr>Body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Adams, Alex</dc:creator>
  <cp:keywords/>
  <dc:description/>
  <cp:lastModifiedBy>Adams, Alex</cp:lastModifiedBy>
  <cp:revision>16</cp:revision>
  <cp:lastPrinted>2016-03-29T19:22:42Z</cp:lastPrinted>
  <dcterms:created xsi:type="dcterms:W3CDTF">2026-05-27T15:51:39Z</dcterms:created>
  <dcterms:modified xsi:type="dcterms:W3CDTF">2026-06-07T14:43:04Z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0x010100CE759F7608B13A4D86BCC979C54BBCCB</vt:lpwstr>
  </property>
</Properties>
</file>