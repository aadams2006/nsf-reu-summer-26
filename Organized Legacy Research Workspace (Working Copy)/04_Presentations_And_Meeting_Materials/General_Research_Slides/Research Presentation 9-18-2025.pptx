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94183E-AFDC-4477-B6C6-BA2FC6E3DDD3}" v="24" dt="2025-09-18T14:17:14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68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elde\Desktop\ABAQUS%20WORKING%20DIRECTORY\Crack%20Prop\PU_curve_enhanced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Delta P vs Delta U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PU_curve_enhanced!$F$22:$F$37</c:f>
              <c:numCache>
                <c:formatCode>General</c:formatCode>
                <c:ptCount val="16"/>
                <c:pt idx="0">
                  <c:v>0</c:v>
                </c:pt>
                <c:pt idx="1">
                  <c:v>0.01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2.5000000000000001E-2</c:v>
                </c:pt>
                <c:pt idx="5">
                  <c:v>3.3750000000000002E-2</c:v>
                </c:pt>
                <c:pt idx="6">
                  <c:v>5.0625000000000003E-2</c:v>
                </c:pt>
                <c:pt idx="7">
                  <c:v>7.5937489999999996E-2</c:v>
                </c:pt>
                <c:pt idx="8">
                  <c:v>0.1</c:v>
                </c:pt>
                <c:pt idx="9">
                  <c:v>9.999999999999E-2</c:v>
                </c:pt>
                <c:pt idx="10">
                  <c:v>9.999999999999E-2</c:v>
                </c:pt>
                <c:pt idx="11">
                  <c:v>0.1</c:v>
                </c:pt>
                <c:pt idx="12">
                  <c:v>9.9999599999999994E-2</c:v>
                </c:pt>
                <c:pt idx="13">
                  <c:v>0.1</c:v>
                </c:pt>
                <c:pt idx="14">
                  <c:v>0.1</c:v>
                </c:pt>
                <c:pt idx="15">
                  <c:v>8.2187469999999999E-2</c:v>
                </c:pt>
              </c:numCache>
            </c:numRef>
          </c:xVal>
          <c:yVal>
            <c:numRef>
              <c:f>PU_curve_enhanced!$G$22:$G$37</c:f>
              <c:numCache>
                <c:formatCode>General</c:formatCode>
                <c:ptCount val="16"/>
                <c:pt idx="0">
                  <c:v>0</c:v>
                </c:pt>
                <c:pt idx="1">
                  <c:v>3.3454850000000003E-8</c:v>
                </c:pt>
                <c:pt idx="2">
                  <c:v>3.3225270000000001E-8</c:v>
                </c:pt>
                <c:pt idx="3">
                  <c:v>5.0029039999999997E-8</c:v>
                </c:pt>
                <c:pt idx="4">
                  <c:v>7.5073199999999998E-8</c:v>
                </c:pt>
                <c:pt idx="5">
                  <c:v>1.126764E-7</c:v>
                </c:pt>
                <c:pt idx="6">
                  <c:v>1.6916269999999999E-7</c:v>
                </c:pt>
                <c:pt idx="7">
                  <c:v>2.540821E-7</c:v>
                </c:pt>
                <c:pt idx="8">
                  <c:v>3.3520879999999998E-7</c:v>
                </c:pt>
                <c:pt idx="9">
                  <c:v>3.359201E-7</c:v>
                </c:pt>
                <c:pt idx="10">
                  <c:v>3.3662530000000001E-7</c:v>
                </c:pt>
                <c:pt idx="11">
                  <c:v>3.3733519999999998E-7</c:v>
                </c:pt>
                <c:pt idx="12">
                  <c:v>3.3805230000000002E-7</c:v>
                </c:pt>
                <c:pt idx="13">
                  <c:v>3.387654E-7</c:v>
                </c:pt>
                <c:pt idx="14">
                  <c:v>3.3948589999999998E-7</c:v>
                </c:pt>
                <c:pt idx="15">
                  <c:v>2.7955360000000002E-7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E54-4103-A0A4-C95DC6A89E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42968751"/>
        <c:axId val="742969711"/>
      </c:scatterChart>
      <c:valAx>
        <c:axId val="7429687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2969711"/>
        <c:crosses val="autoZero"/>
        <c:crossBetween val="midCat"/>
      </c:valAx>
      <c:valAx>
        <c:axId val="742969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296875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D254E-DBEE-C0FC-A7D2-55A0F87C3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6AA6F-7521-9D04-24B0-EA33CE326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44E2A-A3AC-67FE-569C-E239F081C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E9D5-7EBA-47CD-8B6F-7FBDFC460A4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60EDA-E58B-23E9-A907-5CCFA8E49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BED99-32DC-810C-17AD-FA96B302E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697D-7A36-48FA-947C-CC3EF18D0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1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4EDF6-6118-1280-ED52-50D73FAA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E7366-332B-2F89-4B15-A9EAD2504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DE8F6-9878-E42E-80F5-17D2AB32B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E9D5-7EBA-47CD-8B6F-7FBDFC460A4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64071-EC33-8E71-4E8E-CB56854F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DC9A7-67F8-10B0-B5BA-AC2B4ECF3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697D-7A36-48FA-947C-CC3EF18D0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69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7B302-383E-F97D-840A-12C2F364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78CC4-F995-6B00-8F89-8A1325703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EE0AD-5FBB-B132-1B6E-41172FC66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E9D5-7EBA-47CD-8B6F-7FBDFC460A4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C1FC2-1F11-5ADC-3302-1B752343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8B043-70D4-22E9-4545-C2A621D9E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697D-7A36-48FA-947C-CC3EF18D0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2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1450D-829A-7C39-D4BC-C0E235EBA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BACE4-7BA6-C8D8-61DF-0899C8CC3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24E03-F692-0408-AC9D-3ACF02FC6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B4EAC-5A54-76DD-3619-0CDDA00DD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E9D5-7EBA-47CD-8B6F-7FBDFC460A4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565FA-BE93-E3F0-F239-100C4787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39702-D951-8D5A-4823-062F38DA9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697D-7A36-48FA-947C-CC3EF18D0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66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69849-4C87-6A1A-FC50-E6D773296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7AC28-39AD-AD2F-44DA-3F248B237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4AF4B-1F43-BD73-49CD-67DD7839D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5AC96A-F86A-B59B-6EB6-E731E32EDD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8106CF-632E-239A-1E49-A59D44BC77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E34305-6CC2-AE33-EA71-CECE330B6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E9D5-7EBA-47CD-8B6F-7FBDFC460A4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DF63E-A4BF-1F01-D631-AC16DF0C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C87B6C-1EAB-D31D-E198-5D732F730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697D-7A36-48FA-947C-CC3EF18D0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77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27CFB-1281-9FFE-3962-A741E569D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AB449D-B413-CE7E-D1DB-2C5B927AC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E9D5-7EBA-47CD-8B6F-7FBDFC460A4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C1D237-C9D7-1C2B-5C82-099EE6C05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28A71-B2B7-6F41-B9AD-D5E1BC44F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697D-7A36-48FA-947C-CC3EF18D0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9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BAEF6-2FE8-B731-E918-5CEFFBAA8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E9D5-7EBA-47CD-8B6F-7FBDFC460A4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A8A90F-9BB4-9674-BF56-F4AFE879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714DE-D0BB-C3D2-7754-64EC7130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697D-7A36-48FA-947C-CC3EF18D0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432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F5508-C4EE-34D5-5156-E2FA510AF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B1DC0-7E46-BD30-9FFA-1E7F63606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EAC06-857E-4024-D585-B5B9130DE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59167-58C0-69FA-2DA0-6FC567E24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E9D5-7EBA-47CD-8B6F-7FBDFC460A4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91787-312A-9C28-1F56-F546C8DFA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C52DD-D0BC-D767-09AD-82E09E4FF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697D-7A36-48FA-947C-CC3EF18D0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87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8248-09A1-5B90-C23F-850108AFE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54D1BE-296C-6809-9FBE-0061367B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974F4-6E6B-D233-A329-DD75A5B5D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0B766-4873-3BFD-1FBB-2ECC7CE5A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E9D5-7EBA-47CD-8B6F-7FBDFC460A4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42F88-966A-6F6B-8B78-DF278C00F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12710-5468-F4E5-2C8E-28AAD8CF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697D-7A36-48FA-947C-CC3EF18D0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38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484FD-2D52-7239-B4D1-AF7FE21A5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E1204A-5D05-E6C5-9B40-D71919072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0CFF6-0153-1487-7A0F-E5797E07B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E9D5-7EBA-47CD-8B6F-7FBDFC460A4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CC9C2-52D1-D4E9-322B-427B0B3A3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3A3E5-B20B-9833-2E3A-53B8BC584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697D-7A36-48FA-947C-CC3EF18D0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0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A38877-DEBD-6A81-BB60-96D27E9B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574C42-EF00-68F5-C88B-5BA01BCFE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2C01B-20E4-CBA0-3BB3-2A523A9F1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E9D5-7EBA-47CD-8B6F-7FBDFC460A4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6C809-21EE-1235-7D4D-8D2964A43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BEE45-F08B-9B0B-F887-4E11D299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C697D-7A36-48FA-947C-CC3EF18D0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21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EA153-027F-26CB-C735-BC93D5308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BE960-1446-9E65-624E-6AF45A4E6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8561E-9A78-0869-E026-7C9AE741C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66E9D5-7EBA-47CD-8B6F-7FBDFC460A4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829E7-C760-EFB5-6B45-7AB881F79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D1F6A-45CD-2307-6F68-5C379166D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5C697D-7A36-48FA-947C-CC3EF18D0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50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C3BA1-9076-BC42-7C1F-25C8E4D964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Research Presentation 9-18-25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7C876-31D2-8E31-EBF3-BDA0A54D16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Helder Rebelo</a:t>
            </a:r>
          </a:p>
        </p:txBody>
      </p:sp>
    </p:spTree>
    <p:extLst>
      <p:ext uri="{BB962C8B-B14F-4D97-AF65-F5344CB8AC3E}">
        <p14:creationId xmlns:p14="http://schemas.microsoft.com/office/powerpoint/2010/main" val="774343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C5409-AD07-D12F-BD7F-277AD2601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Last Week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EA13F-B7B4-7A44-C9D0-ECE773E7A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Investigated different loading method for mode I and mode II simulations.</a:t>
            </a:r>
          </a:p>
          <a:p>
            <a:r>
              <a:rPr lang="en-US" dirty="0"/>
              <a:t>Updated simulation to match mode I loading criteria.</a:t>
            </a:r>
          </a:p>
          <a:p>
            <a:r>
              <a:rPr lang="en-US" dirty="0"/>
              <a:t>Created output file with values I believed would be necessary for future of the simulation.</a:t>
            </a:r>
          </a:p>
        </p:txBody>
      </p:sp>
    </p:spTree>
    <p:extLst>
      <p:ext uri="{BB962C8B-B14F-4D97-AF65-F5344CB8AC3E}">
        <p14:creationId xmlns:p14="http://schemas.microsoft.com/office/powerpoint/2010/main" val="2711448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AC7DA6-9918-FA5C-D420-FDAA9EE7E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1BEF29-0A76-200A-BD11-2A6029FA3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144" y="1850755"/>
            <a:ext cx="4172054" cy="4481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AEC5F3-075F-76D1-8B37-DE0716278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16" y="1850755"/>
            <a:ext cx="4179334" cy="448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694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B19C-D3A0-6F40-AA71-DA4DE0212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822880-9FAB-FC17-E5C8-D2B135165B4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38256"/>
          <a:ext cx="10515600" cy="3926076"/>
        </p:xfrm>
        <a:graphic>
          <a:graphicData uri="http://schemas.openxmlformats.org/drawingml/2006/table">
            <a:tbl>
              <a:tblPr/>
              <a:tblGrid>
                <a:gridCol w="1026795">
                  <a:extLst>
                    <a:ext uri="{9D8B030D-6E8A-4147-A177-3AD203B41FA5}">
                      <a16:colId xmlns:a16="http://schemas.microsoft.com/office/drawing/2014/main" val="2449140746"/>
                    </a:ext>
                  </a:extLst>
                </a:gridCol>
                <a:gridCol w="1636193">
                  <a:extLst>
                    <a:ext uri="{9D8B030D-6E8A-4147-A177-3AD203B41FA5}">
                      <a16:colId xmlns:a16="http://schemas.microsoft.com/office/drawing/2014/main" val="2664756721"/>
                    </a:ext>
                  </a:extLst>
                </a:gridCol>
                <a:gridCol w="1224362">
                  <a:extLst>
                    <a:ext uri="{9D8B030D-6E8A-4147-A177-3AD203B41FA5}">
                      <a16:colId xmlns:a16="http://schemas.microsoft.com/office/drawing/2014/main" val="3508852370"/>
                    </a:ext>
                  </a:extLst>
                </a:gridCol>
                <a:gridCol w="1093577">
                  <a:extLst>
                    <a:ext uri="{9D8B030D-6E8A-4147-A177-3AD203B41FA5}">
                      <a16:colId xmlns:a16="http://schemas.microsoft.com/office/drawing/2014/main" val="534351159"/>
                    </a:ext>
                  </a:extLst>
                </a:gridCol>
                <a:gridCol w="1324537">
                  <a:extLst>
                    <a:ext uri="{9D8B030D-6E8A-4147-A177-3AD203B41FA5}">
                      <a16:colId xmlns:a16="http://schemas.microsoft.com/office/drawing/2014/main" val="341012665"/>
                    </a:ext>
                  </a:extLst>
                </a:gridCol>
                <a:gridCol w="1126969">
                  <a:extLst>
                    <a:ext uri="{9D8B030D-6E8A-4147-A177-3AD203B41FA5}">
                      <a16:colId xmlns:a16="http://schemas.microsoft.com/office/drawing/2014/main" val="3094272063"/>
                    </a:ext>
                  </a:extLst>
                </a:gridCol>
                <a:gridCol w="1257754">
                  <a:extLst>
                    <a:ext uri="{9D8B030D-6E8A-4147-A177-3AD203B41FA5}">
                      <a16:colId xmlns:a16="http://schemas.microsoft.com/office/drawing/2014/main" val="3857698174"/>
                    </a:ext>
                  </a:extLst>
                </a:gridCol>
                <a:gridCol w="556528">
                  <a:extLst>
                    <a:ext uri="{9D8B030D-6E8A-4147-A177-3AD203B41FA5}">
                      <a16:colId xmlns:a16="http://schemas.microsoft.com/office/drawing/2014/main" val="738791294"/>
                    </a:ext>
                  </a:extLst>
                </a:gridCol>
                <a:gridCol w="734618">
                  <a:extLst>
                    <a:ext uri="{9D8B030D-6E8A-4147-A177-3AD203B41FA5}">
                      <a16:colId xmlns:a16="http://schemas.microsoft.com/office/drawing/2014/main" val="1325109652"/>
                    </a:ext>
                  </a:extLst>
                </a:gridCol>
                <a:gridCol w="534267">
                  <a:extLst>
                    <a:ext uri="{9D8B030D-6E8A-4147-A177-3AD203B41FA5}">
                      <a16:colId xmlns:a16="http://schemas.microsoft.com/office/drawing/2014/main" val="3540176424"/>
                    </a:ext>
                  </a:extLst>
                </a:gridCol>
              </a:tblGrid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# W=4.600000e+02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H=5.196152e+02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B=1.000000e-02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a=2.200000e+02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ell=2.000000e+01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rect_b=1.000000e-01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136800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# YI=1.000000e+00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parent_sigma_f=1.000000e+02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bar_rho=5.823707e-03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k0=-3.336554e-06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E_eff_init=-3.768966e-04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887953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# u_f=1.000000e-02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P_f=-3.345485e-08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eps_f=1.924501e-05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sig_f=-7.272794e-09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W_f=-1.672742e-10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K_Ic=-1.911998e-07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barK_Ic=-4.275358e-10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192982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eps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sig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du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dP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k_tangent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W_cum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is_failure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947361"/>
                  </a:ext>
                </a:extLst>
              </a:tr>
              <a:tr h="3024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0.000000e+00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0.000000e+00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0.000000e+00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0.000000e+00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0.000000e+00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-3.35E-06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0.000000e+00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22036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1.000000e-01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1.000000e-02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-3.35E-08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1.924501e-05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-7.27E-09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1.000000e-02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-3.35E-08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-3.33E-06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-1.67E-10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711559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2.000000e-01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2.000000e-02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-6.67E-08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3.849002e-05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-1.45E-08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1.000000e-02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-3.32E-08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-3.33E-06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-6.68E-10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227445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3.500000e-01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3.500000e-02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-1.17E-07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6.735753e-05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-2.54E-08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1.500000e-02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-5.00E-08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-3.34E-06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-2.04E-09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443249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5.750000e-01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5.750000e-02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-1.92E-07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1.106588e-04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-4.17E-08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2.250000e-02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-7.51E-08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-3.34E-06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-5.51E-09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264165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9.125000e-01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9.125000e-02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-3.04E-07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1.756107e-04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-6.62E-08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3.375000e-02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-1.13E-07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-3.34E-06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-1.39E-08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785145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1.418750e+00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1.418750e-01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-4.74E-07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2.730386e-04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-1.03E-07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5.062500e-02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-1.69E-07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-3.34E-06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-3.36E-08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570323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2.178125e+00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2.178125e-01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-7.28E-07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4.191803e-04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-1.58E-07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7.593749e-02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-2.54E-07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-3.35E-06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-7.92E-08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808452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3.178125e+00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3.178125e-01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-1.06E-06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6.116304e-04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-2.31E-07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1.000000e-01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-3.35E-07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-3.36E-06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-1.69E-07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549403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4.178125e+00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4.178125e-01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-1.40E-06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8.040805e-04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-3.04E-07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9.999999e-02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-3.36E-07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-3.36E-06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-2.92E-07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172384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5.178125e+00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5.178125e-01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-1.74E-06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9.965306e-04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-3.77E-07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9.999999e-02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-3.37E-07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-3.37E-06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-4.49E-07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614862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6.178125e+00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6.178125e-01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-2.07E-06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1.188981e-03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-4.51E-07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1.000000e-01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-3.37E-07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-3.38E-06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-6.39E-07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593425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7.178125e+00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7.178125e-01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-2.41E-06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1.381431e-03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-5.24E-07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9.999996e-02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-3.38E-07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-3.38E-06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-8.63E-07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496423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8.178125e+00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8.178125e-01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-2.75E-06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1.573881e-03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-5.98E-07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1.000000e-01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-3.39E-07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-3.39E-06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-1.12E-06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439290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9.178125e+00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9.178125e-01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-3.09E-06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1.766331e-03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-6.72E-07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1.000000e-01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-3.39E-07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-3.40E-06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-1.41E-06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783892"/>
                  </a:ext>
                </a:extLst>
              </a:tr>
              <a:tr h="1670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1.000000e+01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1.000000e+00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-3.37E-06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1.924501e-03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-7.32E-07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8.218747e-02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-2.80E-07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-3.40E-06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-1.68E-06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355" marR="8355" marT="8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302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9024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4ED3A-4712-D8E1-592B-37401041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(Continued)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4E112F-97CD-2A13-0B1F-1B10A753F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013549"/>
              </p:ext>
            </p:extLst>
          </p:nvPr>
        </p:nvGraphicFramePr>
        <p:xfrm>
          <a:off x="838200" y="1823284"/>
          <a:ext cx="10515600" cy="526970"/>
        </p:xfrm>
        <a:graphic>
          <a:graphicData uri="http://schemas.openxmlformats.org/drawingml/2006/table">
            <a:tbl>
              <a:tblPr/>
              <a:tblGrid>
                <a:gridCol w="584200">
                  <a:extLst>
                    <a:ext uri="{9D8B030D-6E8A-4147-A177-3AD203B41FA5}">
                      <a16:colId xmlns:a16="http://schemas.microsoft.com/office/drawing/2014/main" val="208938188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3763310392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481158134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1685767822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648197872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606580722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1065122446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87161025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698934516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13270547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23966349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1014361859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187257503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199095269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3089534486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349514082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686988717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522404790"/>
                    </a:ext>
                  </a:extLst>
                </a:gridCol>
              </a:tblGrid>
              <a:tr h="3304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ell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rect_b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bar_rho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k0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E_eff_init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u_f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P_f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eps_f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sig_f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W_f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YI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parent_sigma_f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K_Ic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barK_Ic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965877"/>
                  </a:ext>
                </a:extLst>
              </a:tr>
              <a:tr h="18256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4.60E+02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5.20E+02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1.00E-02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2.20E+02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2.00E+01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1.00E-01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5.82E-03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-3.34E-06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-3.77E-04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1.00E-02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-3.35E-08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1.92E-05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-7.27E-09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-1.67E-10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1.00E+00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1.00E+02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-1.91E-07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-4.28E-10</a:t>
                      </a:r>
                    </a:p>
                  </a:txBody>
                  <a:tcPr marL="9128" marR="9128" marT="91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007069"/>
                  </a:ext>
                </a:extLst>
              </a:tr>
            </a:tbl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C1955561-FE13-418C-7370-65B76B1E6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568" y="2938086"/>
            <a:ext cx="456285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specimen width (x-span)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specimen height (y-span)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out-of-plane thickness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rect_a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crack half-length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tip→edge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lattice cell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rect_b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strut in-plane thickness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bar_rho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2-D relative density (area fraction)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k0: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initial global stiffness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/du)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E_eff_init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initial effective modulus (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dσ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dε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A3CA8D-F149-1B71-829C-8F7488073B34}"/>
              </a:ext>
            </a:extLst>
          </p:cNvPr>
          <p:cNvSpPr txBox="1"/>
          <p:nvPr/>
        </p:nvSpPr>
        <p:spPr>
          <a:xfrm>
            <a:off x="5922264" y="2938086"/>
            <a:ext cx="55717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u_f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displacement at failure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P_f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load at failure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eps_f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nominal strain at failure (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u_f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sig_f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nominal stress at failure (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P_f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/(B·W))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W_f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 to failure (∫P du)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shape factor for K (geometry)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parent_sigma_f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parent solid tensile strength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K_Ic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fracture toughness (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YI·sig_f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·√(πa))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barK_Ic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normalized toughness (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K_Ic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/(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parent_sigma_f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·√ell))</a:t>
            </a:r>
          </a:p>
        </p:txBody>
      </p:sp>
    </p:spTree>
    <p:extLst>
      <p:ext uri="{BB962C8B-B14F-4D97-AF65-F5344CB8AC3E}">
        <p14:creationId xmlns:p14="http://schemas.microsoft.com/office/powerpoint/2010/main" val="873194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E87E4-3F72-25CA-3E52-9EBBBF513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68D6061-7936-FAA2-5FA7-115B52D446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9246838"/>
              </p:ext>
            </p:extLst>
          </p:nvPr>
        </p:nvGraphicFramePr>
        <p:xfrm>
          <a:off x="2273030" y="1783556"/>
          <a:ext cx="7269804" cy="4435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37745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E3C83-C63D-6468-16EC-4645CE92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2BD66-5553-339C-F68D-055C22827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this model large enough?</a:t>
            </a:r>
          </a:p>
          <a:p>
            <a:r>
              <a:rPr lang="en-US" dirty="0"/>
              <a:t>Should I increase my displacement (U2=1mm)?</a:t>
            </a:r>
          </a:p>
          <a:p>
            <a:r>
              <a:rPr lang="en-US" dirty="0"/>
              <a:t>Should I sweep </a:t>
            </a:r>
            <a:r>
              <a:rPr lang="en-US" dirty="0" err="1"/>
              <a:t>rect_b</a:t>
            </a:r>
            <a:r>
              <a:rPr lang="en-US" dirty="0"/>
              <a:t> values in the code and plot </a:t>
            </a:r>
            <a:r>
              <a:rPr lang="en-US" dirty="0" err="1"/>
              <a:t>Kic</a:t>
            </a:r>
            <a:r>
              <a:rPr lang="en-US" dirty="0"/>
              <a:t> vs relative density to recreate this figure.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D10A4-BB54-7DD6-0E94-11DD26959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639" y="3429000"/>
            <a:ext cx="5387298" cy="296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894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783</Words>
  <Application>Microsoft Office PowerPoint</Application>
  <PresentationFormat>Widescreen</PresentationFormat>
  <Paragraphs>272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Aptos Narrow</vt:lpstr>
      <vt:lpstr>Arial</vt:lpstr>
      <vt:lpstr>Times New Roman</vt:lpstr>
      <vt:lpstr>Office Theme</vt:lpstr>
      <vt:lpstr>Research Presentation 9-18-25</vt:lpstr>
      <vt:lpstr>From Last Week </vt:lpstr>
      <vt:lpstr>Simulation</vt:lpstr>
      <vt:lpstr>Data</vt:lpstr>
      <vt:lpstr>Data (Continued)</vt:lpstr>
      <vt:lpstr>Data Analysis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Helder Rebelo</dc:creator>
  <cp:lastModifiedBy>Rebelo, Helder</cp:lastModifiedBy>
  <cp:revision>3</cp:revision>
  <dcterms:created xsi:type="dcterms:W3CDTF">2025-09-18T12:45:58Z</dcterms:created>
  <dcterms:modified xsi:type="dcterms:W3CDTF">2025-09-18T17:45:41Z</dcterms:modified>
</cp:coreProperties>
</file>