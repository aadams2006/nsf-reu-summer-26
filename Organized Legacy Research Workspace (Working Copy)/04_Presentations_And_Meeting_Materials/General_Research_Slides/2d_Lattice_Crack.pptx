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>
        <p:scale>
          <a:sx n="87" d="100"/>
          <a:sy n="87" d="100"/>
        </p:scale>
        <p:origin x="3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C1B9C-6A17-237B-D35C-098F01846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0B1851-89A5-754F-7F04-F87969C87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FF577-8EEF-6401-2B62-8373AFC85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9296-1C65-482C-AD24-3AC3731A3F3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2944F-1166-6ED4-A4AF-974E84CEC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5D2AE-C13E-81C0-FC55-7481FFD6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8E4A-9787-4FD4-9D4E-CA4AAF6B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22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448DE-0A79-7B19-7ABA-CAD4E547A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4E1C3-829E-58C5-1C6F-AF3D0AF12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924FD-30AB-E254-4343-6FEB7EE11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9296-1C65-482C-AD24-3AC3731A3F3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D36E7-2004-46F6-47BC-404018502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4BA12-62DE-0DE4-76D5-BA152741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8E4A-9787-4FD4-9D4E-CA4AAF6B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29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CF406-C105-51A5-5862-8C70A0049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A5A5A-D383-E082-D323-A473A8E62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39C7E-8F7C-3D2F-C379-809B33A04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9296-1C65-482C-AD24-3AC3731A3F3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C9212-412E-7BB9-52DE-C14B3CDD0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F317B-AF37-085A-B2E8-681BACCCE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8E4A-9787-4FD4-9D4E-CA4AAF6B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05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A7169-23EB-F8C5-2333-80252D891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1B400-B6BF-70FE-94AF-9D7CF25B5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BB9C8-714E-BF58-1493-3BCB1EE7F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30A88-C0E3-6805-849F-4AD6BD7D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9296-1C65-482C-AD24-3AC3731A3F3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A0C40-2FC1-C51C-8F24-8859769A7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65E5A-3522-D047-B296-1A2878C1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8E4A-9787-4FD4-9D4E-CA4AAF6B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815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A5F16-715F-C7FB-B9F1-7F687CE01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BF22E-2736-39B8-1F69-16E0178B7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E5DA8-408E-1667-4194-A10E37BEC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C504BB-3BE0-E7B1-CEF2-DAEA569F35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1631CD-75B6-943A-A82D-531CF9725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C7D985-9D55-035B-0CC2-585B81265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9296-1C65-482C-AD24-3AC3731A3F3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B97A5-BB0F-3788-B316-846394C60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4C75D8-FEC5-4C19-55A3-24EC7A6C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8E4A-9787-4FD4-9D4E-CA4AAF6B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21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F0E2-03E1-73B3-EE84-8FC8B8A83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FCD33C-6998-CDEE-63EF-DD55DD593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9296-1C65-482C-AD24-3AC3731A3F3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905FAB-D4B2-343F-494C-681EF383B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E3C76-4DE4-B8E8-A622-0E85A31AF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8E4A-9787-4FD4-9D4E-CA4AAF6B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2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4F7BF3-4BDB-9414-E88C-FE8AC0318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9296-1C65-482C-AD24-3AC3731A3F3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DD394F-7AEE-CC9B-65EB-20A8FE055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C8D69-F0FC-67B7-702F-7DF53CCA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8E4A-9787-4FD4-9D4E-CA4AAF6B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84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3C1AE-B772-FCA7-72FE-DB564FD0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86711-2354-B045-D7EA-E93529E43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A7B888-6703-9EB7-6141-441D90C20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67496-8BFA-D690-882D-46354053A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9296-1C65-482C-AD24-3AC3731A3F3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3E288-8647-5A95-E633-A0550866B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08067-E193-2DDA-4A34-1D8424B62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8E4A-9787-4FD4-9D4E-CA4AAF6B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77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A0223-4712-2BB9-DD4A-129C5BA2E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CE3EBD-5DD9-7ADA-337D-630D579525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4F5B0C-370C-C508-CFEB-F9F842BEC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3EE60-71C9-7924-BBF3-20F0173FE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9296-1C65-482C-AD24-3AC3731A3F3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0C17DD-2632-6EEF-6503-F0609938F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26BC5-34C1-AB9E-90AF-44571BEB5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8E4A-9787-4FD4-9D4E-CA4AAF6B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00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8B921-9B8C-1075-F8D2-90BEBD8A0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E7256-402B-9EA1-BCC9-3F95FB7F8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62582-59A0-7B01-5B55-8810CF1C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9296-1C65-482C-AD24-3AC3731A3F3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DEF4C-EEE3-4B57-3E1E-2162CDC05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424E8-53C2-6AEC-4B72-15FD51B81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8E4A-9787-4FD4-9D4E-CA4AAF6B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30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685DEF-56E3-BDA4-F432-B496EB1AB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48A6D1-C6E4-1743-CB12-9AA7B39B7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070BC-03B3-F7C5-E409-E51C8614F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9296-1C65-482C-AD24-3AC3731A3F3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60B80-4E9F-1B3E-EDF7-27E015DFE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6D591-5215-F538-88F0-783F4D70A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8E4A-9787-4FD4-9D4E-CA4AAF6B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93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7C2166-8F2B-9C66-B152-ACB3E0F4F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D0752-9FA9-F0C3-A0C3-EE65CF346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F201-26F7-E9C6-8BE2-7C519BB839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D9296-1C65-482C-AD24-3AC3731A3F3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C7447-8A0C-FAB5-EBED-9AA715CB91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F11CE-84C6-DD83-75C5-E68101C52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68E4A-9787-4FD4-9D4E-CA4AAF6B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90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ture.com/articles/s41467-024-51757-0" TargetMode="External"/><Relationship Id="rId3" Type="http://schemas.openxmlformats.org/officeDocument/2006/relationships/hyperlink" Target="https://www.fleckmech.org/papers/227.pdf" TargetMode="External"/><Relationship Id="rId7" Type="http://schemas.openxmlformats.org/officeDocument/2006/relationships/hyperlink" Target="https://www.nature.com/articles/srep20570" TargetMode="External"/><Relationship Id="rId2" Type="http://schemas.openxmlformats.org/officeDocument/2006/relationships/hyperlink" Target="https://www.nature.com/articles/s41563-021-01182-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search.aalto.fi/en/publications/the-fracture-toughness-of-demi-regular-lattices" TargetMode="External"/><Relationship Id="rId5" Type="http://schemas.openxmlformats.org/officeDocument/2006/relationships/hyperlink" Target="https://www.fleckmech.org/papers/315.pdf" TargetMode="External"/><Relationship Id="rId4" Type="http://schemas.openxmlformats.org/officeDocument/2006/relationships/hyperlink" Target="https://www.fleckmech.org/papers/238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08CB-8C17-A00F-32FD-2544A2A05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Fracture of Lattice Metamaterials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A964F-0583-8EFB-3461-B3C032150D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Helder Rebelo</a:t>
            </a:r>
          </a:p>
        </p:txBody>
      </p:sp>
    </p:spTree>
    <p:extLst>
      <p:ext uri="{BB962C8B-B14F-4D97-AF65-F5344CB8AC3E}">
        <p14:creationId xmlns:p14="http://schemas.microsoft.com/office/powerpoint/2010/main" val="21754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56604AF4-AEF7-4020-93AD-C74808D17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DB65AB2-AC18-4139-B8BE-52452A25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1"/>
            <a:ext cx="1219200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89A5304-EF26-47F3-9CB7-ED121FC74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8" y="685799"/>
            <a:ext cx="10820400" cy="5486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3B84EB-C78A-5D90-8ADD-D0E38A42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94" y="1136478"/>
            <a:ext cx="9016409" cy="1051885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3D Toughness of Mechanical Metamaterials (Nature Materials, 2022) ~ Summary</a:t>
            </a:r>
            <a:endParaRPr 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26" name="Picture 2" descr="NM2022 Fig1">
            <a:extLst>
              <a:ext uri="{FF2B5EF4-FFF2-40B4-BE49-F238E27FC236}">
                <a16:creationId xmlns:a16="http://schemas.microsoft.com/office/drawing/2014/main" id="{B4A45D2B-4171-6C67-640E-EEA74106D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88059" y="2391333"/>
            <a:ext cx="1812521" cy="1897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M2022 Fig3">
            <a:extLst>
              <a:ext uri="{FF2B5EF4-FFF2-40B4-BE49-F238E27FC236}">
                <a16:creationId xmlns:a16="http://schemas.microsoft.com/office/drawing/2014/main" id="{2F87567B-0B37-2F23-1E0A-0D54C09FC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44389" y="2372516"/>
            <a:ext cx="2103219" cy="1759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M2022 Fig2">
            <a:extLst>
              <a:ext uri="{FF2B5EF4-FFF2-40B4-BE49-F238E27FC236}">
                <a16:creationId xmlns:a16="http://schemas.microsoft.com/office/drawing/2014/main" id="{97D3B8AB-AF02-2189-0A33-24F9F1BC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77117" y="2391331"/>
            <a:ext cx="1819856" cy="1911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4D42F-CB52-0C8F-FBB4-07BC421B1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7914" y="4628363"/>
            <a:ext cx="8676169" cy="980311"/>
          </a:xfrm>
        </p:spPr>
        <p:txBody>
          <a:bodyPr anchor="t">
            <a:normAutofit/>
          </a:bodyPr>
          <a:lstStyle/>
          <a:p>
            <a:pPr algn="ctr"/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 alone is insufficient in architected lattices; a two‑parameter description using 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(K, T)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 with crack‑size/load‑path calibration captures failure across stretching vs buckling regimes.</a:t>
            </a:r>
          </a:p>
        </p:txBody>
      </p:sp>
    </p:spTree>
    <p:extLst>
      <p:ext uri="{BB962C8B-B14F-4D97-AF65-F5344CB8AC3E}">
        <p14:creationId xmlns:p14="http://schemas.microsoft.com/office/powerpoint/2010/main" val="2178140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15FEE-BE07-F71E-A608-100E99A4D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Bridge to 2D: What carries over? What changes?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3EFD0-AA15-B5CF-3F21-8269D0A2C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K‑dominant fields</a:t>
            </a:r>
            <a:r>
              <a:rPr lang="en-US" dirty="0"/>
              <a:t> persist in planar beam‑lattices, but </a:t>
            </a:r>
            <a:r>
              <a:rPr lang="en-US" b="1" dirty="0"/>
              <a:t>topology (connectivity)</a:t>
            </a:r>
            <a:r>
              <a:rPr lang="en-US" dirty="0"/>
              <a:t> dictates local fields and failure sites.</a:t>
            </a:r>
          </a:p>
          <a:p>
            <a:r>
              <a:rPr lang="en-US" b="1" dirty="0"/>
              <a:t>T‑stress sensitivity</a:t>
            </a:r>
            <a:r>
              <a:rPr lang="en-US" dirty="0"/>
              <a:t> remains important for apparent K</a:t>
            </a:r>
            <a:r>
              <a:rPr lang="en-US" baseline="-25000" dirty="0"/>
              <a:t>c</a:t>
            </a:r>
            <a:r>
              <a:rPr lang="en-US" dirty="0"/>
              <a:t> and mechanism switching (tension fracture ↔ elastic buckling).</a:t>
            </a:r>
          </a:p>
          <a:p>
            <a:r>
              <a:rPr lang="en-US" b="1" dirty="0"/>
              <a:t>Scaling with relative density (</a:t>
            </a:r>
            <a:r>
              <a:rPr lang="el-GR" b="1" dirty="0"/>
              <a:t>ρ̄)</a:t>
            </a:r>
            <a:r>
              <a:rPr lang="el-GR" dirty="0"/>
              <a:t>: </a:t>
            </a:r>
            <a:r>
              <a:rPr lang="en-US" dirty="0"/>
              <a:t>triangular ≈ </a:t>
            </a:r>
            <a:r>
              <a:rPr lang="el-GR" dirty="0"/>
              <a:t>ρ̄; </a:t>
            </a:r>
            <a:r>
              <a:rPr lang="en-US" dirty="0"/>
              <a:t>hexagonal (bending) ≈ </a:t>
            </a:r>
            <a:r>
              <a:rPr lang="el-GR" dirty="0"/>
              <a:t>ρ̄²; </a:t>
            </a:r>
            <a:r>
              <a:rPr lang="en-US" dirty="0" err="1"/>
              <a:t>kagome</a:t>
            </a:r>
            <a:r>
              <a:rPr lang="en-US" dirty="0"/>
              <a:t> often ≈ </a:t>
            </a:r>
            <a:r>
              <a:rPr lang="el-GR" dirty="0"/>
              <a:t>ρ̄</a:t>
            </a:r>
            <a:r>
              <a:rPr lang="el-GR" baseline="30000" dirty="0"/>
              <a:t>1/2</a:t>
            </a:r>
            <a:r>
              <a:rPr lang="el-GR" dirty="0"/>
              <a:t> </a:t>
            </a:r>
            <a:r>
              <a:rPr lang="en-US" dirty="0"/>
              <a:t>to </a:t>
            </a:r>
            <a:r>
              <a:rPr lang="el-GR" dirty="0"/>
              <a:t>ρ̄, </a:t>
            </a:r>
            <a:r>
              <a:rPr lang="en-US" dirty="0"/>
              <a:t>depending on failure criterion.</a:t>
            </a:r>
          </a:p>
          <a:p>
            <a:r>
              <a:rPr lang="en-US" b="1" dirty="0"/>
              <a:t>Specimens</a:t>
            </a:r>
            <a:r>
              <a:rPr lang="en-US" dirty="0"/>
              <a:t>: center‑cracked plates &amp; boundary‑layer domains avoid boundary artifacts; embedded flaws over through‑thickness when possible.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050" dirty="0"/>
              <a:t>Fleck &amp; Qiu (2007); Romijn &amp; Fleck (2007); </a:t>
            </a:r>
            <a:r>
              <a:rPr lang="en-US" sz="1050" dirty="0" err="1"/>
              <a:t>Tankasala</a:t>
            </a:r>
            <a:r>
              <a:rPr lang="en-US" sz="1050" dirty="0"/>
              <a:t> et al. (2015); Omidi &amp; St‑Pierre (2023).</a:t>
            </a:r>
          </a:p>
        </p:txBody>
      </p:sp>
    </p:spTree>
    <p:extLst>
      <p:ext uri="{BB962C8B-B14F-4D97-AF65-F5344CB8AC3E}">
        <p14:creationId xmlns:p14="http://schemas.microsoft.com/office/powerpoint/2010/main" val="1905854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15381-99AA-A62D-2FB0-1E4562288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5600" b="1" dirty="0">
                <a:solidFill>
                  <a:srgbClr val="FFFFFF"/>
                </a:solidFill>
              </a:rPr>
              <a:t>2D Fracture Modelling &amp; Approaches That Work</a:t>
            </a:r>
            <a:endParaRPr lang="en-US" sz="5600" dirty="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F4E59-D9A3-9BDB-73A0-013AAFD5C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Boundary‑Layer (BL) Method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Impose analytical </a:t>
            </a:r>
            <a:r>
              <a:rPr lang="en-US" sz="1400" i="1" dirty="0">
                <a:solidFill>
                  <a:schemeClr val="tx1">
                    <a:alpha val="80000"/>
                  </a:schemeClr>
                </a:solidFill>
              </a:rPr>
              <a:t>u(r,</a:t>
            </a:r>
            <a:r>
              <a:rPr lang="el-GR" sz="1400" i="1" dirty="0">
                <a:solidFill>
                  <a:schemeClr val="tx1">
                    <a:alpha val="80000"/>
                  </a:schemeClr>
                </a:solidFill>
              </a:rPr>
              <a:t>θ)</a:t>
            </a:r>
            <a:r>
              <a:rPr lang="el-GR" sz="1400" dirty="0">
                <a:solidFill>
                  <a:schemeClr val="tx1">
                    <a:alpha val="80000"/>
                  </a:schemeClr>
                </a:solidFill>
              </a:rPr>
              <a:t> 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for target K</a:t>
            </a:r>
            <a:r>
              <a:rPr lang="en-US" sz="1400" baseline="-25000" dirty="0">
                <a:solidFill>
                  <a:schemeClr val="tx1">
                    <a:alpha val="80000"/>
                  </a:schemeClr>
                </a:solidFill>
              </a:rPr>
              <a:t>I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/K</a:t>
            </a:r>
            <a:r>
              <a:rPr lang="en-US" sz="1400" baseline="-25000" dirty="0">
                <a:solidFill>
                  <a:schemeClr val="tx1">
                    <a:alpha val="80000"/>
                  </a:schemeClr>
                </a:solidFill>
              </a:rPr>
              <a:t>II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 (and optional T) on a circular ring of perimeter nodes.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Increase K until first local criterion met → K</a:t>
            </a:r>
            <a:r>
              <a:rPr lang="en-US" sz="1400" baseline="-25000" dirty="0">
                <a:solidFill>
                  <a:schemeClr val="tx1">
                    <a:alpha val="80000"/>
                  </a:schemeClr>
                </a:solidFill>
              </a:rPr>
              <a:t>c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; sweep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mixity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to generate a mixed‑mode envelope.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	Fleck &amp; Qiu, 2007;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Tankasala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et al., 2015.</a:t>
            </a:r>
          </a:p>
          <a:p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Beam‑Lattice FE + Progressive Failure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Model struts with Euler/Timoshenko beams; brittle (</a:t>
            </a:r>
            <a:r>
              <a:rPr lang="el-GR" sz="1400" dirty="0">
                <a:solidFill>
                  <a:schemeClr val="tx1">
                    <a:alpha val="80000"/>
                  </a:schemeClr>
                </a:solidFill>
              </a:rPr>
              <a:t>ε</a:t>
            </a:r>
            <a:r>
              <a:rPr lang="en-US" sz="1400" baseline="-25000" dirty="0">
                <a:solidFill>
                  <a:schemeClr val="tx1">
                    <a:alpha val="80000"/>
                  </a:schemeClr>
                </a:solidFill>
              </a:rPr>
              <a:t>f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) or plastic (J2) cell‑wall law.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Embedded pre‑crack; BL or far‑field traction BCs; element removal/softening for crack growth &amp; R curves.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	Hsieh et al., 2020; Omidi &amp; St‑Pierre, 2023.</a:t>
            </a:r>
          </a:p>
          <a:p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Analytical / Reduced Models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Square/triangular/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kagome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beam networks: closed form relations for K</a:t>
            </a:r>
            <a:r>
              <a:rPr lang="en-US" sz="1400" baseline="-25000" dirty="0">
                <a:solidFill>
                  <a:schemeClr val="tx1">
                    <a:alpha val="80000"/>
                  </a:schemeClr>
                </a:solidFill>
              </a:rPr>
              <a:t>c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(</a:t>
            </a:r>
            <a:r>
              <a:rPr lang="el-GR" sz="1400" dirty="0">
                <a:solidFill>
                  <a:schemeClr val="tx1">
                    <a:alpha val="80000"/>
                  </a:schemeClr>
                </a:solidFill>
              </a:rPr>
              <a:t>ρ̄) 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and imperfection sensitivity.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Fuse‑network analogs for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antiplane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fracture &amp; size effects.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	Romijn &amp; Fleck, 2007; Nguyen 2024 (fuse nets).</a:t>
            </a:r>
          </a:p>
          <a:p>
            <a:endParaRPr lang="en-US" sz="14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001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E9802-9D38-F307-4E97-D8A55BE78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2D Studies Consistently Find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A36D2-5D77-C22C-2AFF-15F95886A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b="1" dirty="0"/>
              <a:t>Topology matters:</a:t>
            </a:r>
            <a:r>
              <a:rPr lang="en-US" dirty="0"/>
              <a:t> Kagome &amp; demi‑regular can outperform triangular under Mode II; triangular excels in Mode I for stretching dominated structures.</a:t>
            </a:r>
          </a:p>
          <a:p>
            <a:r>
              <a:rPr lang="en-US" b="1" dirty="0"/>
              <a:t>Scaling:</a:t>
            </a:r>
            <a:r>
              <a:rPr lang="en-US" dirty="0"/>
              <a:t> </a:t>
            </a:r>
            <a:r>
              <a:rPr lang="en-US" dirty="0" err="1"/>
              <a:t>K̄</a:t>
            </a:r>
            <a:r>
              <a:rPr lang="en-US" baseline="-25000" dirty="0" err="1"/>
              <a:t>c</a:t>
            </a:r>
            <a:r>
              <a:rPr lang="en-US" dirty="0"/>
              <a:t> ≡ K</a:t>
            </a:r>
            <a:r>
              <a:rPr lang="en-US" baseline="-25000" dirty="0"/>
              <a:t>c</a:t>
            </a:r>
            <a:r>
              <a:rPr lang="en-US" dirty="0"/>
              <a:t>/(</a:t>
            </a:r>
            <a:r>
              <a:rPr lang="el-GR" dirty="0"/>
              <a:t>σ</a:t>
            </a:r>
            <a:r>
              <a:rPr lang="en-US" baseline="-25000" dirty="0"/>
              <a:t>f</a:t>
            </a:r>
            <a:r>
              <a:rPr lang="en-US" dirty="0"/>
              <a:t>√ℓ) often follows A·</a:t>
            </a:r>
            <a:r>
              <a:rPr lang="el-GR" dirty="0"/>
              <a:t>ρ̄</a:t>
            </a:r>
            <a:r>
              <a:rPr lang="en-US" dirty="0"/>
              <a:t>ⁿ with n≈1 (triangular), n≈2 (hex</a:t>
            </a:r>
            <a:r>
              <a:rPr lang="en-US"/>
              <a:t>), n ≈ ½–</a:t>
            </a:r>
            <a:r>
              <a:rPr lang="en-US" dirty="0"/>
              <a:t>1 (</a:t>
            </a:r>
            <a:r>
              <a:rPr lang="en-US" dirty="0" err="1"/>
              <a:t>kagome</a:t>
            </a:r>
            <a:r>
              <a:rPr lang="en-US" dirty="0"/>
              <a:t>/demi‑regular).</a:t>
            </a:r>
          </a:p>
          <a:p>
            <a:r>
              <a:rPr lang="en-US" b="1" dirty="0"/>
              <a:t>Initiation site:</a:t>
            </a:r>
            <a:r>
              <a:rPr lang="en-US" dirty="0"/>
              <a:t> can be off the crack plane (</a:t>
            </a:r>
            <a:r>
              <a:rPr lang="en-US" dirty="0" err="1"/>
              <a:t>kagome</a:t>
            </a:r>
            <a:r>
              <a:rPr lang="en-US" dirty="0"/>
              <a:t>) due to elastic blunting regions extending O(10ℓ).</a:t>
            </a:r>
          </a:p>
          <a:p>
            <a:r>
              <a:rPr lang="en-US" b="1" dirty="0"/>
              <a:t>Mixed‑mode envelopes:</a:t>
            </a:r>
            <a:r>
              <a:rPr lang="en-US" dirty="0"/>
              <a:t> BL studies show topology‑dependent envelopes (near‑circular vs piecewise) and strong T‑stress effects.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400" dirty="0"/>
              <a:t>Fleck &amp; Qiu, 2007; Romijn &amp; Fleck, 2007; </a:t>
            </a:r>
            <a:r>
              <a:rPr lang="en-US" sz="1400" dirty="0" err="1"/>
              <a:t>Tankasala</a:t>
            </a:r>
            <a:r>
              <a:rPr lang="en-US" sz="1400" dirty="0"/>
              <a:t> et al., 2015; Omidi &amp; St‑Pierre, 2023.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378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A129F-02A6-A8BD-CFEF-6C35B5CD6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&amp; Boundary Conditions (Omidi &amp; St-Pierre, 2023)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D3FB9-CEC3-D553-9EE0-3DE1F470B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predict where the crack will propagate next by finding the first failing strut under a clean near-tip field.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2D beam-lattice of demi-regular topologies; unit-cell size ℓ vary relative density ρ​ by changing strut thickness t at fixed ℓ. Crack is a notch along x with the tip at the origin; crack faces are traction-free.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&amp; BCs: use a boundary-layer (BL) domain (big enough that the outer boundary doesn’t contaminate the tip). Prescribe the LEFM Mode I/II displacement field on the outer ring nodes: choose a mixite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ψ=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tan^−1(KII/KI) and ramp the amplitude K. This reproduces the near-tip solution inside the lattice.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&amp; material: Euler/Timoshenko beam elements; elastic-brittle struts with tensile strength (or failure strain). Local mesh refinement near the crack tip.</a:t>
            </a:r>
          </a:p>
        </p:txBody>
      </p:sp>
    </p:spTree>
    <p:extLst>
      <p:ext uri="{BB962C8B-B14F-4D97-AF65-F5344CB8AC3E}">
        <p14:creationId xmlns:p14="http://schemas.microsoft.com/office/powerpoint/2010/main" val="4135709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3B7BE-1531-E8EB-7411-902F76E55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6A227-01DF-63E0-147D-8069566DD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&amp; Boundary Conditions (Omidi &amp; St-Pierre, 2023)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2F61D-74C6-1E49-BA00-16D20D21C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ramp &amp; criterion: increase K at fixed ψ. After each increment, compute strut resultants; when any strut first reaches the strength criterion, record that increment as Kc​ and record that element’s location this is the predicted next tip (initiation site). 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Mixed-mode envelope: repeat across </a:t>
            </a:r>
            <a:r>
              <a:rPr lang="el-G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ψ∈[0∘,90∘]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Kc(</a:t>
            </a:r>
            <a:r>
              <a:rPr lang="el-G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ψ).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Annotate each envelope segment by the initiation site (on-plane vs off-plane). These labels map where the crack is expected to propagate from under each mixite.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&amp; extensions: this procedure targets initiation (first failure). For R-curves / growth, extend with progressive element removal/softening under the same BL setup.</a:t>
            </a:r>
          </a:p>
        </p:txBody>
      </p:sp>
    </p:spTree>
    <p:extLst>
      <p:ext uri="{BB962C8B-B14F-4D97-AF65-F5344CB8AC3E}">
        <p14:creationId xmlns:p14="http://schemas.microsoft.com/office/powerpoint/2010/main" val="3038366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8C8A8-DB3D-1BEE-2B22-9FF4FB9BE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87D04-C380-BE0C-AA64-F9B480AA0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Shaikeea</a:t>
            </a:r>
            <a:r>
              <a:rPr lang="en-US" dirty="0"/>
              <a:t> AJD et al., </a:t>
            </a:r>
            <a:r>
              <a:rPr lang="en-US" i="1" dirty="0"/>
              <a:t>Nature Materials</a:t>
            </a:r>
            <a:r>
              <a:rPr lang="en-US" dirty="0"/>
              <a:t> (2022): </a:t>
            </a:r>
            <a:r>
              <a:rPr lang="en-US" dirty="0">
                <a:hlinkClick r:id="rId2"/>
              </a:rPr>
              <a:t>article</a:t>
            </a:r>
            <a:endParaRPr lang="en-US" dirty="0"/>
          </a:p>
          <a:p>
            <a:r>
              <a:rPr lang="en-US" dirty="0"/>
              <a:t>Fleck NA &amp; Qiu X., </a:t>
            </a:r>
            <a:r>
              <a:rPr lang="en-US" i="1" dirty="0"/>
              <a:t>JMPS</a:t>
            </a:r>
            <a:r>
              <a:rPr lang="en-US" dirty="0"/>
              <a:t> (2007): </a:t>
            </a:r>
            <a:r>
              <a:rPr lang="en-US" dirty="0">
                <a:hlinkClick r:id="rId3"/>
              </a:rPr>
              <a:t>pdf</a:t>
            </a:r>
            <a:endParaRPr lang="en-US" dirty="0"/>
          </a:p>
          <a:p>
            <a:r>
              <a:rPr lang="en-US" dirty="0"/>
              <a:t>Romijn NER &amp; Fleck NA, </a:t>
            </a:r>
            <a:r>
              <a:rPr lang="en-US" i="1" dirty="0"/>
              <a:t>JMPS</a:t>
            </a:r>
            <a:r>
              <a:rPr lang="en-US" dirty="0"/>
              <a:t> (2007): </a:t>
            </a:r>
            <a:r>
              <a:rPr lang="en-US" dirty="0">
                <a:hlinkClick r:id="rId4"/>
              </a:rPr>
              <a:t>pdf</a:t>
            </a:r>
            <a:endParaRPr lang="en-US" dirty="0"/>
          </a:p>
          <a:p>
            <a:r>
              <a:rPr lang="en-US" dirty="0" err="1"/>
              <a:t>Tankasala</a:t>
            </a:r>
            <a:r>
              <a:rPr lang="en-US" dirty="0"/>
              <a:t> HC, Deshpande VS, Fleck NA, </a:t>
            </a:r>
            <a:r>
              <a:rPr lang="en-US" i="1" dirty="0"/>
              <a:t>J. Appl. Mech.</a:t>
            </a:r>
            <a:r>
              <a:rPr lang="en-US" dirty="0"/>
              <a:t> (2015): </a:t>
            </a:r>
            <a:r>
              <a:rPr lang="en-US" dirty="0">
                <a:hlinkClick r:id="rId5"/>
              </a:rPr>
              <a:t>pdf</a:t>
            </a:r>
            <a:endParaRPr lang="en-US" dirty="0"/>
          </a:p>
          <a:p>
            <a:r>
              <a:rPr lang="en-US" dirty="0"/>
              <a:t>Omidi M &amp; St‑Pierre L, </a:t>
            </a:r>
            <a:r>
              <a:rPr lang="en-US" i="1" dirty="0"/>
              <a:t>Scripta </a:t>
            </a:r>
            <a:r>
              <a:rPr lang="en-US" i="1" dirty="0" err="1"/>
              <a:t>Materialia</a:t>
            </a:r>
            <a:r>
              <a:rPr lang="en-US" dirty="0"/>
              <a:t> (2023, CC BY): </a:t>
            </a:r>
            <a:r>
              <a:rPr lang="en-US" dirty="0">
                <a:hlinkClick r:id="rId6"/>
              </a:rPr>
              <a:t>open page</a:t>
            </a:r>
            <a:endParaRPr lang="en-US" dirty="0"/>
          </a:p>
          <a:p>
            <a:r>
              <a:rPr lang="en-US" dirty="0"/>
              <a:t>Montemayor LC et al., </a:t>
            </a:r>
            <a:r>
              <a:rPr lang="en-US" i="1" dirty="0"/>
              <a:t>Sci. Reports</a:t>
            </a:r>
            <a:r>
              <a:rPr lang="en-US" dirty="0"/>
              <a:t> (2016): </a:t>
            </a:r>
            <a:r>
              <a:rPr lang="en-US" dirty="0">
                <a:hlinkClick r:id="rId7"/>
              </a:rPr>
              <a:t>article</a:t>
            </a:r>
            <a:endParaRPr lang="en-US" dirty="0"/>
          </a:p>
          <a:p>
            <a:r>
              <a:rPr lang="en-US" dirty="0"/>
              <a:t>Gao Z et al., </a:t>
            </a:r>
            <a:r>
              <a:rPr lang="en-US" i="1" dirty="0"/>
              <a:t>Nat. Communications</a:t>
            </a:r>
            <a:r>
              <a:rPr lang="en-US" dirty="0"/>
              <a:t> (2024): </a:t>
            </a:r>
            <a:r>
              <a:rPr lang="en-US" dirty="0">
                <a:hlinkClick r:id="rId8"/>
              </a:rPr>
              <a:t>article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458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942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Fracture of Lattice Metamaterials</vt:lpstr>
      <vt:lpstr>3D Toughness of Mechanical Metamaterials (Nature Materials, 2022) ~ Summary</vt:lpstr>
      <vt:lpstr>Bridge to 2D: What carries over? What changes?</vt:lpstr>
      <vt:lpstr>2D Fracture Modelling &amp; Approaches That Work</vt:lpstr>
      <vt:lpstr>What 2D Studies Consistently Find</vt:lpstr>
      <vt:lpstr>Setup &amp; Boundary Conditions (Omidi &amp; St-Pierre, 2023)</vt:lpstr>
      <vt:lpstr>Setup &amp; Boundary Conditions (Omidi &amp; St-Pierre, 2023) Cont.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Helder Rebelo</dc:creator>
  <cp:lastModifiedBy>Helder Rebelo</cp:lastModifiedBy>
  <cp:revision>2</cp:revision>
  <dcterms:created xsi:type="dcterms:W3CDTF">2025-09-04T17:29:58Z</dcterms:created>
  <dcterms:modified xsi:type="dcterms:W3CDTF">2025-09-04T18:53:16Z</dcterms:modified>
</cp:coreProperties>
</file>