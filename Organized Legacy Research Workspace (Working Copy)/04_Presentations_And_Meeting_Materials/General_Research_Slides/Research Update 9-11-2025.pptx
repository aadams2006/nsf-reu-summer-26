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60" r:id="rId5"/>
    <p:sldId id="261" r:id="rId6"/>
    <p:sldId id="262" r:id="rId7"/>
    <p:sldId id="259"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D34EA6-C870-4013-A9E9-3ED2FB0EB6E0}" v="43" dt="2025-09-11T12:50:47.257"/>
    <p1510:client id="{E262F36F-C819-45A0-A898-5899C7F5454C}" v="34" dt="2025-09-11T18:16:10.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95" d="100"/>
          <a:sy n="95" d="100"/>
        </p:scale>
        <p:origin x="120"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9/11/2025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32496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9/11/2025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7600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9/11/2025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22096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9/11/2025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6638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9/11/2025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29971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9/11/2025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53175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9/11/2025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151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9/11/2025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79995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9/11/2025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6126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9/11/2025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37117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9/11/2025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564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9/11/2025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06502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05899DC1-B99A-7E5D-6875-C1BC8F9E03B8}"/>
              </a:ext>
            </a:extLst>
          </p:cNvPr>
          <p:cNvPicPr>
            <a:picLocks noChangeAspect="1"/>
          </p:cNvPicPr>
          <p:nvPr/>
        </p:nvPicPr>
        <p:blipFill>
          <a:blip r:embed="rId2"/>
          <a:srcRect t="29687"/>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1134EAB8-493E-EDAE-F94C-8B02BF4677AA}"/>
              </a:ext>
            </a:extLst>
          </p:cNvPr>
          <p:cNvSpPr>
            <a:spLocks noGrp="1"/>
          </p:cNvSpPr>
          <p:nvPr>
            <p:ph type="ctrTitle"/>
          </p:nvPr>
        </p:nvSpPr>
        <p:spPr>
          <a:xfrm>
            <a:off x="313786" y="908651"/>
            <a:ext cx="5230366" cy="4005454"/>
          </a:xfrm>
        </p:spPr>
        <p:txBody>
          <a:bodyPr anchor="t">
            <a:normAutofit/>
          </a:bodyPr>
          <a:lstStyle/>
          <a:p>
            <a:r>
              <a:rPr lang="en-US" sz="6800"/>
              <a:t>Research Update</a:t>
            </a:r>
          </a:p>
        </p:txBody>
      </p:sp>
      <p:sp>
        <p:nvSpPr>
          <p:cNvPr id="3" name="Subtitle 2">
            <a:extLst>
              <a:ext uri="{FF2B5EF4-FFF2-40B4-BE49-F238E27FC236}">
                <a16:creationId xmlns:a16="http://schemas.microsoft.com/office/drawing/2014/main" id="{C4455536-E2E9-A674-2355-CD3E05AA5C6E}"/>
              </a:ext>
            </a:extLst>
          </p:cNvPr>
          <p:cNvSpPr>
            <a:spLocks noGrp="1"/>
          </p:cNvSpPr>
          <p:nvPr>
            <p:ph type="subTitle" idx="1"/>
          </p:nvPr>
        </p:nvSpPr>
        <p:spPr>
          <a:xfrm>
            <a:off x="313787" y="5050632"/>
            <a:ext cx="3793200" cy="1129888"/>
          </a:xfrm>
        </p:spPr>
        <p:txBody>
          <a:bodyPr anchor="b">
            <a:normAutofit/>
          </a:bodyPr>
          <a:lstStyle/>
          <a:p>
            <a:r>
              <a:rPr lang="en-US" sz="2200"/>
              <a:t>By: Helder Rebelo</a:t>
            </a:r>
          </a:p>
        </p:txBody>
      </p:sp>
      <p:cxnSp>
        <p:nvCxnSpPr>
          <p:cNvPr id="13" name="Straight Connector 12">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96320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DC89-A5E4-62C5-41BF-BE8D26C1353D}"/>
              </a:ext>
            </a:extLst>
          </p:cNvPr>
          <p:cNvSpPr>
            <a:spLocks noGrp="1"/>
          </p:cNvSpPr>
          <p:nvPr>
            <p:ph type="title"/>
          </p:nvPr>
        </p:nvSpPr>
        <p:spPr/>
        <p:txBody>
          <a:bodyPr>
            <a:normAutofit/>
          </a:bodyPr>
          <a:lstStyle/>
          <a:p>
            <a:r>
              <a:rPr kumimoji="0" lang="en-US" sz="4800" b="0" i="0" u="none" strike="noStrike" kern="1200" cap="none" spc="0" normalizeH="0" baseline="0" noProof="0" dirty="0">
                <a:ln>
                  <a:noFill/>
                </a:ln>
                <a:solidFill>
                  <a:srgbClr val="000000"/>
                </a:solidFill>
                <a:effectLst/>
                <a:uLnTx/>
                <a:uFillTx/>
                <a:latin typeface="Calisto MT"/>
                <a:ea typeface="+mn-ea"/>
                <a:cs typeface="+mn-cs"/>
              </a:rPr>
              <a:t>About Me</a:t>
            </a:r>
            <a:endParaRPr lang="en-US" sz="8000" dirty="0"/>
          </a:p>
        </p:txBody>
      </p:sp>
      <p:sp>
        <p:nvSpPr>
          <p:cNvPr id="3" name="Content Placeholder 2">
            <a:extLst>
              <a:ext uri="{FF2B5EF4-FFF2-40B4-BE49-F238E27FC236}">
                <a16:creationId xmlns:a16="http://schemas.microsoft.com/office/drawing/2014/main" id="{8BC420D3-79F6-4C9D-E5DC-57F76C627A26}"/>
              </a:ext>
            </a:extLst>
          </p:cNvPr>
          <p:cNvSpPr>
            <a:spLocks noGrp="1"/>
          </p:cNvSpPr>
          <p:nvPr>
            <p:ph idx="1"/>
          </p:nvPr>
        </p:nvSpPr>
        <p:spPr/>
        <p:txBody>
          <a:bodyPr/>
          <a:lstStyle/>
          <a:p>
            <a:r>
              <a:rPr lang="en-US" dirty="0"/>
              <a:t>Current Senior in Mechanical Engineering</a:t>
            </a:r>
          </a:p>
          <a:p>
            <a:r>
              <a:rPr lang="en-US" dirty="0"/>
              <a:t>Currently in the MS/BS NJIT Program</a:t>
            </a:r>
          </a:p>
          <a:p>
            <a:r>
              <a:rPr lang="en-US" dirty="0"/>
              <a:t>Currently a Process Engineer at CMC Steel</a:t>
            </a:r>
          </a:p>
          <a:p>
            <a:r>
              <a:rPr lang="en-US" dirty="0"/>
              <a:t>Have been conducting research with Professor Xing since January 2025</a:t>
            </a:r>
          </a:p>
          <a:p>
            <a:endParaRPr lang="en-US" dirty="0"/>
          </a:p>
          <a:p>
            <a:endParaRPr lang="en-US" dirty="0"/>
          </a:p>
        </p:txBody>
      </p:sp>
    </p:spTree>
    <p:extLst>
      <p:ext uri="{BB962C8B-B14F-4D97-AF65-F5344CB8AC3E}">
        <p14:creationId xmlns:p14="http://schemas.microsoft.com/office/powerpoint/2010/main" val="955025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564D-69BE-A7DA-58A5-8CB632C2705F}"/>
              </a:ext>
            </a:extLst>
          </p:cNvPr>
          <p:cNvSpPr>
            <a:spLocks noGrp="1"/>
          </p:cNvSpPr>
          <p:nvPr>
            <p:ph type="title"/>
          </p:nvPr>
        </p:nvSpPr>
        <p:spPr/>
        <p:txBody>
          <a:bodyPr/>
          <a:lstStyle/>
          <a:p>
            <a:r>
              <a:rPr kumimoji="0" lang="en-US" b="0" i="0" u="none" strike="noStrike" kern="1200" cap="none" spc="0" normalizeH="0" baseline="0" noProof="0" dirty="0">
                <a:ln>
                  <a:noFill/>
                </a:ln>
                <a:solidFill>
                  <a:srgbClr val="000000"/>
                </a:solidFill>
                <a:effectLst/>
                <a:uLnTx/>
                <a:uFillTx/>
                <a:latin typeface="Calisto MT"/>
                <a:ea typeface="+mn-ea"/>
                <a:cs typeface="+mn-cs"/>
              </a:rPr>
              <a:t>Where We Started</a:t>
            </a:r>
            <a:endParaRPr lang="en-US" dirty="0"/>
          </a:p>
        </p:txBody>
      </p:sp>
      <p:sp>
        <p:nvSpPr>
          <p:cNvPr id="3" name="Content Placeholder 2">
            <a:extLst>
              <a:ext uri="{FF2B5EF4-FFF2-40B4-BE49-F238E27FC236}">
                <a16:creationId xmlns:a16="http://schemas.microsoft.com/office/drawing/2014/main" id="{DB029E27-B80C-AE0E-768D-E9386DB6B84A}"/>
              </a:ext>
            </a:extLst>
          </p:cNvPr>
          <p:cNvSpPr>
            <a:spLocks noGrp="1"/>
          </p:cNvSpPr>
          <p:nvPr>
            <p:ph idx="1"/>
          </p:nvPr>
        </p:nvSpPr>
        <p:spPr/>
        <p:txBody>
          <a:bodyPr>
            <a:normAutofit/>
          </a:bodyPr>
          <a:lstStyle/>
          <a:p>
            <a:r>
              <a:rPr lang="en-US" sz="2400" dirty="0"/>
              <a:t>My goal was to computationally replicate the findings from the article "Three-dimensional architected materials and structures" by Greer and Deshpande.</a:t>
            </a:r>
          </a:p>
          <a:p>
            <a:endParaRPr lang="en-US" sz="2400" dirty="0"/>
          </a:p>
          <a:p>
            <a:endParaRPr lang="en-US" sz="2400" dirty="0"/>
          </a:p>
          <a:p>
            <a:r>
              <a:rPr lang="en-US" sz="2400" dirty="0"/>
              <a:t>Using the equation above, and the expected values of N=3 and A=1.5, based off research the article had conducted, I was able to confirm the results of my simulation.</a:t>
            </a:r>
          </a:p>
        </p:txBody>
      </p:sp>
      <p:pic>
        <p:nvPicPr>
          <p:cNvPr id="7" name="Picture 6">
            <a:extLst>
              <a:ext uri="{FF2B5EF4-FFF2-40B4-BE49-F238E27FC236}">
                <a16:creationId xmlns:a16="http://schemas.microsoft.com/office/drawing/2014/main" id="{A09AFE88-411D-1490-26CB-4D52C72E5149}"/>
              </a:ext>
            </a:extLst>
          </p:cNvPr>
          <p:cNvPicPr>
            <a:picLocks noChangeAspect="1"/>
          </p:cNvPicPr>
          <p:nvPr/>
        </p:nvPicPr>
        <p:blipFill>
          <a:blip r:embed="rId2"/>
          <a:stretch>
            <a:fillRect/>
          </a:stretch>
        </p:blipFill>
        <p:spPr>
          <a:xfrm>
            <a:off x="5522319" y="3240353"/>
            <a:ext cx="1047896" cy="743054"/>
          </a:xfrm>
          <a:prstGeom prst="rect">
            <a:avLst/>
          </a:prstGeom>
        </p:spPr>
      </p:pic>
    </p:spTree>
    <p:extLst>
      <p:ext uri="{BB962C8B-B14F-4D97-AF65-F5344CB8AC3E}">
        <p14:creationId xmlns:p14="http://schemas.microsoft.com/office/powerpoint/2010/main" val="2857847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E996-C906-8F4C-33D6-E29025109175}"/>
              </a:ext>
            </a:extLst>
          </p:cNvPr>
          <p:cNvSpPr>
            <a:spLocks noGrp="1"/>
          </p:cNvSpPr>
          <p:nvPr>
            <p:ph type="title"/>
          </p:nvPr>
        </p:nvSpPr>
        <p:spPr/>
        <p:txBody>
          <a:bodyPr/>
          <a:lstStyle/>
          <a:p>
            <a:r>
              <a:rPr lang="en-US" cap="none" spc="0" dirty="0">
                <a:solidFill>
                  <a:srgbClr val="000000"/>
                </a:solidFill>
                <a:latin typeface="Calisto MT"/>
              </a:rPr>
              <a:t>Where We Started Cont.</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87EA63-3772-653B-6A0E-748635E38103}"/>
                  </a:ext>
                </a:extLst>
              </p:cNvPr>
              <p:cNvSpPr>
                <a:spLocks noGrp="1"/>
              </p:cNvSpPr>
              <p:nvPr>
                <p:ph idx="1"/>
              </p:nvPr>
            </p:nvSpPr>
            <p:spPr/>
            <p:txBody>
              <a:bodyPr>
                <a:normAutofit/>
              </a:bodyPr>
              <a:lstStyle/>
              <a:p>
                <a:r>
                  <a:rPr lang="en-US" sz="1600" b="1" dirty="0"/>
                  <a:t>Model Creation</a:t>
                </a:r>
                <a:r>
                  <a:rPr lang="en-US" sz="1600" dirty="0"/>
                  <a:t>: I first generated a 2D digital model of a representative unit cell of a hexagonal lattice.</a:t>
                </a:r>
              </a:p>
              <a:p>
                <a:r>
                  <a:rPr lang="en-US" sz="1600" b="1" dirty="0"/>
                  <a:t>Periodic Boundary Conditions: </a:t>
                </a:r>
                <a:r>
                  <a:rPr lang="en-US" sz="1600" dirty="0"/>
                  <a:t>To simulate the behavior of an infinite lattice without having edge effects from a small sample size, I applied Periodic Boundary Conditions. This ensures that as the unit cell deforms, its opposite edges move in the same way, mimicking the behavior of surrounding cells in a continuous structure.</a:t>
                </a:r>
              </a:p>
              <a:p>
                <a:r>
                  <a:rPr lang="en-US" sz="1600" b="1" dirty="0"/>
                  <a:t>Simulation</a:t>
                </a:r>
                <a:r>
                  <a:rPr lang="en-US" sz="1600" dirty="0"/>
                  <a:t>: I applied a small uniaxial strain to the model to simulate being compressed or stretched. The simulation then calculated the resulting stress within the unit cell.</a:t>
                </a:r>
              </a:p>
              <a:p>
                <a:r>
                  <a:rPr lang="en-US" sz="1600" b="1" dirty="0"/>
                  <a:t>Data Collection</a:t>
                </a:r>
                <a:r>
                  <a:rPr lang="en-US" sz="1600" dirty="0"/>
                  <a:t>: I ran a series of simulations, systematically varying the relative density (ρ​) by changing the in-plane thickness of the lattice beams. For each density, I calculated the effective Young's Modulus (</a:t>
                </a:r>
                <a14:m>
                  <m:oMath xmlns:m="http://schemas.openxmlformats.org/officeDocument/2006/math">
                    <m:acc>
                      <m:accPr>
                        <m:chr m:val="̅"/>
                        <m:ctrlPr>
                          <a:rPr lang="en-US" sz="1600" i="1" dirty="0" smtClean="0">
                            <a:latin typeface="Cambria Math" panose="02040503050406030204" pitchFamily="18" charset="0"/>
                          </a:rPr>
                        </m:ctrlPr>
                      </m:accPr>
                      <m:e>
                        <m:r>
                          <a:rPr lang="en-US" sz="1600" b="0" i="1" dirty="0" smtClean="0">
                            <a:latin typeface="Cambria Math" panose="02040503050406030204" pitchFamily="18" charset="0"/>
                          </a:rPr>
                          <m:t>𝐸</m:t>
                        </m:r>
                      </m:e>
                    </m:acc>
                  </m:oMath>
                </a14:m>
                <a:r>
                  <a:rPr lang="en-US" sz="1600" dirty="0"/>
                  <a:t>) from the stress-strain data.</a:t>
                </a:r>
              </a:p>
              <a:p>
                <a:r>
                  <a:rPr lang="en-US" sz="1600" b="1" dirty="0"/>
                  <a:t>Analysis</a:t>
                </a:r>
                <a:r>
                  <a:rPr lang="en-US" sz="1600" dirty="0"/>
                  <a:t>: To find the exponents, I plotted the normalized stiffness (E/Es​) versus the relative density (ρ​) on a log-log scale. According to the scaling law, the data should form a straight line. (Slope=N, y-intercept=A). </a:t>
                </a:r>
              </a:p>
            </p:txBody>
          </p:sp>
        </mc:Choice>
        <mc:Fallback>
          <p:sp>
            <p:nvSpPr>
              <p:cNvPr id="3" name="Content Placeholder 2">
                <a:extLst>
                  <a:ext uri="{FF2B5EF4-FFF2-40B4-BE49-F238E27FC236}">
                    <a16:creationId xmlns:a16="http://schemas.microsoft.com/office/drawing/2014/main" id="{B587EA63-3772-653B-6A0E-748635E38103}"/>
                  </a:ext>
                </a:extLst>
              </p:cNvPr>
              <p:cNvSpPr>
                <a:spLocks noGrp="1" noRot="1" noChangeAspect="1" noMove="1" noResize="1" noEditPoints="1" noAdjustHandles="1" noChangeArrowheads="1" noChangeShapeType="1" noTextEdit="1"/>
              </p:cNvSpPr>
              <p:nvPr>
                <p:ph idx="1"/>
              </p:nvPr>
            </p:nvSpPr>
            <p:spPr>
              <a:blipFill>
                <a:blip r:embed="rId2"/>
                <a:stretch>
                  <a:fillRect l="-228" t="-326" r="-513"/>
                </a:stretch>
              </a:blipFill>
            </p:spPr>
            <p:txBody>
              <a:bodyPr/>
              <a:lstStyle/>
              <a:p>
                <a:r>
                  <a:rPr lang="en-US">
                    <a:noFill/>
                  </a:rPr>
                  <a:t> </a:t>
                </a:r>
              </a:p>
            </p:txBody>
          </p:sp>
        </mc:Fallback>
      </mc:AlternateContent>
    </p:spTree>
    <p:extLst>
      <p:ext uri="{BB962C8B-B14F-4D97-AF65-F5344CB8AC3E}">
        <p14:creationId xmlns:p14="http://schemas.microsoft.com/office/powerpoint/2010/main" val="3467651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D9F4DE-171B-AD15-10C7-C698DC417BB4}"/>
              </a:ext>
            </a:extLst>
          </p:cNvPr>
          <p:cNvSpPr>
            <a:spLocks noGrp="1"/>
          </p:cNvSpPr>
          <p:nvPr>
            <p:ph type="title"/>
          </p:nvPr>
        </p:nvSpPr>
        <p:spPr>
          <a:xfrm>
            <a:off x="695326" y="4742029"/>
            <a:ext cx="10765912" cy="925950"/>
          </a:xfrm>
        </p:spPr>
        <p:txBody>
          <a:bodyPr vert="horz" lIns="91440" tIns="45720" rIns="91440" bIns="45720" rtlCol="0" anchor="t">
            <a:normAutofit/>
          </a:bodyPr>
          <a:lstStyle/>
          <a:p>
            <a:r>
              <a:rPr kumimoji="0" lang="en-US" sz="5400" b="0" i="0" u="none" strike="noStrike" normalizeH="0" noProof="0">
                <a:ln>
                  <a:noFill/>
                </a:ln>
                <a:effectLst/>
                <a:uLnTx/>
                <a:uFillTx/>
              </a:rPr>
              <a:t>Results</a:t>
            </a:r>
            <a:endParaRPr lang="en-US" sz="5400"/>
          </a:p>
        </p:txBody>
      </p:sp>
      <p:pic>
        <p:nvPicPr>
          <p:cNvPr id="5" name="Content Placeholder 4">
            <a:extLst>
              <a:ext uri="{FF2B5EF4-FFF2-40B4-BE49-F238E27FC236}">
                <a16:creationId xmlns:a16="http://schemas.microsoft.com/office/drawing/2014/main" id="{DD386701-1A1A-5BAF-DD2C-5ED4B16F48EB}"/>
              </a:ext>
            </a:extLst>
          </p:cNvPr>
          <p:cNvPicPr>
            <a:picLocks noGrp="1" noChangeAspect="1"/>
          </p:cNvPicPr>
          <p:nvPr>
            <p:ph idx="1"/>
          </p:nvPr>
        </p:nvPicPr>
        <p:blipFill>
          <a:blip r:embed="rId2"/>
          <a:stretch>
            <a:fillRect/>
          </a:stretch>
        </p:blipFill>
        <p:spPr>
          <a:xfrm>
            <a:off x="1339530" y="723899"/>
            <a:ext cx="4595142" cy="3584211"/>
          </a:xfrm>
          <a:prstGeom prst="rect">
            <a:avLst/>
          </a:prstGeom>
        </p:spPr>
      </p:pic>
      <p:pic>
        <p:nvPicPr>
          <p:cNvPr id="7" name="Picture 6">
            <a:extLst>
              <a:ext uri="{FF2B5EF4-FFF2-40B4-BE49-F238E27FC236}">
                <a16:creationId xmlns:a16="http://schemas.microsoft.com/office/drawing/2014/main" id="{FD6E19A7-13C3-E50B-5077-21EC7A8676FA}"/>
              </a:ext>
            </a:extLst>
          </p:cNvPr>
          <p:cNvPicPr>
            <a:picLocks noChangeAspect="1"/>
          </p:cNvPicPr>
          <p:nvPr/>
        </p:nvPicPr>
        <p:blipFill>
          <a:blip r:embed="rId3"/>
          <a:stretch>
            <a:fillRect/>
          </a:stretch>
        </p:blipFill>
        <p:spPr>
          <a:xfrm>
            <a:off x="6272812" y="723899"/>
            <a:ext cx="3409925" cy="3584211"/>
          </a:xfrm>
          <a:prstGeom prst="rect">
            <a:avLst/>
          </a:prstGeom>
        </p:spPr>
      </p:pic>
      <p:cxnSp>
        <p:nvCxnSpPr>
          <p:cNvPr id="18" name="Straight Connector 17">
            <a:extLst>
              <a:ext uri="{FF2B5EF4-FFF2-40B4-BE49-F238E27FC236}">
                <a16:creationId xmlns:a16="http://schemas.microsoft.com/office/drawing/2014/main" id="{DC36F877-5419-44C1-A2CD-376BDDDC3E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667603"/>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9730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4144-818F-F8BE-C4A2-2EF1FE8946E2}"/>
              </a:ext>
            </a:extLst>
          </p:cNvPr>
          <p:cNvSpPr>
            <a:spLocks noGrp="1"/>
          </p:cNvSpPr>
          <p:nvPr>
            <p:ph type="title"/>
          </p:nvPr>
        </p:nvSpPr>
        <p:spPr/>
        <p:txBody>
          <a:bodyPr/>
          <a:lstStyle/>
          <a:p>
            <a:r>
              <a:rPr lang="en-US" dirty="0"/>
              <a:t>Crack Propagation </a:t>
            </a:r>
          </a:p>
        </p:txBody>
      </p:sp>
      <p:sp>
        <p:nvSpPr>
          <p:cNvPr id="3" name="Content Placeholder 2">
            <a:extLst>
              <a:ext uri="{FF2B5EF4-FFF2-40B4-BE49-F238E27FC236}">
                <a16:creationId xmlns:a16="http://schemas.microsoft.com/office/drawing/2014/main" id="{E94801CC-B09A-32D2-5808-019E6D2C1D0D}"/>
              </a:ext>
            </a:extLst>
          </p:cNvPr>
          <p:cNvSpPr>
            <a:spLocks noGrp="1"/>
          </p:cNvSpPr>
          <p:nvPr>
            <p:ph idx="1"/>
          </p:nvPr>
        </p:nvSpPr>
        <p:spPr/>
        <p:txBody>
          <a:bodyPr>
            <a:normAutofit lnSpcReduction="10000"/>
          </a:bodyPr>
          <a:lstStyle/>
          <a:p>
            <a:r>
              <a:rPr lang="en-US" sz="1400" b="1" dirty="0"/>
              <a:t>Background &amp; Objective:</a:t>
            </a:r>
            <a:r>
              <a:rPr lang="en-US" sz="1400" dirty="0"/>
              <a:t> We are investigating the fracture mechanics of a 2D hexagonal lattice, a bending-dominated architected metamaterial. As classical fracture theory is insufficient for such discrete structures, our objective is to computationally determine its fracture toughness by simulating crack propagation, following the framework of </a:t>
            </a:r>
            <a:r>
              <a:rPr lang="en-US" sz="1400" dirty="0" err="1"/>
              <a:t>Shaikeea</a:t>
            </a:r>
            <a:r>
              <a:rPr lang="en-US" sz="1400" dirty="0"/>
              <a:t> &amp; Deshpande (2022).</a:t>
            </a:r>
          </a:p>
          <a:p>
            <a:r>
              <a:rPr lang="en-US" sz="1400" b="1" dirty="0"/>
              <a:t>Mode I Simulation (Tensile):</a:t>
            </a:r>
            <a:r>
              <a:rPr lang="en-US" sz="1400" dirty="0"/>
              <a:t> To determine the tensile fracture toughness (</a:t>
            </a:r>
            <a:r>
              <a:rPr lang="en-US" sz="1400" dirty="0" err="1"/>
              <a:t>KIc</a:t>
            </a:r>
            <a:r>
              <a:rPr lang="en-US" sz="1400" dirty="0"/>
              <a:t>​), a Mode I loading condition will be simulated. This involves applying a uniform </a:t>
            </a:r>
            <a:r>
              <a:rPr lang="en-US" sz="1400" b="1" dirty="0"/>
              <a:t>vertical displacement</a:t>
            </a:r>
            <a:r>
              <a:rPr lang="en-US" sz="1400" dirty="0"/>
              <a:t> to the top boundary while the bottom boundary is fully constrained, placing the pre-crack under a pure tensile stress field.</a:t>
            </a:r>
          </a:p>
          <a:p>
            <a:r>
              <a:rPr lang="en-US" sz="1400" b="1" dirty="0"/>
              <a:t>Mode II Simulation (Shear):</a:t>
            </a:r>
            <a:r>
              <a:rPr lang="en-US" sz="1400" dirty="0"/>
              <a:t> To find the in-plane shear toughness (</a:t>
            </a:r>
            <a:r>
              <a:rPr lang="en-US" sz="1400" dirty="0" err="1"/>
              <a:t>KIIc</a:t>
            </a:r>
            <a:r>
              <a:rPr lang="en-US" sz="1400" dirty="0"/>
              <a:t>​), a Mode II condition will be simulated. This is achieved by applying a uniform </a:t>
            </a:r>
            <a:r>
              <a:rPr lang="en-US" sz="1400" b="1" dirty="0"/>
              <a:t>horizontal displacement</a:t>
            </a:r>
            <a:r>
              <a:rPr lang="en-US" sz="1400" dirty="0"/>
              <a:t> to the top boundary, with the bottom boundary fixed, inducing a shear stress state across the crack plane.</a:t>
            </a:r>
          </a:p>
          <a:p>
            <a:r>
              <a:rPr lang="en-US" sz="1400" b="1" dirty="0"/>
              <a:t>Data </a:t>
            </a:r>
            <a:r>
              <a:rPr lang="en-US" sz="1400" b="1" dirty="0" err="1"/>
              <a:t>Colection</a:t>
            </a:r>
            <a:r>
              <a:rPr lang="en-US" sz="1400" dirty="0"/>
              <a:t>: The simulation will identify the far-field stress (σ ∞​ ) at the critical point of first strut failure at the crack tip. The fracture toughness will then be calculated using the LEFM relation.</a:t>
            </a:r>
          </a:p>
          <a:p>
            <a:r>
              <a:rPr lang="en-US" sz="1400" b="1" dirty="0"/>
              <a:t>Validation Against Theory:</a:t>
            </a:r>
            <a:r>
              <a:rPr lang="en-US" sz="1400" dirty="0"/>
              <a:t> The simulation will be run for multiple relative densities (ρ​) to generate a series of toughness values. We will validate our results against the article's scaling law (</a:t>
            </a:r>
            <a:r>
              <a:rPr lang="en-US" sz="1400" dirty="0" err="1"/>
              <a:t>KIc</a:t>
            </a:r>
            <a:r>
              <a:rPr lang="en-US" sz="1400" dirty="0"/>
              <a:t>​ ∝ ρ​^3/2) by plotting the data on a log-log scale, which should yield a linear fit with a slope of approximately 1.5.</a:t>
            </a:r>
          </a:p>
        </p:txBody>
      </p:sp>
    </p:spTree>
    <p:extLst>
      <p:ext uri="{BB962C8B-B14F-4D97-AF65-F5344CB8AC3E}">
        <p14:creationId xmlns:p14="http://schemas.microsoft.com/office/powerpoint/2010/main" val="3543669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D4B01-8B14-52D4-5702-B1E1F7220D90}"/>
              </a:ext>
            </a:extLst>
          </p:cNvPr>
          <p:cNvSpPr>
            <a:spLocks noGrp="1"/>
          </p:cNvSpPr>
          <p:nvPr>
            <p:ph type="title"/>
          </p:nvPr>
        </p:nvSpPr>
        <p:spPr/>
        <p:txBody>
          <a:bodyPr/>
          <a:lstStyle/>
          <a:p>
            <a:r>
              <a:rPr lang="en-US" dirty="0"/>
              <a:t>Modes of simulation</a:t>
            </a:r>
          </a:p>
        </p:txBody>
      </p:sp>
      <p:pic>
        <p:nvPicPr>
          <p:cNvPr id="5" name="Content Placeholder 4">
            <a:extLst>
              <a:ext uri="{FF2B5EF4-FFF2-40B4-BE49-F238E27FC236}">
                <a16:creationId xmlns:a16="http://schemas.microsoft.com/office/drawing/2014/main" id="{1212365F-C0A3-BD93-9579-0EBD6600FBFA}"/>
              </a:ext>
            </a:extLst>
          </p:cNvPr>
          <p:cNvPicPr>
            <a:picLocks noGrp="1" noChangeAspect="1"/>
          </p:cNvPicPr>
          <p:nvPr>
            <p:ph idx="1"/>
          </p:nvPr>
        </p:nvPicPr>
        <p:blipFill>
          <a:blip r:embed="rId2"/>
          <a:stretch>
            <a:fillRect/>
          </a:stretch>
        </p:blipFill>
        <p:spPr>
          <a:xfrm>
            <a:off x="1720254" y="2541678"/>
            <a:ext cx="2975571" cy="3261051"/>
          </a:xfrm>
          <a:prstGeom prst="rect">
            <a:avLst/>
          </a:prstGeom>
        </p:spPr>
      </p:pic>
      <p:pic>
        <p:nvPicPr>
          <p:cNvPr id="6" name="Content Placeholder 4">
            <a:extLst>
              <a:ext uri="{FF2B5EF4-FFF2-40B4-BE49-F238E27FC236}">
                <a16:creationId xmlns:a16="http://schemas.microsoft.com/office/drawing/2014/main" id="{E5D6BA0E-35D4-C57F-5800-EB3CB7C1F4A4}"/>
              </a:ext>
            </a:extLst>
          </p:cNvPr>
          <p:cNvPicPr>
            <a:picLocks noChangeAspect="1"/>
          </p:cNvPicPr>
          <p:nvPr/>
        </p:nvPicPr>
        <p:blipFill>
          <a:blip r:embed="rId2"/>
          <a:stretch>
            <a:fillRect/>
          </a:stretch>
        </p:blipFill>
        <p:spPr>
          <a:xfrm>
            <a:off x="6617041" y="2541678"/>
            <a:ext cx="2975571" cy="3261051"/>
          </a:xfrm>
          <a:prstGeom prst="rect">
            <a:avLst/>
          </a:prstGeom>
        </p:spPr>
      </p:pic>
      <p:cxnSp>
        <p:nvCxnSpPr>
          <p:cNvPr id="12" name="Straight Connector 11">
            <a:extLst>
              <a:ext uri="{FF2B5EF4-FFF2-40B4-BE49-F238E27FC236}">
                <a16:creationId xmlns:a16="http://schemas.microsoft.com/office/drawing/2014/main" id="{5D1A137A-39C6-75D2-AFDC-F9FAA8E6BAE1}"/>
              </a:ext>
            </a:extLst>
          </p:cNvPr>
          <p:cNvCxnSpPr/>
          <p:nvPr/>
        </p:nvCxnSpPr>
        <p:spPr>
          <a:xfrm>
            <a:off x="1887984" y="5767526"/>
            <a:ext cx="2695853"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4E50D74B-6CB6-BE7A-9662-F53410B2AB90}"/>
              </a:ext>
            </a:extLst>
          </p:cNvPr>
          <p:cNvCxnSpPr/>
          <p:nvPr/>
        </p:nvCxnSpPr>
        <p:spPr>
          <a:xfrm>
            <a:off x="1887984" y="2581835"/>
            <a:ext cx="2695853" cy="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F4119BCE-7E74-7F64-6AA4-E7E895B27BB5}"/>
              </a:ext>
            </a:extLst>
          </p:cNvPr>
          <p:cNvCxnSpPr/>
          <p:nvPr/>
        </p:nvCxnSpPr>
        <p:spPr>
          <a:xfrm flipV="1">
            <a:off x="3921651" y="2383797"/>
            <a:ext cx="0" cy="19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D4DABF1-A1B7-C9D3-1946-4566D362DF36}"/>
              </a:ext>
            </a:extLst>
          </p:cNvPr>
          <p:cNvCxnSpPr/>
          <p:nvPr/>
        </p:nvCxnSpPr>
        <p:spPr>
          <a:xfrm flipV="1">
            <a:off x="3347095" y="2383797"/>
            <a:ext cx="0" cy="19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7BDD245-8B43-4654-D39A-A95D24611366}"/>
              </a:ext>
            </a:extLst>
          </p:cNvPr>
          <p:cNvCxnSpPr/>
          <p:nvPr/>
        </p:nvCxnSpPr>
        <p:spPr>
          <a:xfrm flipV="1">
            <a:off x="2796988" y="2383797"/>
            <a:ext cx="0" cy="19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2590AC9-F996-E7A8-788E-25A346A0503E}"/>
              </a:ext>
            </a:extLst>
          </p:cNvPr>
          <p:cNvCxnSpPr/>
          <p:nvPr/>
        </p:nvCxnSpPr>
        <p:spPr>
          <a:xfrm flipV="1">
            <a:off x="2163759" y="2383797"/>
            <a:ext cx="0" cy="19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CB4FE4F-C45B-A372-CA69-F00BCB1F91FE}"/>
              </a:ext>
            </a:extLst>
          </p:cNvPr>
          <p:cNvCxnSpPr/>
          <p:nvPr/>
        </p:nvCxnSpPr>
        <p:spPr>
          <a:xfrm flipV="1">
            <a:off x="4356844" y="2383797"/>
            <a:ext cx="0" cy="195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E94C9FAE-ED59-40EA-ABBF-A009A3CFA7D8}"/>
              </a:ext>
            </a:extLst>
          </p:cNvPr>
          <p:cNvSpPr/>
          <p:nvPr/>
        </p:nvSpPr>
        <p:spPr>
          <a:xfrm>
            <a:off x="9441950" y="5767526"/>
            <a:ext cx="89043" cy="95593"/>
          </a:xfrm>
          <a:prstGeom prst="triangl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42EE3E54-A212-D843-A5D7-187401D1F1A3}"/>
              </a:ext>
            </a:extLst>
          </p:cNvPr>
          <p:cNvCxnSpPr/>
          <p:nvPr/>
        </p:nvCxnSpPr>
        <p:spPr>
          <a:xfrm>
            <a:off x="6785811" y="2579390"/>
            <a:ext cx="2980394"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6CCA4323-2F95-233D-722F-0C6A9D58BCB9}"/>
              </a:ext>
            </a:extLst>
          </p:cNvPr>
          <p:cNvCxnSpPr/>
          <p:nvPr/>
        </p:nvCxnSpPr>
        <p:spPr>
          <a:xfrm flipH="1">
            <a:off x="6552054" y="5767526"/>
            <a:ext cx="2939143"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E93A5B62-2EB4-778D-81CD-4A6C6718E5D5}"/>
              </a:ext>
            </a:extLst>
          </p:cNvPr>
          <p:cNvSpPr txBox="1"/>
          <p:nvPr/>
        </p:nvSpPr>
        <p:spPr>
          <a:xfrm>
            <a:off x="1720254" y="1819507"/>
            <a:ext cx="2975567" cy="369332"/>
          </a:xfrm>
          <a:prstGeom prst="rect">
            <a:avLst/>
          </a:prstGeom>
          <a:noFill/>
        </p:spPr>
        <p:txBody>
          <a:bodyPr wrap="square" rtlCol="0">
            <a:spAutoFit/>
          </a:bodyPr>
          <a:lstStyle/>
          <a:p>
            <a:pPr algn="ctr"/>
            <a:r>
              <a:rPr lang="en-US" dirty="0"/>
              <a:t>Mode I</a:t>
            </a:r>
          </a:p>
        </p:txBody>
      </p:sp>
      <p:sp>
        <p:nvSpPr>
          <p:cNvPr id="29" name="TextBox 28">
            <a:extLst>
              <a:ext uri="{FF2B5EF4-FFF2-40B4-BE49-F238E27FC236}">
                <a16:creationId xmlns:a16="http://schemas.microsoft.com/office/drawing/2014/main" id="{1BAF2A5E-D775-F099-0EEE-CE98221AE392}"/>
              </a:ext>
            </a:extLst>
          </p:cNvPr>
          <p:cNvSpPr txBox="1"/>
          <p:nvPr/>
        </p:nvSpPr>
        <p:spPr>
          <a:xfrm>
            <a:off x="6617041" y="1819507"/>
            <a:ext cx="2975567" cy="369332"/>
          </a:xfrm>
          <a:prstGeom prst="rect">
            <a:avLst/>
          </a:prstGeom>
          <a:noFill/>
        </p:spPr>
        <p:txBody>
          <a:bodyPr wrap="square" rtlCol="0">
            <a:spAutoFit/>
          </a:bodyPr>
          <a:lstStyle/>
          <a:p>
            <a:pPr algn="ctr"/>
            <a:r>
              <a:rPr lang="en-US" dirty="0"/>
              <a:t>Mode II</a:t>
            </a:r>
          </a:p>
        </p:txBody>
      </p:sp>
      <p:sp>
        <p:nvSpPr>
          <p:cNvPr id="30" name="Isosceles Triangle 29">
            <a:extLst>
              <a:ext uri="{FF2B5EF4-FFF2-40B4-BE49-F238E27FC236}">
                <a16:creationId xmlns:a16="http://schemas.microsoft.com/office/drawing/2014/main" id="{7A397C1D-02E0-350F-A2EE-A8FD1DE70B32}"/>
              </a:ext>
            </a:extLst>
          </p:cNvPr>
          <p:cNvSpPr/>
          <p:nvPr/>
        </p:nvSpPr>
        <p:spPr>
          <a:xfrm>
            <a:off x="4550787" y="5767526"/>
            <a:ext cx="89043" cy="95593"/>
          </a:xfrm>
          <a:prstGeom prst="triangl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1794BF99-5CFA-F153-B489-9EA77B30BC78}"/>
              </a:ext>
            </a:extLst>
          </p:cNvPr>
          <p:cNvSpPr/>
          <p:nvPr/>
        </p:nvSpPr>
        <p:spPr>
          <a:xfrm>
            <a:off x="1887984" y="5785128"/>
            <a:ext cx="89043" cy="95593"/>
          </a:xfrm>
          <a:prstGeom prst="triangle">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9053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CEAF4-1E60-7965-6B44-374DC147EAD4}"/>
              </a:ext>
            </a:extLst>
          </p:cNvPr>
          <p:cNvSpPr>
            <a:spLocks noGrp="1"/>
          </p:cNvSpPr>
          <p:nvPr>
            <p:ph type="title"/>
          </p:nvPr>
        </p:nvSpPr>
        <p:spPr/>
        <p:txBody>
          <a:bodyPr/>
          <a:lstStyle/>
          <a:p>
            <a:r>
              <a:rPr lang="en-US" dirty="0"/>
              <a:t>Why this is important</a:t>
            </a:r>
          </a:p>
        </p:txBody>
      </p:sp>
      <p:sp>
        <p:nvSpPr>
          <p:cNvPr id="3" name="Content Placeholder 2">
            <a:extLst>
              <a:ext uri="{FF2B5EF4-FFF2-40B4-BE49-F238E27FC236}">
                <a16:creationId xmlns:a16="http://schemas.microsoft.com/office/drawing/2014/main" id="{4C848C25-712C-2994-C75A-0F3C46AE16D7}"/>
              </a:ext>
            </a:extLst>
          </p:cNvPr>
          <p:cNvSpPr>
            <a:spLocks noGrp="1"/>
          </p:cNvSpPr>
          <p:nvPr>
            <p:ph idx="1"/>
          </p:nvPr>
        </p:nvSpPr>
        <p:spPr/>
        <p:txBody>
          <a:bodyPr>
            <a:normAutofit/>
          </a:bodyPr>
          <a:lstStyle/>
          <a:p>
            <a:r>
              <a:rPr lang="en-US" sz="1800" b="1" dirty="0"/>
              <a:t>Medical Implants and Braces:</a:t>
            </a:r>
            <a:r>
              <a:rPr lang="en-US" sz="1800" dirty="0"/>
              <a:t> We can 3D print custom hip implants, spinal cages, and bone grafts with an internal architecture that mimics human bone. This makes them lightweight, strong, and encourages the patient's own bone to grow into the implant for a better, more permanent bond. The designed toughness is critical to ensure the implant never fails under the stress of daily life.</a:t>
            </a:r>
          </a:p>
          <a:p>
            <a:r>
              <a:rPr lang="en-US" sz="1800" b="1" dirty="0"/>
              <a:t>Protective Gear and Helmets:</a:t>
            </a:r>
            <a:r>
              <a:rPr lang="en-US" sz="1800" dirty="0"/>
              <a:t> The ability of these structures to crush in a controlled way makes them perfect for absorbing energy from impacts. This research enables the design of next-generation helmets, body armor, and vehicle bumpers that are far lighter and more effective at protecting a person or a vehicle from a collision or projectile.</a:t>
            </a:r>
          </a:p>
          <a:p>
            <a:r>
              <a:rPr lang="en-US" sz="1800" b="1" dirty="0"/>
              <a:t>Robotics and High-Performance Machines:</a:t>
            </a:r>
            <a:r>
              <a:rPr lang="en-US" sz="1800" dirty="0"/>
              <a:t> Lightweighting is crucial for robots. Lighter robotic arms can move faster, be more precise, and use less energy. The engineered toughness also means they can better withstand accidental collisions or the stresses of repetitive, high-speed tasks.</a:t>
            </a:r>
          </a:p>
          <a:p>
            <a:endParaRPr lang="en-US" sz="1800" dirty="0"/>
          </a:p>
        </p:txBody>
      </p:sp>
    </p:spTree>
    <p:extLst>
      <p:ext uri="{BB962C8B-B14F-4D97-AF65-F5344CB8AC3E}">
        <p14:creationId xmlns:p14="http://schemas.microsoft.com/office/powerpoint/2010/main" val="723140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1F376-D9A2-A728-9F76-348B6D501CC1}"/>
              </a:ext>
            </a:extLst>
          </p:cNvPr>
          <p:cNvSpPr>
            <a:spLocks noGrp="1"/>
          </p:cNvSpPr>
          <p:nvPr>
            <p:ph type="title"/>
          </p:nvPr>
        </p:nvSpPr>
        <p:spPr/>
        <p:txBody>
          <a:bodyPr/>
          <a:lstStyle/>
          <a:p>
            <a:r>
              <a:rPr lang="en-US" dirty="0"/>
              <a:t>Thank you all</a:t>
            </a:r>
          </a:p>
        </p:txBody>
      </p:sp>
    </p:spTree>
    <p:extLst>
      <p:ext uri="{BB962C8B-B14F-4D97-AF65-F5344CB8AC3E}">
        <p14:creationId xmlns:p14="http://schemas.microsoft.com/office/powerpoint/2010/main" val="413162282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297</TotalTime>
  <Words>779</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Calisto MT</vt:lpstr>
      <vt:lpstr>Cambria Math</vt:lpstr>
      <vt:lpstr>Univers Condensed</vt:lpstr>
      <vt:lpstr>ChronicleVTI</vt:lpstr>
      <vt:lpstr>Research Update</vt:lpstr>
      <vt:lpstr>About Me</vt:lpstr>
      <vt:lpstr>Where We Started</vt:lpstr>
      <vt:lpstr>Where We Started Cont.</vt:lpstr>
      <vt:lpstr>Results</vt:lpstr>
      <vt:lpstr>Crack Propagation </vt:lpstr>
      <vt:lpstr>Modes of simulation</vt:lpstr>
      <vt:lpstr>Why this is important</vt:lpstr>
      <vt:lpstr>Thank you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Helder Rebelo</dc:creator>
  <cp:lastModifiedBy>Helder Rebelo</cp:lastModifiedBy>
  <cp:revision>2</cp:revision>
  <dcterms:created xsi:type="dcterms:W3CDTF">2025-09-11T12:25:14Z</dcterms:created>
  <dcterms:modified xsi:type="dcterms:W3CDTF">2025-09-11T18:18:06Z</dcterms:modified>
</cp:coreProperties>
</file>