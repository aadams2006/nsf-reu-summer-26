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108960"/>
            <a:ext cx="1106424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37160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Voronoi Lattice Simulation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548640" y="246888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Walkthrough &amp; Pipeline Flowchart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32918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Vornoi_Lattice_w_Data___1_.py  |  Abaqus Scripting API  |  GNN Dataset Generation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60350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3,000 Simulations  ·  Randomness 0.0 → 0.5  ·  Outputs: node features, adjacency, stiffness, stress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73152"/>
            <a:ext cx="11612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Flowchart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274320" y="566928"/>
            <a:ext cx="11612880" cy="274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777240"/>
            <a:ext cx="2331720" cy="2377440"/>
          </a:xfrm>
          <a:prstGeom prst="roundRect">
            <a:avLst>
              <a:gd name="adj" fmla="val 4706"/>
            </a:avLst>
          </a:prstGeom>
          <a:solidFill>
            <a:srgbClr val="152336"/>
          </a:solidFill>
          <a:ln w="19050">
            <a:solidFill>
              <a:srgbClr val="00B4D8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4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68680"/>
            <a:ext cx="411480" cy="41148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96B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68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41248" y="8686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Parameters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399032"/>
            <a:ext cx="2148840" cy="22860"/>
          </a:xfrm>
          <a:prstGeom prst="rect">
            <a:avLst/>
          </a:prstGeom>
          <a:solidFill>
            <a:srgbClr val="0096B7"/>
          </a:solidFill>
          <a:ln w="12700">
            <a:solidFill>
              <a:srgbClr val="0096B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463040"/>
            <a:ext cx="210312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0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geometry: cell_size, n</a:t>
            </a:r>
            <a:endParaRPr lang="en-US" sz="1000" dirty="0"/>
          </a:p>
          <a:p>
            <a:pPr algn="l" marL="342900" indent="-342900">
              <a:buSzPct val="100000"/>
              <a:buChar char="•"/>
            </a:pPr>
            <a:r>
              <a:rPr lang="en-US" sz="10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Randomness sweep: 0.0 → 0.5 (3,000 sims)</a:t>
            </a:r>
            <a:endParaRPr lang="en-US" sz="1000" dirty="0"/>
          </a:p>
          <a:p>
            <a:pPr algn="l" marL="342900" indent="-342900">
              <a:buSzPct val="100000"/>
              <a:buChar char="•"/>
            </a:pPr>
            <a:r>
              <a:rPr lang="en-US" sz="10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Material: E = 2,000 MPa, ν = 0.30</a:t>
            </a:r>
            <a:endParaRPr lang="en-US" sz="1000" dirty="0"/>
          </a:p>
          <a:p>
            <a:pPr algn="l" marL="342900" indent="-342900">
              <a:buSzPct val="100000"/>
              <a:buChar char="•"/>
            </a:pPr>
            <a:r>
              <a:rPr lang="en-US" sz="10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Cross-section: rect_a × rect_b</a:t>
            </a:r>
            <a:endParaRPr lang="en-US" sz="1000" dirty="0"/>
          </a:p>
          <a:p>
            <a:pPr algn="l" marL="342900" indent="-342900">
              <a:buSzPct val="100000"/>
              <a:buChar char="•"/>
            </a:pPr>
            <a:r>
              <a:rPr lang="en-US" sz="10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size = 0.30 mm</a:t>
            </a:r>
            <a:endParaRPr lang="en-US" sz="1000" dirty="0"/>
          </a:p>
          <a:p>
            <a:pPr algn="l" marL="342900" indent="-342900">
              <a:buSzPct val="100000"/>
              <a:buChar char="•"/>
            </a:pPr>
            <a:r>
              <a:rPr lang="en-US" sz="10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Displacement = 5.0 mm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834640" y="777240"/>
            <a:ext cx="2331720" cy="2377440"/>
          </a:xfrm>
          <a:prstGeom prst="roundRect">
            <a:avLst>
              <a:gd name="adj" fmla="val 4706"/>
            </a:avLst>
          </a:prstGeom>
          <a:solidFill>
            <a:srgbClr val="152336"/>
          </a:solidFill>
          <a:ln w="19050">
            <a:solidFill>
              <a:srgbClr val="00B4D8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4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926080" y="868680"/>
            <a:ext cx="411480" cy="41148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96B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26080" y="868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01568" y="8686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Point Generation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926080" y="1399032"/>
            <a:ext cx="2148840" cy="22860"/>
          </a:xfrm>
          <a:prstGeom prst="rect">
            <a:avLst/>
          </a:prstGeom>
          <a:solidFill>
            <a:srgbClr val="0096B7"/>
          </a:solidFill>
          <a:ln w="12700">
            <a:solidFill>
              <a:srgbClr val="0096B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71800" y="1463040"/>
            <a:ext cx="210312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0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Hexagonal base grid (n × n)</a:t>
            </a:r>
            <a:endParaRPr lang="en-US" sz="1000" dirty="0"/>
          </a:p>
          <a:p>
            <a:pPr algn="l" marL="342900" indent="-342900">
              <a:buSzPct val="100000"/>
              <a:buChar char="•"/>
            </a:pPr>
            <a:r>
              <a:rPr lang="en-US" sz="10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Odd columns staggered ½ cell_height</a:t>
            </a:r>
            <a:endParaRPr lang="en-US" sz="1000" dirty="0"/>
          </a:p>
          <a:p>
            <a:pPr algn="l" marL="342900" indent="-342900">
              <a:buSzPct val="100000"/>
              <a:buChar char="•"/>
            </a:pPr>
            <a:r>
              <a:rPr lang="en-US" sz="10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Interior pts jittered ±randomness × cell_size</a:t>
            </a:r>
            <a:endParaRPr lang="en-US" sz="1000" dirty="0"/>
          </a:p>
          <a:p>
            <a:pPr algn="l" marL="342900" indent="-342900">
              <a:buSzPct val="100000"/>
              <a:buChar char="•"/>
            </a:pPr>
            <a:r>
              <a:rPr lang="en-US" sz="10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pts fixed perpendicular (clean BCs)</a:t>
            </a:r>
            <a:endParaRPr lang="en-US" sz="1000" dirty="0"/>
          </a:p>
          <a:p>
            <a:pPr algn="l" marL="342900" indent="-342900">
              <a:buSzPct val="100000"/>
              <a:buChar char="•"/>
            </a:pPr>
            <a:r>
              <a:rPr lang="en-US" sz="10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bottom / top / interior rows</a:t>
            </a:r>
            <a:endParaRPr lang="en-US" sz="1000" dirty="0"/>
          </a:p>
          <a:p>
            <a:pPr algn="l" marL="342900" indent="-342900">
              <a:buSzPct val="100000"/>
              <a:buChar char="•"/>
            </a:pPr>
            <a:r>
              <a:rPr lang="en-US" sz="10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 boundary rows to exact y values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394960" y="777240"/>
            <a:ext cx="2331720" cy="2377440"/>
          </a:xfrm>
          <a:prstGeom prst="roundRect">
            <a:avLst>
              <a:gd name="adj" fmla="val 4706"/>
            </a:avLst>
          </a:prstGeom>
          <a:solidFill>
            <a:srgbClr val="152336"/>
          </a:solidFill>
          <a:ln w="19050">
            <a:solidFill>
              <a:srgbClr val="00B4D8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4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0" y="868680"/>
            <a:ext cx="411480" cy="41148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96B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0" y="868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961888" y="8686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Segments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0" y="1399032"/>
            <a:ext cx="2148840" cy="22860"/>
          </a:xfrm>
          <a:prstGeom prst="rect">
            <a:avLst/>
          </a:prstGeom>
          <a:solidFill>
            <a:srgbClr val="0096B7"/>
          </a:solidFill>
          <a:ln w="12700">
            <a:solidFill>
              <a:srgbClr val="0096B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32120" y="1463040"/>
            <a:ext cx="210312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0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seed: find neighbours within 2.5×cell_size</a:t>
            </a:r>
            <a:endParaRPr lang="en-US" sz="1000" dirty="0"/>
          </a:p>
          <a:p>
            <a:pPr algn="l" marL="342900" indent="-342900">
              <a:buSzPct val="100000"/>
              <a:buChar char="•"/>
            </a:pPr>
            <a:r>
              <a:rPr lang="en-US" sz="10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by distance; cap at 12 candidates</a:t>
            </a:r>
            <a:endParaRPr lang="en-US" sz="1000" dirty="0"/>
          </a:p>
          <a:p>
            <a:pPr algn="l" marL="342900" indent="-342900">
              <a:buSzPct val="100000"/>
              <a:buChar char="•"/>
            </a:pPr>
            <a:r>
              <a:rPr lang="en-US" sz="10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3–6 connections randomly (stochastic)</a:t>
            </a:r>
            <a:endParaRPr lang="en-US" sz="1000" dirty="0"/>
          </a:p>
          <a:p>
            <a:pPr algn="l" marL="342900" indent="-342900">
              <a:buSzPct val="100000"/>
              <a:buChar char="•"/>
            </a:pPr>
            <a:r>
              <a:rPr lang="en-US" sz="10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via seg_key (canonical, deduplicated)</a:t>
            </a:r>
            <a:endParaRPr lang="en-US" sz="1000" dirty="0"/>
          </a:p>
          <a:p>
            <a:pPr algn="l" marL="342900" indent="-342900">
              <a:buSzPct val="100000"/>
              <a:buChar char="•"/>
            </a:pPr>
            <a:r>
              <a:rPr lang="en-US" sz="10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structural variety per randomness level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955280" y="777240"/>
            <a:ext cx="2331720" cy="2377440"/>
          </a:xfrm>
          <a:prstGeom prst="roundRect">
            <a:avLst>
              <a:gd name="adj" fmla="val 4706"/>
            </a:avLst>
          </a:prstGeom>
          <a:solidFill>
            <a:srgbClr val="152336"/>
          </a:solidFill>
          <a:ln w="19050">
            <a:solidFill>
              <a:srgbClr val="00B4D8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4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046720" y="868680"/>
            <a:ext cx="411480" cy="41148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96B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46720" y="868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522208" y="8686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Geometry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8046720" y="1399032"/>
            <a:ext cx="2148840" cy="22860"/>
          </a:xfrm>
          <a:prstGeom prst="rect">
            <a:avLst/>
          </a:prstGeom>
          <a:solidFill>
            <a:srgbClr val="0096B7"/>
          </a:solidFill>
          <a:ln w="12700">
            <a:solidFill>
              <a:srgbClr val="0096B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092440" y="1463040"/>
            <a:ext cx="210312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0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crossing beams (O(n²) while-loop)</a:t>
            </a:r>
            <a:endParaRPr lang="en-US" sz="1000" dirty="0"/>
          </a:p>
          <a:p>
            <a:pPr algn="l" marL="342900" indent="-342900">
              <a:buSzPct val="100000"/>
              <a:buChar char="•"/>
            </a:pPr>
            <a:r>
              <a:rPr lang="en-US" sz="10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Priority: remove non-boundary / longer beam</a:t>
            </a:r>
            <a:endParaRPr lang="en-US" sz="1000" dirty="0"/>
          </a:p>
          <a:p>
            <a:pPr algn="l" marL="342900" indent="-342900">
              <a:buSzPct val="100000"/>
              <a:buChar char="•"/>
            </a:pPr>
            <a:r>
              <a:rPr lang="en-US" sz="10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 side walls: keep prob = 0.45</a:t>
            </a:r>
            <a:endParaRPr lang="en-US" sz="1000" dirty="0"/>
          </a:p>
          <a:p>
            <a:pPr algn="l" marL="342900" indent="-342900">
              <a:buSzPct val="100000"/>
              <a:buChar char="•"/>
            </a:pPr>
            <a:r>
              <a:rPr lang="en-US" sz="10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corner nodes (degree ≤ 1 → add connector)</a:t>
            </a:r>
            <a:endParaRPr lang="en-US" sz="1000" dirty="0"/>
          </a:p>
          <a:p>
            <a:pPr algn="l" marL="342900" indent="-342900">
              <a:buSzPct val="100000"/>
              <a:buChar char="•"/>
            </a:pPr>
            <a:r>
              <a:rPr lang="en-US" sz="10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deduplication via seg_key dict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955280" y="3749040"/>
            <a:ext cx="2331720" cy="2377440"/>
          </a:xfrm>
          <a:prstGeom prst="roundRect">
            <a:avLst>
              <a:gd name="adj" fmla="val 4706"/>
            </a:avLst>
          </a:prstGeom>
          <a:solidFill>
            <a:srgbClr val="152336"/>
          </a:solidFill>
          <a:ln w="19050">
            <a:solidFill>
              <a:srgbClr val="00B4D8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4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046720" y="3840480"/>
            <a:ext cx="411480" cy="41148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96B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046720" y="3840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522208" y="38404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Abaqus Model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8046720" y="4370832"/>
            <a:ext cx="2148840" cy="22860"/>
          </a:xfrm>
          <a:prstGeom prst="rect">
            <a:avLst/>
          </a:prstGeom>
          <a:solidFill>
            <a:srgbClr val="0096B7"/>
          </a:solidFill>
          <a:ln w="12700">
            <a:solidFill>
              <a:srgbClr val="0096B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092440" y="4434840"/>
            <a:ext cx="210312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0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Sketch beams as Lines → wire Part</a:t>
            </a:r>
            <a:endParaRPr lang="en-US" sz="1000" dirty="0"/>
          </a:p>
          <a:p>
            <a:pPr algn="l" marL="342900" indent="-342900">
              <a:buSzPct val="100000"/>
              <a:buChar char="•"/>
            </a:pPr>
            <a:r>
              <a:rPr lang="en-US" sz="10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linear elastic material</a:t>
            </a:r>
            <a:endParaRPr lang="en-US" sz="1000" dirty="0"/>
          </a:p>
          <a:p>
            <a:pPr algn="l" marL="342900" indent="-342900">
              <a:buSzPct val="100000"/>
              <a:buChar char="•"/>
            </a:pPr>
            <a:r>
              <a:rPr lang="en-US" sz="10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Rectangular beam section (B21 elements)</a:t>
            </a:r>
            <a:endParaRPr lang="en-US" sz="1000" dirty="0"/>
          </a:p>
          <a:p>
            <a:pPr algn="l" marL="342900" indent="-342900">
              <a:buSzPct val="100000"/>
              <a:buChar char="•"/>
            </a:pPr>
            <a:r>
              <a:rPr lang="en-US" sz="10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&amp; mesh at 0.30 mm</a:t>
            </a:r>
            <a:endParaRPr lang="en-US" sz="1000" dirty="0"/>
          </a:p>
          <a:p>
            <a:pPr algn="l" marL="342900" indent="-342900">
              <a:buSzPct val="100000"/>
              <a:buChar char="•"/>
            </a:pPr>
            <a:r>
              <a:rPr lang="en-US" sz="10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BCs: pin BL, roller bottom, disp top</a:t>
            </a:r>
            <a:endParaRPr lang="en-US" sz="1000" dirty="0"/>
          </a:p>
          <a:p>
            <a:pPr algn="l" marL="342900" indent="-342900">
              <a:buSzPct val="100000"/>
              <a:buChar char="•"/>
            </a:pPr>
            <a:r>
              <a:rPr lang="en-US" sz="10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S, U, RF, COORD, SF output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394960" y="3749040"/>
            <a:ext cx="2331720" cy="2377440"/>
          </a:xfrm>
          <a:prstGeom prst="roundRect">
            <a:avLst>
              <a:gd name="adj" fmla="val 4706"/>
            </a:avLst>
          </a:prstGeom>
          <a:solidFill>
            <a:srgbClr val="152336"/>
          </a:solidFill>
          <a:ln w="19050">
            <a:solidFill>
              <a:srgbClr val="00B4D8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4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5486400" y="3840480"/>
            <a:ext cx="411480" cy="41148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96B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86400" y="3840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961888" y="38404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FEA Job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5486400" y="4370832"/>
            <a:ext cx="2148840" cy="22860"/>
          </a:xfrm>
          <a:prstGeom prst="rect">
            <a:avLst/>
          </a:prstGeom>
          <a:solidFill>
            <a:srgbClr val="0096B7"/>
          </a:solidFill>
          <a:ln w="12700">
            <a:solidFill>
              <a:srgbClr val="0096B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32120" y="4434840"/>
            <a:ext cx="210312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0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mdb.Job() → submit(consistencyChecking=OFF)</a:t>
            </a:r>
            <a:endParaRPr lang="en-US" sz="1000" dirty="0"/>
          </a:p>
          <a:p>
            <a:pPr algn="l" marL="342900" indent="-342900">
              <a:buSzPct val="100000"/>
              <a:buChar char="•"/>
            </a:pPr>
            <a:r>
              <a:rPr lang="en-US" sz="10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waitForCompletion() blocks until done</a:t>
            </a:r>
            <a:endParaRPr lang="en-US" sz="1000" dirty="0"/>
          </a:p>
          <a:p>
            <a:pPr algn="l" marL="342900" indent="-342900">
              <a:buSzPct val="100000"/>
              <a:buChar char="•"/>
            </a:pPr>
            <a:r>
              <a:rPr lang="en-US" sz="10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nlgeom=OFF (linear static)</a:t>
            </a:r>
            <a:endParaRPr lang="en-US" sz="1000" dirty="0"/>
          </a:p>
          <a:p>
            <a:pPr algn="l" marL="342900" indent="-342900">
              <a:buSzPct val="100000"/>
              <a:buChar char="•"/>
            </a:pPr>
            <a:r>
              <a:rPr lang="en-US" sz="10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Abaqus increment (linear)</a:t>
            </a:r>
            <a:endParaRPr lang="en-US" sz="1000" dirty="0"/>
          </a:p>
          <a:p>
            <a:pPr algn="l" marL="342900" indent="-342900">
              <a:buSzPct val="100000"/>
              <a:buChar char="•"/>
            </a:pPr>
            <a:r>
              <a:rPr lang="en-US" sz="10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Outputs: job_name.odb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2834640" y="3749040"/>
            <a:ext cx="2331720" cy="2377440"/>
          </a:xfrm>
          <a:prstGeom prst="roundRect">
            <a:avLst>
              <a:gd name="adj" fmla="val 4706"/>
            </a:avLst>
          </a:prstGeom>
          <a:solidFill>
            <a:srgbClr val="152336"/>
          </a:solidFill>
          <a:ln w="19050">
            <a:solidFill>
              <a:srgbClr val="00B4D8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4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2926080" y="3840480"/>
            <a:ext cx="411480" cy="41148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96B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926080" y="3840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3401568" y="38404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Post-Processing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2926080" y="4370832"/>
            <a:ext cx="2148840" cy="22860"/>
          </a:xfrm>
          <a:prstGeom prst="rect">
            <a:avLst/>
          </a:prstGeom>
          <a:solidFill>
            <a:srgbClr val="0096B7"/>
          </a:solidFill>
          <a:ln w="12700">
            <a:solidFill>
              <a:srgbClr val="0096B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971800" y="4434840"/>
            <a:ext cx="210312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0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node_features.csv — joint (x,y) coords</a:t>
            </a:r>
            <a:endParaRPr lang="en-US" sz="1000" dirty="0"/>
          </a:p>
          <a:p>
            <a:pPr algn="l" marL="342900" indent="-342900">
              <a:buSzPct val="100000"/>
              <a:buChar char="•"/>
            </a:pPr>
            <a:r>
              <a:rPr lang="en-US" sz="10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adjacency_area.csv — binary N×N adj. matrix</a:t>
            </a:r>
            <a:endParaRPr lang="en-US" sz="1000" dirty="0"/>
          </a:p>
          <a:p>
            <a:pPr algn="l" marL="342900" indent="-342900">
              <a:buSzPct val="100000"/>
              <a:buChar char="•"/>
            </a:pPr>
            <a:r>
              <a:rPr lang="en-US" sz="10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lattice_stiffness.csv — k = ΣRF₂ / δ (N/mm)</a:t>
            </a:r>
            <a:endParaRPr lang="en-US" sz="1000" dirty="0"/>
          </a:p>
          <a:p>
            <a:pPr algn="l" marL="342900" indent="-342900">
              <a:buSzPct val="100000"/>
              <a:buChar char="•"/>
            </a:pPr>
            <a:r>
              <a:rPr lang="en-US" sz="10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stress_matrix.csv — max S11 per beam (N×N)</a:t>
            </a:r>
            <a:endParaRPr lang="en-US" sz="1000" dirty="0"/>
          </a:p>
          <a:p>
            <a:pPr algn="l" marL="342900" indent="-342900">
              <a:buSzPct val="100000"/>
              <a:buChar char="•"/>
            </a:pPr>
            <a:r>
              <a:rPr lang="en-US" sz="10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Bounding-box prefilter for speed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274320" y="3749040"/>
            <a:ext cx="2331720" cy="2377440"/>
          </a:xfrm>
          <a:prstGeom prst="roundRect">
            <a:avLst>
              <a:gd name="adj" fmla="val 4706"/>
            </a:avLst>
          </a:prstGeom>
          <a:solidFill>
            <a:srgbClr val="152336"/>
          </a:solidFill>
          <a:ln w="19050">
            <a:solidFill>
              <a:srgbClr val="00B4D8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4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365760" y="3840480"/>
            <a:ext cx="411480" cy="41148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96B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65760" y="3840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841248" y="38404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Cleanup &amp; Loop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365760" y="4370832"/>
            <a:ext cx="2148840" cy="22860"/>
          </a:xfrm>
          <a:prstGeom prst="rect">
            <a:avLst/>
          </a:prstGeom>
          <a:solidFill>
            <a:srgbClr val="0096B7"/>
          </a:solidFill>
          <a:ln w="12700">
            <a:solidFill>
              <a:srgbClr val="0096B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11480" y="4434840"/>
            <a:ext cx="210312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0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ODB (release file handles)</a:t>
            </a:r>
            <a:endParaRPr lang="en-US" sz="1000" dirty="0"/>
          </a:p>
          <a:p>
            <a:pPr algn="l" marL="342900" indent="-342900">
              <a:buSzPct val="100000"/>
              <a:buChar char="•"/>
            </a:pPr>
            <a:r>
              <a:rPr lang="en-US" sz="10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Restore working directory (os.chdir)</a:t>
            </a:r>
            <a:endParaRPr lang="en-US" sz="1000" dirty="0"/>
          </a:p>
          <a:p>
            <a:pPr algn="l" marL="342900" indent="-342900">
              <a:buSzPct val="100000"/>
              <a:buChar char="•"/>
            </a:pPr>
            <a:r>
              <a:rPr lang="en-US" sz="10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 sim_idx → next randomness value</a:t>
            </a:r>
            <a:endParaRPr lang="en-US" sz="1000" dirty="0"/>
          </a:p>
          <a:p>
            <a:pPr algn="l" marL="342900" indent="-342900">
              <a:buSzPct val="100000"/>
              <a:buChar char="•"/>
            </a:pPr>
            <a:r>
              <a:rPr lang="en-US" sz="10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3,000 times</a:t>
            </a:r>
            <a:endParaRPr lang="en-US" sz="1000" dirty="0"/>
          </a:p>
          <a:p>
            <a:pPr algn="l" marL="342900" indent="-342900">
              <a:buSzPct val="100000"/>
              <a:buChar char="•"/>
            </a:pPr>
            <a:r>
              <a:rPr lang="en-US" sz="10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ALL SIMULATIONS COMPLETE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2606040" y="1965960"/>
            <a:ext cx="228600" cy="0"/>
          </a:xfrm>
          <a:prstGeom prst="line">
            <a:avLst/>
          </a:prstGeom>
          <a:noFill/>
          <a:ln w="31750">
            <a:solidFill>
              <a:srgbClr val="48CAE4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2697480" y="1874520"/>
            <a:ext cx="137160" cy="91440"/>
          </a:xfrm>
          <a:prstGeom prst="line">
            <a:avLst/>
          </a:prstGeom>
          <a:noFill/>
          <a:ln w="31750">
            <a:solidFill>
              <a:srgbClr val="48CAE4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2697480" y="2057400"/>
            <a:ext cx="137160" cy="-91440"/>
          </a:xfrm>
          <a:prstGeom prst="line">
            <a:avLst/>
          </a:prstGeom>
          <a:noFill/>
          <a:ln w="31750">
            <a:solidFill>
              <a:srgbClr val="48CAE4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166360" y="1965960"/>
            <a:ext cx="228600" cy="0"/>
          </a:xfrm>
          <a:prstGeom prst="line">
            <a:avLst/>
          </a:prstGeom>
          <a:noFill/>
          <a:ln w="31750">
            <a:solidFill>
              <a:srgbClr val="48CAE4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5257800" y="1874520"/>
            <a:ext cx="137160" cy="91440"/>
          </a:xfrm>
          <a:prstGeom prst="line">
            <a:avLst/>
          </a:prstGeom>
          <a:noFill/>
          <a:ln w="31750">
            <a:solidFill>
              <a:srgbClr val="48CAE4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5257800" y="2057400"/>
            <a:ext cx="137160" cy="-91440"/>
          </a:xfrm>
          <a:prstGeom prst="line">
            <a:avLst/>
          </a:prstGeom>
          <a:noFill/>
          <a:ln w="31750">
            <a:solidFill>
              <a:srgbClr val="48CAE4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7726680" y="1965960"/>
            <a:ext cx="228600" cy="0"/>
          </a:xfrm>
          <a:prstGeom prst="line">
            <a:avLst/>
          </a:prstGeom>
          <a:noFill/>
          <a:ln w="31750">
            <a:solidFill>
              <a:srgbClr val="48CAE4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7818120" y="1874520"/>
            <a:ext cx="137160" cy="91440"/>
          </a:xfrm>
          <a:prstGeom prst="line">
            <a:avLst/>
          </a:prstGeom>
          <a:noFill/>
          <a:ln w="31750">
            <a:solidFill>
              <a:srgbClr val="48CAE4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7818120" y="2057400"/>
            <a:ext cx="137160" cy="-91440"/>
          </a:xfrm>
          <a:prstGeom prst="line">
            <a:avLst/>
          </a:prstGeom>
          <a:noFill/>
          <a:ln w="31750">
            <a:solidFill>
              <a:srgbClr val="48CAE4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9121140" y="3154680"/>
            <a:ext cx="0" cy="594360"/>
          </a:xfrm>
          <a:prstGeom prst="line">
            <a:avLst/>
          </a:prstGeom>
          <a:noFill/>
          <a:ln w="31750">
            <a:solidFill>
              <a:srgbClr val="48CAE4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9029700" y="3611880"/>
            <a:ext cx="91440" cy="137160"/>
          </a:xfrm>
          <a:prstGeom prst="line">
            <a:avLst/>
          </a:prstGeom>
          <a:noFill/>
          <a:ln w="31750">
            <a:solidFill>
              <a:srgbClr val="48CAE4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9212580" y="3611880"/>
            <a:ext cx="-91440" cy="137160"/>
          </a:xfrm>
          <a:prstGeom prst="line">
            <a:avLst/>
          </a:prstGeom>
          <a:noFill/>
          <a:ln w="31750">
            <a:solidFill>
              <a:srgbClr val="48CAE4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7726680" y="4937760"/>
            <a:ext cx="228600" cy="0"/>
          </a:xfrm>
          <a:prstGeom prst="line">
            <a:avLst/>
          </a:prstGeom>
          <a:noFill/>
          <a:ln w="31750">
            <a:solidFill>
              <a:srgbClr val="48CAE4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7726680" y="4846320"/>
            <a:ext cx="137160" cy="91440"/>
          </a:xfrm>
          <a:prstGeom prst="line">
            <a:avLst/>
          </a:prstGeom>
          <a:noFill/>
          <a:ln w="31750">
            <a:solidFill>
              <a:srgbClr val="48CAE4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7726680" y="5029200"/>
            <a:ext cx="137160" cy="-91440"/>
          </a:xfrm>
          <a:prstGeom prst="line">
            <a:avLst/>
          </a:prstGeom>
          <a:noFill/>
          <a:ln w="31750">
            <a:solidFill>
              <a:srgbClr val="48CAE4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5166360" y="4937760"/>
            <a:ext cx="228600" cy="0"/>
          </a:xfrm>
          <a:prstGeom prst="line">
            <a:avLst/>
          </a:prstGeom>
          <a:noFill/>
          <a:ln w="31750">
            <a:solidFill>
              <a:srgbClr val="48CAE4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5166360" y="4846320"/>
            <a:ext cx="137160" cy="91440"/>
          </a:xfrm>
          <a:prstGeom prst="line">
            <a:avLst/>
          </a:prstGeom>
          <a:noFill/>
          <a:ln w="31750">
            <a:solidFill>
              <a:srgbClr val="48CAE4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5166360" y="5029200"/>
            <a:ext cx="137160" cy="-91440"/>
          </a:xfrm>
          <a:prstGeom prst="line">
            <a:avLst/>
          </a:prstGeom>
          <a:noFill/>
          <a:ln w="31750">
            <a:solidFill>
              <a:srgbClr val="48CAE4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2606040" y="4937760"/>
            <a:ext cx="228600" cy="0"/>
          </a:xfrm>
          <a:prstGeom prst="line">
            <a:avLst/>
          </a:prstGeom>
          <a:noFill/>
          <a:ln w="31750">
            <a:solidFill>
              <a:srgbClr val="48CAE4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2606040" y="4846320"/>
            <a:ext cx="137160" cy="91440"/>
          </a:xfrm>
          <a:prstGeom prst="line">
            <a:avLst/>
          </a:prstGeom>
          <a:noFill/>
          <a:ln w="31750">
            <a:solidFill>
              <a:srgbClr val="48CAE4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2606040" y="5029200"/>
            <a:ext cx="137160" cy="-91440"/>
          </a:xfrm>
          <a:prstGeom prst="line">
            <a:avLst/>
          </a:prstGeom>
          <a:noFill/>
          <a:ln w="31750">
            <a:solidFill>
              <a:srgbClr val="48CAE4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548640" y="6199632"/>
            <a:ext cx="1783080" cy="347472"/>
          </a:xfrm>
          <a:prstGeom prst="rect">
            <a:avLst>
              <a:gd name="adj" fmla="val 15789"/>
            </a:avLst>
          </a:prstGeom>
          <a:solidFill>
            <a:srgbClr val="1A3A5C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548640" y="6199632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↺  Next sim_idx (loop)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91440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Files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612648"/>
            <a:ext cx="11430000" cy="274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822960"/>
            <a:ext cx="2697480" cy="4937760"/>
          </a:xfrm>
          <a:prstGeom prst="roundRect">
            <a:avLst>
              <a:gd name="adj" fmla="val 4068"/>
            </a:avLst>
          </a:prstGeom>
          <a:solidFill>
            <a:srgbClr val="152336"/>
          </a:solidFill>
          <a:ln w="1905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29768" y="932688"/>
            <a:ext cx="2478024" cy="658368"/>
          </a:xfrm>
          <a:prstGeom prst="roundRect">
            <a:avLst>
              <a:gd name="adj" fmla="val 11111"/>
            </a:avLst>
          </a:prstGeom>
          <a:solidFill>
            <a:srgbClr val="00B4D8"/>
          </a:solidFill>
          <a:ln w="12700">
            <a:solidFill>
              <a:srgbClr val="0096B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9768" y="932688"/>
            <a:ext cx="24780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node_features.csv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29768" y="1664208"/>
            <a:ext cx="2478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rows × 3 cols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" y="2075688"/>
            <a:ext cx="2478024" cy="22860"/>
          </a:xfrm>
          <a:prstGeom prst="rect">
            <a:avLst/>
          </a:prstGeom>
          <a:solidFill>
            <a:srgbClr val="0096B7"/>
          </a:solidFill>
          <a:ln w="12700">
            <a:solidFill>
              <a:srgbClr val="0096B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9768" y="2130552"/>
            <a:ext cx="2478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GNN node feature matrix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9768" y="2560320"/>
            <a:ext cx="2478024" cy="22860"/>
          </a:xfrm>
          <a:prstGeom prst="rect">
            <a:avLst/>
          </a:prstGeom>
          <a:solidFill>
            <a:srgbClr val="0096B7"/>
          </a:solidFill>
          <a:ln w="12700">
            <a:solidFill>
              <a:srgbClr val="0096B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" y="2651760"/>
            <a:ext cx="2404872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node_id, x, y per joint</a:t>
            </a:r>
            <a:endParaRPr lang="en-US" sz="1100" dirty="0"/>
          </a:p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varies per simulation</a:t>
            </a:r>
            <a:endParaRPr lang="en-US" sz="1100" dirty="0"/>
          </a:p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coords = primary node features</a:t>
            </a:r>
            <a:endParaRPr lang="en-US" sz="1100" dirty="0"/>
          </a:p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GNN loader must handle variable 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0" y="822960"/>
            <a:ext cx="2697480" cy="4937760"/>
          </a:xfrm>
          <a:prstGeom prst="roundRect">
            <a:avLst>
              <a:gd name="adj" fmla="val 4068"/>
            </a:avLst>
          </a:prstGeom>
          <a:solidFill>
            <a:srgbClr val="152336"/>
          </a:solidFill>
          <a:ln w="1905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310128" y="932688"/>
            <a:ext cx="2478024" cy="658368"/>
          </a:xfrm>
          <a:prstGeom prst="roundRect">
            <a:avLst>
              <a:gd name="adj" fmla="val 11111"/>
            </a:avLst>
          </a:prstGeom>
          <a:solidFill>
            <a:srgbClr val="00B4D8"/>
          </a:solidFill>
          <a:ln w="12700">
            <a:solidFill>
              <a:srgbClr val="0096B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10128" y="932688"/>
            <a:ext cx="24780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adjacency_area.csv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10128" y="1664208"/>
            <a:ext cx="2478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(N+1) × (N+1)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310128" y="2075688"/>
            <a:ext cx="2478024" cy="22860"/>
          </a:xfrm>
          <a:prstGeom prst="rect">
            <a:avLst/>
          </a:prstGeom>
          <a:solidFill>
            <a:srgbClr val="0096B7"/>
          </a:solidFill>
          <a:ln w="12700">
            <a:solidFill>
              <a:srgbClr val="0096B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10128" y="2130552"/>
            <a:ext cx="2478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GNN edge connectivity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310128" y="2560320"/>
            <a:ext cx="2478024" cy="22860"/>
          </a:xfrm>
          <a:prstGeom prst="rect">
            <a:avLst/>
          </a:prstGeom>
          <a:solidFill>
            <a:srgbClr val="0096B7"/>
          </a:solidFill>
          <a:ln w="12700">
            <a:solidFill>
              <a:srgbClr val="0096B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64992" y="2651760"/>
            <a:ext cx="2404872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symmetric matrix</a:t>
            </a:r>
            <a:endParaRPr lang="en-US" sz="1100" dirty="0"/>
          </a:p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[i][j] = 1 if beam exists</a:t>
            </a:r>
            <a:endParaRPr lang="en-US" sz="1100" dirty="0"/>
          </a:p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Row/col headers are node_ids</a:t>
            </a:r>
            <a:endParaRPr lang="en-US" sz="1100" dirty="0"/>
          </a:p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Undirected graph representation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080760" y="822960"/>
            <a:ext cx="2697480" cy="4937760"/>
          </a:xfrm>
          <a:prstGeom prst="roundRect">
            <a:avLst>
              <a:gd name="adj" fmla="val 4068"/>
            </a:avLst>
          </a:prstGeom>
          <a:solidFill>
            <a:srgbClr val="152336"/>
          </a:solidFill>
          <a:ln w="1905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90488" y="932688"/>
            <a:ext cx="2478024" cy="658368"/>
          </a:xfrm>
          <a:prstGeom prst="roundRect">
            <a:avLst>
              <a:gd name="adj" fmla="val 11111"/>
            </a:avLst>
          </a:prstGeom>
          <a:solidFill>
            <a:srgbClr val="00B4D8"/>
          </a:solidFill>
          <a:ln w="12700">
            <a:solidFill>
              <a:srgbClr val="0096B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90488" y="932688"/>
            <a:ext cx="24780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lattice_stiffness.csv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190488" y="1664208"/>
            <a:ext cx="2478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scalar value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90488" y="2075688"/>
            <a:ext cx="2478024" cy="22860"/>
          </a:xfrm>
          <a:prstGeom prst="rect">
            <a:avLst/>
          </a:prstGeom>
          <a:solidFill>
            <a:srgbClr val="0096B7"/>
          </a:solidFill>
          <a:ln w="12700">
            <a:solidFill>
              <a:srgbClr val="0096B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90488" y="2130552"/>
            <a:ext cx="2478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label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190488" y="2560320"/>
            <a:ext cx="2478024" cy="22860"/>
          </a:xfrm>
          <a:prstGeom prst="rect">
            <a:avLst/>
          </a:prstGeom>
          <a:solidFill>
            <a:srgbClr val="0096B7"/>
          </a:solidFill>
          <a:ln w="12700">
            <a:solidFill>
              <a:srgbClr val="0096B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45352" y="2651760"/>
            <a:ext cx="2404872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= ΣRF₂ / displacement (N/mm)</a:t>
            </a:r>
            <a:endParaRPr lang="en-US" sz="1100" dirty="0"/>
          </a:p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 axial stiffness</a:t>
            </a:r>
            <a:endParaRPr lang="en-US" sz="1100" dirty="0"/>
          </a:p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GNN prediction target</a:t>
            </a:r>
            <a:endParaRPr lang="en-US" sz="1100" dirty="0"/>
          </a:p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Varies with randomness &amp; topology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961120" y="822960"/>
            <a:ext cx="2697480" cy="4937760"/>
          </a:xfrm>
          <a:prstGeom prst="roundRect">
            <a:avLst>
              <a:gd name="adj" fmla="val 4068"/>
            </a:avLst>
          </a:prstGeom>
          <a:solidFill>
            <a:srgbClr val="152336"/>
          </a:solidFill>
          <a:ln w="1905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9070848" y="932688"/>
            <a:ext cx="2478024" cy="658368"/>
          </a:xfrm>
          <a:prstGeom prst="roundRect">
            <a:avLst>
              <a:gd name="adj" fmla="val 11111"/>
            </a:avLst>
          </a:prstGeom>
          <a:solidFill>
            <a:srgbClr val="00B4D8"/>
          </a:solidFill>
          <a:ln w="12700">
            <a:solidFill>
              <a:srgbClr val="0096B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070848" y="932688"/>
            <a:ext cx="24780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stress_matrix.csv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070848" y="1664208"/>
            <a:ext cx="2478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(N+1) × (N+1)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9070848" y="2075688"/>
            <a:ext cx="2478024" cy="22860"/>
          </a:xfrm>
          <a:prstGeom prst="rect">
            <a:avLst/>
          </a:prstGeom>
          <a:solidFill>
            <a:srgbClr val="0096B7"/>
          </a:solidFill>
          <a:ln w="12700">
            <a:solidFill>
              <a:srgbClr val="0096B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070848" y="2130552"/>
            <a:ext cx="2478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feature / aux label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9070848" y="2560320"/>
            <a:ext cx="2478024" cy="22860"/>
          </a:xfrm>
          <a:prstGeom prst="rect">
            <a:avLst/>
          </a:prstGeom>
          <a:solidFill>
            <a:srgbClr val="0096B7"/>
          </a:solidFill>
          <a:ln w="12700">
            <a:solidFill>
              <a:srgbClr val="0096B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25712" y="2651760"/>
            <a:ext cx="2404872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|S11| per beam (axial stress)</a:t>
            </a:r>
            <a:endParaRPr lang="en-US" sz="1100" dirty="0"/>
          </a:p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Symmetric matrix like adjacency</a:t>
            </a:r>
            <a:endParaRPr lang="en-US" sz="1100" dirty="0"/>
          </a:p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where no beam exists</a:t>
            </a:r>
            <a:endParaRPr lang="en-US" sz="1100" dirty="0"/>
          </a:p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 assigned via bounding-box filter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65760" y="5943600"/>
            <a:ext cx="11430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of the 3,000 simulations produces its own folder  randomness_XXXX/  containing these four files. GNN loaders must handle variable N (graph size varies per simulation).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2026-06-16T12:59:18Z</dcterms:created>
  <dcterms:modified xsi:type="dcterms:W3CDTF">2026-06-16T12:59:18Z</dcterms:modified>
</cp:coreProperties>
</file>