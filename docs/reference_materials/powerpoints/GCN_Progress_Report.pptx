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28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" y="64008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914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 REU</a:t>
            </a:r>
            <a:endParaRPr lang="en-US" sz="1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64008"/>
            <a:ext cx="640080" cy="6400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96012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 Voronoi Lattice Stiffness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Progress Report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914400" y="27889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29, 2026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1440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Alexander Adams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3547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Mechanical Engineering and Materials Science, University of Pittsburgh, Pittsburgh, PA 15260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309404"/>
            <a:ext cx="2651760" cy="64008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16052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731520" cy="658368"/>
          </a:xfrm>
          <a:prstGeom prst="rect">
            <a:avLst/>
          </a:prstGeom>
          <a:solidFill>
            <a:srgbClr val="BFA368"/>
          </a:solidFill>
          <a:ln w="12700">
            <a:solidFill>
              <a:srgbClr val="BFA3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36576"/>
            <a:ext cx="585216" cy="58521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6576"/>
            <a:ext cx="585216" cy="585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45720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stiffness of Voronoi lattice structures from graph topology using a Graph Convolutional Network (GCN), trained on 3,000 synthetic FEA simulations (Abaqus). Experiments span 8 phases of optimizer, representation, and objective improvements.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Summary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57200" y="2286000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2-layer GCN, Adam optimizer  |  Test R²: 0.9148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1-2: Optimizer comparison (AdamW, SGD)  —  Adam remains best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Weighted edges  |  Prediction-set R²: 0.3637 → 0.4336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Richer node features  |  Test R²: 0.9148 → 0.9403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Multi-seed validation  |  Confirms improvement is real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6: Graph-level summary features  |  Mean test R²: 0.9411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7-8: Target normalization  |  Best mean test R²: 0.9447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731520" cy="658368"/>
          </a:xfrm>
          <a:prstGeom prst="rect">
            <a:avLst/>
          </a:prstGeom>
          <a:solidFill>
            <a:srgbClr val="BFA368"/>
          </a:solidFill>
          <a:ln w="12700">
            <a:solidFill>
              <a:srgbClr val="BFA3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36576"/>
            <a:ext cx="585216" cy="58521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6576"/>
            <a:ext cx="585216" cy="585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45720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Configuration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777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57200" y="11430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GCN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dimension: 24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features: x, y coordinates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decay: 1e-5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27889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Schedule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57200" y="31546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lr = 0.003 for 200 epochs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lr = 0.0005 for 700 epochs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846320" y="777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Metrics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846320" y="118872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46320" y="1325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0.8424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4846320" y="1938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R²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858000" y="118872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0" y="1325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0.9148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6858000" y="1938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846320" y="260604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46320" y="2743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0.003818</a:t>
            </a:r>
            <a:endParaRPr lang="en-US" sz="2800" dirty="0"/>
          </a:p>
        </p:txBody>
      </p:sp>
      <p:sp>
        <p:nvSpPr>
          <p:cNvPr id="21" name="Text 17"/>
          <p:cNvSpPr/>
          <p:nvPr/>
        </p:nvSpPr>
        <p:spPr>
          <a:xfrm>
            <a:off x="4846320" y="33558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858000" y="260604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858000" y="2743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0.003003</a:t>
            </a:r>
            <a:endParaRPr lang="en-US" sz="2800" dirty="0"/>
          </a:p>
        </p:txBody>
      </p:sp>
      <p:sp>
        <p:nvSpPr>
          <p:cNvPr id="24" name="Text 20"/>
          <p:cNvSpPr/>
          <p:nvPr/>
        </p:nvSpPr>
        <p:spPr>
          <a:xfrm>
            <a:off x="6858000" y="33558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731520" cy="658368"/>
          </a:xfrm>
          <a:prstGeom prst="rect">
            <a:avLst/>
          </a:prstGeom>
          <a:solidFill>
            <a:srgbClr val="BFA368"/>
          </a:solidFill>
          <a:ln w="12700">
            <a:solidFill>
              <a:srgbClr val="BFA3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36576"/>
            <a:ext cx="585216" cy="58521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6576"/>
            <a:ext cx="585216" cy="585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45720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Comparison (Phases 1–2)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Initial Comparison (Flawed)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57200" y="114300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AdamW, SGD + momentum, SGD + Nesterov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changed hidden_dim, regularization, schedule, and early stopping simultaneously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optimizers performed much worse than baseline  —  results were not clean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2176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Fair Optimizer Comparison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8229600" cy="21945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 (control)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— matches baseline exactly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Substantially worse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 + Momentum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 below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 + Nesterov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 below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731520" cy="658368"/>
          </a:xfrm>
          <a:prstGeom prst="rect">
            <a:avLst/>
          </a:prstGeom>
          <a:solidFill>
            <a:srgbClr val="BFA368"/>
          </a:solidFill>
          <a:ln w="12700">
            <a:solidFill>
              <a:srgbClr val="BFA3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36576"/>
            <a:ext cx="585216" cy="58521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6576"/>
            <a:ext cx="585216" cy="585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45720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Weighted Edges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adjacency_area.csv used as weighted connectivity instead of binary edges only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edge_weight passed into both GCNConv layers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2011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Impact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57200" y="2468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Test R²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291840" y="2542032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91840" y="254203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0.9148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63440" y="254203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212080" y="2542032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212080" y="254203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0.9113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57200" y="327355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Pred-Set R²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3291840" y="3346704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91840" y="334670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0.3637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663440" y="334670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5212080" y="3346704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212080" y="334670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0.4336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457200" y="4078224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Test R²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3291840" y="4151376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291840" y="415137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0.5101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4663440" y="415137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5212080" y="4151376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212080" y="415137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0.5560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457200" y="4663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Weighted edges preserve real graph information and improve out-of-distribution behavior somewhat, but do not move the held-out test ceiling. Retained for all future runs.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731520" cy="658368"/>
          </a:xfrm>
          <a:prstGeom prst="rect">
            <a:avLst/>
          </a:prstGeom>
          <a:solidFill>
            <a:srgbClr val="BFA368"/>
          </a:solidFill>
          <a:ln w="12700">
            <a:solidFill>
              <a:srgbClr val="BFA3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36576"/>
            <a:ext cx="585216" cy="58521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6576"/>
            <a:ext cx="585216" cy="585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45720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Richer Node Features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Features Added (derived from existing data at load time)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57200" y="1161288"/>
            <a:ext cx="4206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 coordinates (original)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degree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degree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from specimen center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indicator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incident edge length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incident edge length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incident edge weight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846320" y="777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vs. Baseline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4846320" y="1161288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D4EDDA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4632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R²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46320" y="15087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0.8424 →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846320" y="17647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0.9386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6858000" y="1161288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D4EDDA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85800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858000" y="15087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0.9148 →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858000" y="17647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0.9403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4846320" y="2578608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D4EDDA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4632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846320" y="2926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0.003818 →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846320" y="31821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0.003197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6858000" y="2578608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D4EDDA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85800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858000" y="2926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0.003003 →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858000" y="31821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0.002448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45720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single improvement. Confirmed stable across multiple seeds (mean test R²: 0.9380). Best prediction-set generalization baseline.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731520" cy="658368"/>
          </a:xfrm>
          <a:prstGeom prst="rect">
            <a:avLst/>
          </a:prstGeom>
          <a:solidFill>
            <a:srgbClr val="BFA368"/>
          </a:solidFill>
          <a:ln w="12700">
            <a:solidFill>
              <a:srgbClr val="BFA3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36576"/>
            <a:ext cx="585216" cy="58521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6576"/>
            <a:ext cx="585216" cy="585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45720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Multi-Seed Validation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57200" y="11430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richer-feature Adam baseline across multiple random seeds to confirm the improvement is stable and not a lucky split.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1691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Results (Richer Node Features)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457200" y="21031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22402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0.9414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457200" y="276148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Val R²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606040" y="21031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606040" y="22402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0.9380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2606040" y="276148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Test R²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754880" y="21031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54880" y="22402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0.003086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4754880" y="276148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Test RMSE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903720" y="21031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903720" y="22402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0.4964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6903720" y="276148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Pred-Set R²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57200" y="34015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 Range Across Seeds: 0.9339 to 0.9467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single-seed result (0.9403) was somewhat optimistic, as expected from variance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mean still clearly outperforms original baseline (0.9148 → 0.9380)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split is stable across seeds; prediction set shows higher variance (out-of-distribution weakness)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731520" cy="658368"/>
          </a:xfrm>
          <a:prstGeom prst="rect">
            <a:avLst/>
          </a:prstGeom>
          <a:solidFill>
            <a:srgbClr val="BFA368"/>
          </a:solidFill>
          <a:ln w="12700">
            <a:solidFill>
              <a:srgbClr val="BFA3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36576"/>
            <a:ext cx="585216" cy="58521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6576"/>
            <a:ext cx="585216" cy="585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45720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6: Graph-Level Summary Features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Added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57200" y="1143000"/>
            <a:ext cx="4206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count, edge count, graph density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/ mean / std edge weight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mean / std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degree mean / std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Center-distance mean / std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57200" y="28803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Graph-level features are concatenated after pooling, before the output layer. All features normalized using training-split statistics.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846320" y="777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Results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4846320" y="1161288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EEF2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4632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Val R²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846320" y="14813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0.9414 →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46320" y="172821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0.9410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858000" y="1161288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D4EDD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Test R²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858000" y="14813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0.9380 →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858000" y="172821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0.9411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4846320" y="2578608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D4EDD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46320" y="26243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RMSE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846320" y="28986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0.003086 →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846320" y="314553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0.003003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6858000" y="2578608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8D7D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858000" y="26243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Pred-Set R²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858000" y="28986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0.4964 →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858000" y="314553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0.4035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45720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improvement on held-out test; prediction-set R² declined. Graph features help in-distribution fit but do not yet resolve out-of-distribution robustness.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731520" cy="658368"/>
          </a:xfrm>
          <a:prstGeom prst="rect">
            <a:avLst/>
          </a:prstGeom>
          <a:solidFill>
            <a:srgbClr val="BFA368"/>
          </a:solidFill>
          <a:ln w="12700">
            <a:solidFill>
              <a:srgbClr val="BFA3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36576"/>
            <a:ext cx="585216" cy="58521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6576"/>
            <a:ext cx="585216" cy="585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45720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7–8: Target Normalization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all confirmed positive improvements (Adam schedule, weighted edges, richer node features, graph-level summary features) and added target normalization to test whether scaling the regression target improves robustness.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18013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Results (Target Normalized)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457200" y="2212848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D4EDDA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2331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0.9416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457200" y="283464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Val R²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606040" y="2212848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D4EDDA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606040" y="2331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0.9447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2606040" y="283464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Test R²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754880" y="2212848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D4EDDA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54880" y="2331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0.002908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4754880" y="283464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Test RMSE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903720" y="2212848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D4EDDA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903720" y="2331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0.4459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6903720" y="283464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Pred-Set R²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57200" y="34472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 Range Across Seeds: 0.9384 to 0.9549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457200" y="3813048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mean held-out test accuracy to date (0.9411 → 0.9447)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Prediction-set R² improved vs. graph-feature run (0.4035 → 0.4459), but still below richer-node-feature run (0.4964)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 exists: best test accuracy = richer graph + target normalization; best pred-set generalization = richer node features only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731520" cy="658368"/>
          </a:xfrm>
          <a:prstGeom prst="rect">
            <a:avLst/>
          </a:prstGeom>
          <a:solidFill>
            <a:srgbClr val="BFA368"/>
          </a:solidFill>
          <a:ln w="12700">
            <a:solidFill>
              <a:srgbClr val="BFA3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10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36576"/>
            <a:ext cx="585216" cy="58521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6576"/>
            <a:ext cx="585216" cy="585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45720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Phase-by-Phase Summary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503920" cy="42062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Test 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Pred-Set 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2-layer GCN, x/y features, Adam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edges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Richer node features (multi-seed)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Graph-level summary 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Target normalization (best test)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731520" cy="658368"/>
          </a:xfrm>
          <a:prstGeom prst="rect">
            <a:avLst/>
          </a:prstGeom>
          <a:solidFill>
            <a:srgbClr val="BFA368"/>
          </a:solidFill>
          <a:ln w="12700">
            <a:solidFill>
              <a:srgbClr val="BFA3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11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36576"/>
            <a:ext cx="585216" cy="58521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6576"/>
            <a:ext cx="585216" cy="585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45720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Assessment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457200" y="813816"/>
            <a:ext cx="347472" cy="34747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813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914400" y="77724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Adam with the two-phase schedule is the strongest training setup.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1408176"/>
            <a:ext cx="347472" cy="34747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1408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14400" y="137160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is consistently worse than Adam; SGD variants are not competitive.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2002536"/>
            <a:ext cx="347472" cy="34747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2002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914400" y="196596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edges are worth keeping — they preserve real graph structure.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57200" y="2596896"/>
            <a:ext cx="347472" cy="34747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7200" y="2596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914400" y="256032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node features: largest single improvement; best prediction-set baseline (mean R² 0.4964).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57200" y="3191256"/>
            <a:ext cx="347472" cy="34747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7200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914400" y="315468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Graph-level features + target normalization: best mean held-out test R² (0.9447) and RMSE (0.002908).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57200" y="3785616"/>
            <a:ext cx="347472" cy="34747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57200" y="3785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914400" y="374904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measurable tradeoff now exists between in-distribution accuracy and prediction-set generalization.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4379976"/>
            <a:ext cx="347472" cy="34747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57200" y="4379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914400" y="434340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gains are more likely from architecture or objective changes than from additional optimizer sweeps.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731520" cy="658368"/>
          </a:xfrm>
          <a:prstGeom prst="rect">
            <a:avLst/>
          </a:prstGeom>
          <a:solidFill>
            <a:srgbClr val="BFA368"/>
          </a:solidFill>
          <a:ln w="12700">
            <a:solidFill>
              <a:srgbClr val="BFA3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12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36576"/>
            <a:ext cx="585216" cy="58521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6576"/>
            <a:ext cx="585216" cy="585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45720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777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Keep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57200" y="1170432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edges enabled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node features as the default representation baseline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Graph-level features + target normalization as the strongest test-accuracy config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with two-phase schedule as the primary optimizer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repeats for all serious promotion decisions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37673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Abandon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57200" y="4133088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SGD + momentum / Nesterov sweeps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as a primary focus (keep only as low-priority sanity check)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846320" y="777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Directions to Explore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846320" y="1170432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983480" y="12435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983480" y="15819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Isomorphism Network — more expressive message passing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846320" y="2267712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983480" y="23408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GraphSAGE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983480" y="26791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learning via neighborhood sampling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846320" y="3364992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983480" y="34381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Residual GCN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4983480" y="37764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architecture with skip connections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846320" y="4315968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FFF3CD"/>
          </a:solidFill>
          <a:ln w="12700">
            <a:solidFill>
              <a:srgbClr val="FFEAA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983480" y="43434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Objective-Level: consider split strategy review and alternate target scaling if prediction-set mismatch appears structural.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1099</Words>
  <Application>Microsoft Office PowerPoint</Application>
  <PresentationFormat>On-screen Show (16:9)</PresentationFormat>
  <Paragraphs>234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GCN Voronoi Lattice Stiffness - Progress Report</dc:title>
  <dc:subject>PptxGenJS Presentation</dc:subject>
  <dc:creator>Alexander Adams</dc:creator>
  <cp:lastModifiedBy>Adams, Alex</cp:lastModifiedBy>
  <cp:revision>2</cp:revision>
  <dcterms:created xsi:type="dcterms:W3CDTF">2026-06-29T13:45:07Z</dcterms:created>
  <dcterms:modified xsi:type="dcterms:W3CDTF">2026-06-29T13:47:45Z</dcterms:modified>
</cp:coreProperties>
</file>