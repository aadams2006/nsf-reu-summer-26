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3505" autoAdjust="0"/>
  </p:normalViewPr>
  <p:slideViewPr>
    <p:cSldViewPr>
      <p:cViewPr varScale="1">
        <p:scale>
          <a:sx n="98" d="100"/>
          <a:sy n="98" d="100"/>
        </p:scale>
        <p:origin x="90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7/8/2026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13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GCN Voronoi Lattice Stiffness Optimization</a:t>
            </a:r>
          </a:p>
          <a:p>
            <a:pPr algn="ctr"/>
            <a:r>
              <a:rPr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Report: Phases 9–18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Alexander Adams   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/>
            <a:r>
              <a:rPr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Department of Mechanical Engineering and Materials Science, University of Pittsburgh, Pittsburgh, PA 15260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July 8th 2026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2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15086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392C27B-946D-E8EF-895F-B44763B1C17E}"/>
              </a:ext>
            </a:extLst>
          </p:cNvPr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 the GCN optimization study from Phase 9 through Phase 18, focusing on architecture comparisons, residual GCN stability, objective-function testing, and fixed-split </a:t>
            </a:r>
            <a:r>
              <a:rPr sz="1500" dirty="0" err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ensembling</a:t>
            </a:r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BA6DBF-D815-B0C6-C9D3-2B26D68C46DC}"/>
              </a:ext>
            </a:extLst>
          </p:cNvPr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Summary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C840E15-12F8-5D3B-1F49-308CA0E01721}"/>
              </a:ext>
            </a:extLst>
          </p:cNvPr>
          <p:cNvSpPr/>
          <p:nvPr/>
        </p:nvSpPr>
        <p:spPr>
          <a:xfrm>
            <a:off x="457200" y="228600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9: Architecture comparison  |  GCN-3 best single-seed Test R²: 0.9551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10: GCN-3 multi-seed validation  |  Mean Test R²: 0.9456</a:t>
            </a:r>
          </a:p>
          <a:p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Phases 11–12: Residual GCN-3  |  Best raw prediction-set mean R²: 0.5007</a:t>
            </a:r>
          </a:p>
          <a:p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Phases 13–15: Residual retuning  |  Narrow LR retune improves stability; Mean Test R²: 0.9440</a:t>
            </a:r>
          </a:p>
          <a:p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Phases 16–17: Huber loss  |  Tested for robustness, but not promoted</a:t>
            </a:r>
          </a:p>
          <a:p>
            <a:r>
              <a:rPr sz="15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18: Fixed-split GCN-3 ensemble  |  Best held-out Test R²: 0.9555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F3D51E-55C0-83D2-3209-DB26DD6348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3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7A5BE-B43F-57C3-3AA0-E5A4AECD9BF8}"/>
              </a:ext>
            </a:extLst>
          </p:cNvPr>
          <p:cNvSpPr txBox="1"/>
          <p:nvPr/>
        </p:nvSpPr>
        <p:spPr>
          <a:xfrm>
            <a:off x="2057400" y="58271"/>
            <a:ext cx="6242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9: Architecture Comparison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5A3675C-F4D7-03FC-8FBE-03220FB2DE4D}"/>
              </a:ext>
            </a:extLst>
          </p:cNvPr>
          <p:cNvSpPr/>
          <p:nvPr/>
        </p:nvSpPr>
        <p:spPr>
          <a:xfrm>
            <a:off x="457200" y="1127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F93B27-FA31-43C7-EA50-18D864D41301}"/>
              </a:ext>
            </a:extLst>
          </p:cNvPr>
          <p:cNvSpPr/>
          <p:nvPr/>
        </p:nvSpPr>
        <p:spPr>
          <a:xfrm>
            <a:off x="457200" y="14935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4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architecture-level changes while keeping the current best positive pipeline fixed: Adam schedule, weighted edges, richer node features, graph-level summary features, and target normalization.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F10603F-3B4D-4D79-DE53-EB526392862E}"/>
              </a:ext>
            </a:extLst>
          </p:cNvPr>
          <p:cNvSpPr/>
          <p:nvPr/>
        </p:nvSpPr>
        <p:spPr>
          <a:xfrm>
            <a:off x="457200" y="25267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Single-Seed Architecture Results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C3785040-C22D-44FA-D3F1-D0673DC2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02057"/>
              </p:ext>
            </p:extLst>
          </p:nvPr>
        </p:nvGraphicFramePr>
        <p:xfrm>
          <a:off x="457200" y="291084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Test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/>
                        <a:t>Pred-Set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GCN-2 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0.9549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0.4011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GCN-3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0.9551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0.4497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GraphSAGE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0.9538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0.3876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/>
                        <a:t>GIN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0.9508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0.4386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3A027-57F0-3E0A-D252-59995832A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4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8A40F-E2B1-FEC3-469F-F86B8EBA44C2}"/>
              </a:ext>
            </a:extLst>
          </p:cNvPr>
          <p:cNvSpPr txBox="1"/>
          <p:nvPr/>
        </p:nvSpPr>
        <p:spPr>
          <a:xfrm>
            <a:off x="2209800" y="58271"/>
            <a:ext cx="5396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F1F1F"/>
                </a:solidFill>
                <a:latin typeface="Calibri"/>
              </a:rPr>
              <a:t>Phase 10: GCN-3 Multi-Seed Validation</a:t>
            </a:r>
            <a:endParaRPr lang="en-US" sz="32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6FA9E2C2-698E-3D80-1ABA-80937606FEFF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Purpose</a:t>
            </a:r>
            <a:endParaRPr lang="en-US" sz="1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267B7BE-A8CE-D46D-A7EB-D40299B48D89}"/>
              </a:ext>
            </a:extLst>
          </p:cNvPr>
          <p:cNvSpPr/>
          <p:nvPr/>
        </p:nvSpPr>
        <p:spPr>
          <a:xfrm>
            <a:off x="457200" y="158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>
                <a:solidFill>
                  <a:srgbClr val="1F1F1F"/>
                </a:solidFill>
                <a:latin typeface="Calibri"/>
              </a:rPr>
              <a:t>Validate whether the small single-seed GCN-3 gain over the 2-layer control is real across five random seeds.</a:t>
            </a:r>
            <a:endParaRPr lang="en-US" sz="14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2C47A-0677-BD40-0D4A-6F9F2C6EE910}"/>
              </a:ext>
            </a:extLst>
          </p:cNvPr>
          <p:cNvSpPr/>
          <p:nvPr/>
        </p:nvSpPr>
        <p:spPr>
          <a:xfrm>
            <a:off x="457200" y="2133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Multi-Seed Results (Plain GCN-3)</a:t>
            </a:r>
            <a:endParaRPr lang="en-US" sz="17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B81B0911-D593-DA4E-6775-D3FB3275D422}"/>
              </a:ext>
            </a:extLst>
          </p:cNvPr>
          <p:cNvSpPr/>
          <p:nvPr/>
        </p:nvSpPr>
        <p:spPr>
          <a:xfrm>
            <a:off x="45720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7D64D81-C0CD-E2CA-F41F-125759D4BD8C}"/>
              </a:ext>
            </a:extLst>
          </p:cNvPr>
          <p:cNvSpPr/>
          <p:nvPr/>
        </p:nvSpPr>
        <p:spPr>
          <a:xfrm>
            <a:off x="45720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0.9411</a:t>
            </a:r>
            <a:endParaRPr lang="en-US" sz="26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EAFB59D-F891-6E1D-EAB6-FBCDAB289CC7}"/>
              </a:ext>
            </a:extLst>
          </p:cNvPr>
          <p:cNvSpPr/>
          <p:nvPr/>
        </p:nvSpPr>
        <p:spPr>
          <a:xfrm>
            <a:off x="45720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Val R²</a:t>
            </a:r>
            <a:endParaRPr lang="en-US" sz="12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34D451EB-6844-978E-AB56-D55CBA9DE785}"/>
              </a:ext>
            </a:extLst>
          </p:cNvPr>
          <p:cNvSpPr/>
          <p:nvPr/>
        </p:nvSpPr>
        <p:spPr>
          <a:xfrm>
            <a:off x="260604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3E93B24-469B-17CD-0AD7-4DBD2400F36C}"/>
              </a:ext>
            </a:extLst>
          </p:cNvPr>
          <p:cNvSpPr/>
          <p:nvPr/>
        </p:nvSpPr>
        <p:spPr>
          <a:xfrm>
            <a:off x="260604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0.9456</a:t>
            </a:r>
            <a:endParaRPr lang="en-US" sz="26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9836524-B627-0805-FEDB-B722DC04CBBE}"/>
              </a:ext>
            </a:extLst>
          </p:cNvPr>
          <p:cNvSpPr/>
          <p:nvPr/>
        </p:nvSpPr>
        <p:spPr>
          <a:xfrm>
            <a:off x="260604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R²</a:t>
            </a:r>
            <a:endParaRPr lang="en-US" sz="12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0D80B18F-060E-A286-ABD3-A5A73A55AA06}"/>
              </a:ext>
            </a:extLst>
          </p:cNvPr>
          <p:cNvSpPr/>
          <p:nvPr/>
        </p:nvSpPr>
        <p:spPr>
          <a:xfrm>
            <a:off x="475488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C698B445-CF9C-1E2F-6C55-5EED9710D835}"/>
              </a:ext>
            </a:extLst>
          </p:cNvPr>
          <p:cNvSpPr/>
          <p:nvPr/>
        </p:nvSpPr>
        <p:spPr>
          <a:xfrm>
            <a:off x="475488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0.002882</a:t>
            </a:r>
            <a:endParaRPr lang="en-US" sz="26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6F4EC46-722E-CBA3-62A7-F72E132DA8C2}"/>
              </a:ext>
            </a:extLst>
          </p:cNvPr>
          <p:cNvSpPr/>
          <p:nvPr/>
        </p:nvSpPr>
        <p:spPr>
          <a:xfrm>
            <a:off x="475488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RMSE</a:t>
            </a:r>
            <a:endParaRPr lang="en-US" sz="12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55C14C85-A838-4680-3664-78E5BC8E6350}"/>
              </a:ext>
            </a:extLst>
          </p:cNvPr>
          <p:cNvSpPr/>
          <p:nvPr/>
        </p:nvSpPr>
        <p:spPr>
          <a:xfrm>
            <a:off x="690372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0C417708-7E08-7AED-1742-D7860D9CAEAB}"/>
              </a:ext>
            </a:extLst>
          </p:cNvPr>
          <p:cNvSpPr/>
          <p:nvPr/>
        </p:nvSpPr>
        <p:spPr>
          <a:xfrm>
            <a:off x="690372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0.4453</a:t>
            </a:r>
            <a:endParaRPr lang="en-US" sz="26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1890ADB-763E-F581-6A4D-50CF9EEAF3EC}"/>
              </a:ext>
            </a:extLst>
          </p:cNvPr>
          <p:cNvSpPr/>
          <p:nvPr/>
        </p:nvSpPr>
        <p:spPr>
          <a:xfrm>
            <a:off x="690372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Pred-Set R²</a:t>
            </a:r>
            <a:endParaRPr lang="en-US" sz="120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B1BEAC4-EBD0-F404-D1A2-BBC5D0F03983}"/>
              </a:ext>
            </a:extLst>
          </p:cNvPr>
          <p:cNvSpPr/>
          <p:nvPr/>
        </p:nvSpPr>
        <p:spPr>
          <a:xfrm>
            <a:off x="457200" y="3843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1F1F1F"/>
                </a:solidFill>
                <a:latin typeface="Calibri"/>
              </a:rPr>
              <a:t>GCN-3 beat GCN-2 on test R² in 4 of 5 seeds</a:t>
            </a:r>
            <a:endParaRPr lang="en-US" sz="140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ED3EFB0-59E6-1645-8CEF-DF1C01064AE1}"/>
              </a:ext>
            </a:extLst>
          </p:cNvPr>
          <p:cNvSpPr/>
          <p:nvPr/>
        </p:nvSpPr>
        <p:spPr>
          <a:xfrm>
            <a:off x="457200" y="4191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Mean test R² improved by +0.00090 and mean RMSE improved by -0.000025. The gain is small but consistent enough to promote GCN-3 for best average held-out test accuracy. Prediction-set performance remained effectively flat.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B2480-E9A3-A64D-FE84-06376B13A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5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D328F-E363-9D7C-6E10-48421305DE4A}"/>
              </a:ext>
            </a:extLst>
          </p:cNvPr>
          <p:cNvSpPr txBox="1"/>
          <p:nvPr/>
        </p:nvSpPr>
        <p:spPr>
          <a:xfrm>
            <a:off x="2209800" y="58271"/>
            <a:ext cx="6173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500" b="1">
                <a:solidFill>
                  <a:srgbClr val="1F1F1F"/>
                </a:solidFill>
                <a:latin typeface="Calibri"/>
              </a:rPr>
              <a:t>Phase 11: Residual GCN-3 Single-Run Test</a:t>
            </a:r>
            <a:endParaRPr lang="en-US" sz="27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1388B05A-2FDF-454B-B1C5-0ABF01E9653C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What Was Added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B62F8F7-A9B8-5EFE-EAA1-9DFA8130498D}"/>
              </a:ext>
            </a:extLst>
          </p:cNvPr>
          <p:cNvSpPr/>
          <p:nvPr/>
        </p:nvSpPr>
        <p:spPr>
          <a:xfrm>
            <a:off x="441960" y="1648968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Hidden-state skip connections added to the promoted 3-layer GCN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Adam two-phase schedule kept fixed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Weighted edges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Richer node features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Graph-level summary features retained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Target normalization retained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B395BA-686A-70FE-D098-CE19BD745D42}"/>
              </a:ext>
            </a:extLst>
          </p:cNvPr>
          <p:cNvSpPr/>
          <p:nvPr/>
        </p:nvSpPr>
        <p:spPr>
          <a:xfrm>
            <a:off x="457200" y="34960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i="1">
                <a:solidFill>
                  <a:srgbClr val="555555"/>
                </a:solidFill>
                <a:latin typeface="Calibri"/>
              </a:rPr>
              <a:t>Residual depth cleared the 0.95 single-run test-R² threshold, but did not outperform the plain GCN-3 seed-42 reference.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AD8B4BD-1D1E-E283-9038-D6E0878EF48D}"/>
              </a:ext>
            </a:extLst>
          </p:cNvPr>
          <p:cNvSpPr/>
          <p:nvPr/>
        </p:nvSpPr>
        <p:spPr>
          <a:xfrm>
            <a:off x="4846320" y="12192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Single-Run Results</a:t>
            </a:r>
            <a:endParaRPr lang="en-US" sz="17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E21FE380-ED42-1828-C89D-BAD8CE068023}"/>
              </a:ext>
            </a:extLst>
          </p:cNvPr>
          <p:cNvSpPr/>
          <p:nvPr/>
        </p:nvSpPr>
        <p:spPr>
          <a:xfrm>
            <a:off x="4846320" y="160324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EEF2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882C58-E51F-D837-7620-8995BDF712D6}"/>
              </a:ext>
            </a:extLst>
          </p:cNvPr>
          <p:cNvSpPr/>
          <p:nvPr/>
        </p:nvSpPr>
        <p:spPr>
          <a:xfrm>
            <a:off x="4846320" y="164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Validation R²</a:t>
            </a:r>
            <a:endParaRPr lang="en-US" sz="11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E32DD82-B9EC-A901-8422-05218F6E81AD}"/>
              </a:ext>
            </a:extLst>
          </p:cNvPr>
          <p:cNvSpPr/>
          <p:nvPr/>
        </p:nvSpPr>
        <p:spPr>
          <a:xfrm>
            <a:off x="4846320" y="1923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Calibri"/>
              </a:rPr>
              <a:t>Residual</a:t>
            </a:r>
            <a:endParaRPr lang="en-US" sz="11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5D95BFF-D08C-41BB-0EFE-8C5827BC65CF}"/>
              </a:ext>
            </a:extLst>
          </p:cNvPr>
          <p:cNvSpPr/>
          <p:nvPr/>
        </p:nvSpPr>
        <p:spPr>
          <a:xfrm>
            <a:off x="4846320" y="2170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2F5496"/>
                </a:solidFill>
                <a:latin typeface="Calibri"/>
              </a:rPr>
              <a:t>0.9389</a:t>
            </a:r>
            <a:endParaRPr lang="en-US" sz="20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7A52625F-05A6-8039-182A-1A4A34ECE526}"/>
              </a:ext>
            </a:extLst>
          </p:cNvPr>
          <p:cNvSpPr/>
          <p:nvPr/>
        </p:nvSpPr>
        <p:spPr>
          <a:xfrm>
            <a:off x="6858000" y="160324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E44CBC4D-048C-1404-4FAF-F8DA5BC1D4DF}"/>
              </a:ext>
            </a:extLst>
          </p:cNvPr>
          <p:cNvSpPr/>
          <p:nvPr/>
        </p:nvSpPr>
        <p:spPr>
          <a:xfrm>
            <a:off x="6858000" y="1648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Test R²</a:t>
            </a:r>
            <a:endParaRPr lang="en-US" sz="11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6DA84CFE-1524-1E72-70AB-A941975FCAE7}"/>
              </a:ext>
            </a:extLst>
          </p:cNvPr>
          <p:cNvSpPr/>
          <p:nvPr/>
        </p:nvSpPr>
        <p:spPr>
          <a:xfrm>
            <a:off x="6858000" y="1923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Calibri"/>
              </a:rPr>
              <a:t>Residual</a:t>
            </a:r>
            <a:endParaRPr lang="en-US" sz="11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A7F6BD1A-5234-3E27-B0CD-CF6B301040D7}"/>
              </a:ext>
            </a:extLst>
          </p:cNvPr>
          <p:cNvSpPr/>
          <p:nvPr/>
        </p:nvSpPr>
        <p:spPr>
          <a:xfrm>
            <a:off x="6858000" y="21701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A6B2A"/>
                </a:solidFill>
                <a:latin typeface="Calibri"/>
              </a:rPr>
              <a:t>0.9542</a:t>
            </a:r>
            <a:endParaRPr lang="en-US" sz="20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23E86128-68B1-4328-0A09-E0000BC41AFC}"/>
              </a:ext>
            </a:extLst>
          </p:cNvPr>
          <p:cNvSpPr/>
          <p:nvPr/>
        </p:nvSpPr>
        <p:spPr>
          <a:xfrm>
            <a:off x="4846320" y="302056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D4ED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AD4FD6A7-381D-E10C-7A58-B96FF600C813}"/>
              </a:ext>
            </a:extLst>
          </p:cNvPr>
          <p:cNvSpPr/>
          <p:nvPr/>
        </p:nvSpPr>
        <p:spPr>
          <a:xfrm>
            <a:off x="4846320" y="3066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Test RMSE</a:t>
            </a:r>
            <a:endParaRPr lang="en-US" sz="1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B012883A-C438-9CFE-596B-17171BCD6BB8}"/>
              </a:ext>
            </a:extLst>
          </p:cNvPr>
          <p:cNvSpPr/>
          <p:nvPr/>
        </p:nvSpPr>
        <p:spPr>
          <a:xfrm>
            <a:off x="4846320" y="3340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Calibri"/>
              </a:rPr>
              <a:t>Residual</a:t>
            </a:r>
            <a:endParaRPr lang="en-US" sz="11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E7212A9D-34BA-A83D-B19E-99E3B362F978}"/>
              </a:ext>
            </a:extLst>
          </p:cNvPr>
          <p:cNvSpPr/>
          <p:nvPr/>
        </p:nvSpPr>
        <p:spPr>
          <a:xfrm>
            <a:off x="4846320" y="35874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1A6B2A"/>
                </a:solidFill>
                <a:latin typeface="Calibri"/>
              </a:rPr>
              <a:t>0.002801</a:t>
            </a:r>
            <a:endParaRPr lang="en-US" sz="2000" dirty="0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68A499F8-8E0D-65EE-6AD3-51A3E90C66DA}"/>
              </a:ext>
            </a:extLst>
          </p:cNvPr>
          <p:cNvSpPr/>
          <p:nvPr/>
        </p:nvSpPr>
        <p:spPr>
          <a:xfrm>
            <a:off x="6858000" y="3020568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8D7D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759B36C2-B112-7CBA-B1C6-B8EF052F709D}"/>
              </a:ext>
            </a:extLst>
          </p:cNvPr>
          <p:cNvSpPr/>
          <p:nvPr/>
        </p:nvSpPr>
        <p:spPr>
          <a:xfrm>
            <a:off x="6858000" y="3066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333333"/>
                </a:solidFill>
                <a:latin typeface="Calibri"/>
              </a:rPr>
              <a:t>Pred-Set R²</a:t>
            </a:r>
            <a:endParaRPr lang="en-US" sz="11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4EA6DCD6-F623-DEE2-B2E0-BACB8F790961}"/>
              </a:ext>
            </a:extLst>
          </p:cNvPr>
          <p:cNvSpPr/>
          <p:nvPr/>
        </p:nvSpPr>
        <p:spPr>
          <a:xfrm>
            <a:off x="6858000" y="3340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00">
                <a:solidFill>
                  <a:srgbClr val="666666"/>
                </a:solidFill>
                <a:latin typeface="Calibri"/>
              </a:rPr>
              <a:t>Residual</a:t>
            </a:r>
            <a:endParaRPr lang="en-US" sz="11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42886574-8AA9-39A8-8CE7-1AD8B6D848BC}"/>
              </a:ext>
            </a:extLst>
          </p:cNvPr>
          <p:cNvSpPr/>
          <p:nvPr/>
        </p:nvSpPr>
        <p:spPr>
          <a:xfrm>
            <a:off x="6858000" y="35874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700" b="1">
                <a:solidFill>
                  <a:srgbClr val="8B0000"/>
                </a:solidFill>
                <a:latin typeface="Calibri"/>
              </a:rPr>
              <a:t>0.4437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3A027-57F0-3E0A-D252-59995832A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6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8A40F-E2B1-FEC3-469F-F86B8EBA44C2}"/>
              </a:ext>
            </a:extLst>
          </p:cNvPr>
          <p:cNvSpPr txBox="1"/>
          <p:nvPr/>
        </p:nvSpPr>
        <p:spPr>
          <a:xfrm>
            <a:off x="2209800" y="58271"/>
            <a:ext cx="540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12: Residual Multi-Seed Validation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6FA9E2C2-698E-3D80-1ABA-80937606FEFF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Purpose</a:t>
            </a:r>
            <a:endParaRPr lang="en-US" sz="1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267B7BE-A8CE-D46D-A7EB-D40299B48D89}"/>
              </a:ext>
            </a:extLst>
          </p:cNvPr>
          <p:cNvSpPr/>
          <p:nvPr/>
        </p:nvSpPr>
        <p:spPr>
          <a:xfrm>
            <a:off x="457200" y="158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dirty="0">
                <a:solidFill>
                  <a:srgbClr val="1F1F1F"/>
                </a:solidFill>
                <a:latin typeface="Calibri"/>
              </a:rPr>
              <a:t>Test whether the residual GCN-3 improvement is stable across multiple random seeds, especially on the prediction set.</a:t>
            </a:r>
            <a:endParaRPr lang="en-US" sz="14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2C47A-0677-BD40-0D4A-6F9F2C6EE910}"/>
              </a:ext>
            </a:extLst>
          </p:cNvPr>
          <p:cNvSpPr/>
          <p:nvPr/>
        </p:nvSpPr>
        <p:spPr>
          <a:xfrm>
            <a:off x="457200" y="2133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Multi-Seed Results (Residual GCN-3)</a:t>
            </a:r>
            <a:endParaRPr lang="en-US" sz="17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B81B0911-D593-DA4E-6775-D3FB3275D422}"/>
              </a:ext>
            </a:extLst>
          </p:cNvPr>
          <p:cNvSpPr/>
          <p:nvPr/>
        </p:nvSpPr>
        <p:spPr>
          <a:xfrm>
            <a:off x="45720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7D64D81-C0CD-E2CA-F41F-125759D4BD8C}"/>
              </a:ext>
            </a:extLst>
          </p:cNvPr>
          <p:cNvSpPr/>
          <p:nvPr/>
        </p:nvSpPr>
        <p:spPr>
          <a:xfrm>
            <a:off x="45720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0.9412</a:t>
            </a:r>
            <a:endParaRPr lang="en-US" sz="26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EAFB59D-F891-6E1D-EAB6-FBCDAB289CC7}"/>
              </a:ext>
            </a:extLst>
          </p:cNvPr>
          <p:cNvSpPr/>
          <p:nvPr/>
        </p:nvSpPr>
        <p:spPr>
          <a:xfrm>
            <a:off x="45720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Val R²</a:t>
            </a:r>
            <a:endParaRPr lang="en-US" sz="12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34D451EB-6844-978E-AB56-D55CBA9DE785}"/>
              </a:ext>
            </a:extLst>
          </p:cNvPr>
          <p:cNvSpPr/>
          <p:nvPr/>
        </p:nvSpPr>
        <p:spPr>
          <a:xfrm>
            <a:off x="260604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3E93B24-469B-17CD-0AD7-4DBD2400F36C}"/>
              </a:ext>
            </a:extLst>
          </p:cNvPr>
          <p:cNvSpPr/>
          <p:nvPr/>
        </p:nvSpPr>
        <p:spPr>
          <a:xfrm>
            <a:off x="260604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0.9424</a:t>
            </a:r>
            <a:endParaRPr lang="en-US" sz="26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9836524-B627-0805-FEDB-B722DC04CBBE}"/>
              </a:ext>
            </a:extLst>
          </p:cNvPr>
          <p:cNvSpPr/>
          <p:nvPr/>
        </p:nvSpPr>
        <p:spPr>
          <a:xfrm>
            <a:off x="260604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R²</a:t>
            </a:r>
            <a:endParaRPr lang="en-US" sz="12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0D80B18F-060E-A286-ABD3-A5A73A55AA06}"/>
              </a:ext>
            </a:extLst>
          </p:cNvPr>
          <p:cNvSpPr/>
          <p:nvPr/>
        </p:nvSpPr>
        <p:spPr>
          <a:xfrm>
            <a:off x="475488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C698B445-CF9C-1E2F-6C55-5EED9710D835}"/>
              </a:ext>
            </a:extLst>
          </p:cNvPr>
          <p:cNvSpPr/>
          <p:nvPr/>
        </p:nvSpPr>
        <p:spPr>
          <a:xfrm>
            <a:off x="475488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0.002964</a:t>
            </a:r>
            <a:endParaRPr lang="en-US" sz="26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6F4EC46-722E-CBA3-62A7-F72E132DA8C2}"/>
              </a:ext>
            </a:extLst>
          </p:cNvPr>
          <p:cNvSpPr/>
          <p:nvPr/>
        </p:nvSpPr>
        <p:spPr>
          <a:xfrm>
            <a:off x="475488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RMSE</a:t>
            </a:r>
            <a:endParaRPr lang="en-US" sz="12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55C14C85-A838-4680-3664-78E5BC8E6350}"/>
              </a:ext>
            </a:extLst>
          </p:cNvPr>
          <p:cNvSpPr/>
          <p:nvPr/>
        </p:nvSpPr>
        <p:spPr>
          <a:xfrm>
            <a:off x="690372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0C417708-7E08-7AED-1742-D7860D9CAEAB}"/>
              </a:ext>
            </a:extLst>
          </p:cNvPr>
          <p:cNvSpPr/>
          <p:nvPr/>
        </p:nvSpPr>
        <p:spPr>
          <a:xfrm>
            <a:off x="690372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0.5007</a:t>
            </a:r>
            <a:endParaRPr lang="en-US" sz="26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1890ADB-763E-F581-6A4D-50CF9EEAF3EC}"/>
              </a:ext>
            </a:extLst>
          </p:cNvPr>
          <p:cNvSpPr/>
          <p:nvPr/>
        </p:nvSpPr>
        <p:spPr>
          <a:xfrm>
            <a:off x="690372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Pred-Set R²</a:t>
            </a:r>
            <a:endParaRPr lang="en-US" sz="120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B1BEAC4-EBD0-F404-D1A2-BBC5D0F03983}"/>
              </a:ext>
            </a:extLst>
          </p:cNvPr>
          <p:cNvSpPr/>
          <p:nvPr/>
        </p:nvSpPr>
        <p:spPr>
          <a:xfrm>
            <a:off x="457200" y="3843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 dirty="0">
                <a:solidFill>
                  <a:srgbClr val="1F1F1F"/>
                </a:solidFill>
                <a:latin typeface="Calibri"/>
              </a:rPr>
              <a:t>Plain GCN-3 Test R²: 0.9456  |  Residual GCN-3 Test R²: 0.9424</a:t>
            </a:r>
            <a:endParaRPr lang="en-US" sz="140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ED3EFB0-59E6-1645-8CEF-DF1C01064AE1}"/>
              </a:ext>
            </a:extLst>
          </p:cNvPr>
          <p:cNvSpPr/>
          <p:nvPr/>
        </p:nvSpPr>
        <p:spPr>
          <a:xfrm>
            <a:off x="457200" y="4191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Residual GCN-3 should not replace plain GCN-3 for mean test accuracy. However, it became the strongest prediction-set model tested so far, suggesting skip connections may help out-of-distribution behavior while introducing seed instability.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87720-B9C4-197F-621B-FDE64F8F1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7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147F8-F511-956B-751A-C321FAA27385}"/>
              </a:ext>
            </a:extLst>
          </p:cNvPr>
          <p:cNvSpPr txBox="1"/>
          <p:nvPr/>
        </p:nvSpPr>
        <p:spPr>
          <a:xfrm>
            <a:off x="2209800" y="58271"/>
            <a:ext cx="545021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5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Phases 13–15: Residual GCN-3 Retuning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4835752-A668-0A56-5F84-DEF90E57E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923802"/>
              </p:ext>
            </p:extLst>
          </p:nvPr>
        </p:nvGraphicFramePr>
        <p:xfrm>
          <a:off x="365760" y="1203960"/>
          <a:ext cx="850392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Change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Test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Pred-Set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Broad retune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0.9541 single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0.3545 single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Narrow LR retune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0.9537 single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0.4600 single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Narrow LR multi-seed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0.9440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0.4724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residual compromise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Improved stability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Below plain GCN-3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Next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Stop broad retunes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Keep narrow LR candidate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Shift to evaluation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3A027-57F0-3E0A-D252-59995832A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8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8A40F-E2B1-FEC3-469F-F86B8EBA44C2}"/>
              </a:ext>
            </a:extLst>
          </p:cNvPr>
          <p:cNvSpPr txBox="1"/>
          <p:nvPr/>
        </p:nvSpPr>
        <p:spPr>
          <a:xfrm>
            <a:off x="2209800" y="58271"/>
            <a:ext cx="4831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Phases 16–17: Huber Loss Validation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6FA9E2C2-698E-3D80-1ABA-80937606FEFF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Objective Change</a:t>
            </a:r>
            <a:endParaRPr lang="en-US" sz="17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267B7BE-A8CE-D46D-A7EB-D40299B48D89}"/>
              </a:ext>
            </a:extLst>
          </p:cNvPr>
          <p:cNvSpPr/>
          <p:nvPr/>
        </p:nvSpPr>
        <p:spPr>
          <a:xfrm>
            <a:off x="457200" y="158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>
                <a:solidFill>
                  <a:srgbClr val="1F1F1F"/>
                </a:solidFill>
                <a:latin typeface="Calibri"/>
              </a:rPr>
              <a:t>Keep the narrow-LR residual GCN-3 setup fixed and replace MSE with Huber/SmoothL1 loss using beta = 0.75.</a:t>
            </a:r>
            <a:endParaRPr lang="en-US" sz="1400" dirty="0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2C47A-0677-BD40-0D4A-6F9F2C6EE910}"/>
              </a:ext>
            </a:extLst>
          </p:cNvPr>
          <p:cNvSpPr/>
          <p:nvPr/>
        </p:nvSpPr>
        <p:spPr>
          <a:xfrm>
            <a:off x="457200" y="2133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/>
              </a:rPr>
              <a:t>Multi-Seed Results (Residual Huber)</a:t>
            </a:r>
            <a:endParaRPr lang="en-US" sz="17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B81B0911-D593-DA4E-6775-D3FB3275D422}"/>
              </a:ext>
            </a:extLst>
          </p:cNvPr>
          <p:cNvSpPr/>
          <p:nvPr/>
        </p:nvSpPr>
        <p:spPr>
          <a:xfrm>
            <a:off x="45720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7D64D81-C0CD-E2CA-F41F-125759D4BD8C}"/>
              </a:ext>
            </a:extLst>
          </p:cNvPr>
          <p:cNvSpPr/>
          <p:nvPr/>
        </p:nvSpPr>
        <p:spPr>
          <a:xfrm>
            <a:off x="45720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0.9410</a:t>
            </a:r>
            <a:endParaRPr lang="en-US" sz="26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EAFB59D-F891-6E1D-EAB6-FBCDAB289CC7}"/>
              </a:ext>
            </a:extLst>
          </p:cNvPr>
          <p:cNvSpPr/>
          <p:nvPr/>
        </p:nvSpPr>
        <p:spPr>
          <a:xfrm>
            <a:off x="45720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Val R²</a:t>
            </a:r>
            <a:endParaRPr lang="en-US" sz="12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34D451EB-6844-978E-AB56-D55CBA9DE785}"/>
              </a:ext>
            </a:extLst>
          </p:cNvPr>
          <p:cNvSpPr/>
          <p:nvPr/>
        </p:nvSpPr>
        <p:spPr>
          <a:xfrm>
            <a:off x="260604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3E93B24-469B-17CD-0AD7-4DBD2400F36C}"/>
              </a:ext>
            </a:extLst>
          </p:cNvPr>
          <p:cNvSpPr/>
          <p:nvPr/>
        </p:nvSpPr>
        <p:spPr>
          <a:xfrm>
            <a:off x="260604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0.9430</a:t>
            </a:r>
            <a:endParaRPr lang="en-US" sz="2600" dirty="0"/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9836524-B627-0805-FEDB-B722DC04CBBE}"/>
              </a:ext>
            </a:extLst>
          </p:cNvPr>
          <p:cNvSpPr/>
          <p:nvPr/>
        </p:nvSpPr>
        <p:spPr>
          <a:xfrm>
            <a:off x="260604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R²</a:t>
            </a:r>
            <a:endParaRPr lang="en-US" sz="1200" dirty="0"/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0D80B18F-060E-A286-ABD3-A5A73A55AA06}"/>
              </a:ext>
            </a:extLst>
          </p:cNvPr>
          <p:cNvSpPr/>
          <p:nvPr/>
        </p:nvSpPr>
        <p:spPr>
          <a:xfrm>
            <a:off x="475488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C698B445-CF9C-1E2F-6C55-5EED9710D835}"/>
              </a:ext>
            </a:extLst>
          </p:cNvPr>
          <p:cNvSpPr/>
          <p:nvPr/>
        </p:nvSpPr>
        <p:spPr>
          <a:xfrm>
            <a:off x="475488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0.002953</a:t>
            </a:r>
            <a:endParaRPr lang="en-US" sz="260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6F4EC46-722E-CBA3-62A7-F72E132DA8C2}"/>
              </a:ext>
            </a:extLst>
          </p:cNvPr>
          <p:cNvSpPr/>
          <p:nvPr/>
        </p:nvSpPr>
        <p:spPr>
          <a:xfrm>
            <a:off x="475488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Test RMSE</a:t>
            </a:r>
            <a:endParaRPr lang="en-US" sz="12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55C14C85-A838-4680-3664-78E5BC8E6350}"/>
              </a:ext>
            </a:extLst>
          </p:cNvPr>
          <p:cNvSpPr/>
          <p:nvPr/>
        </p:nvSpPr>
        <p:spPr>
          <a:xfrm>
            <a:off x="690372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0C417708-7E08-7AED-1742-D7860D9CAEAB}"/>
              </a:ext>
            </a:extLst>
          </p:cNvPr>
          <p:cNvSpPr/>
          <p:nvPr/>
        </p:nvSpPr>
        <p:spPr>
          <a:xfrm>
            <a:off x="690372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/>
              </a:rPr>
              <a:t>0.4555</a:t>
            </a:r>
            <a:endParaRPr lang="en-US" sz="2600" dirty="0"/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1890ADB-763E-F581-6A4D-50CF9EEAF3EC}"/>
              </a:ext>
            </a:extLst>
          </p:cNvPr>
          <p:cNvSpPr/>
          <p:nvPr/>
        </p:nvSpPr>
        <p:spPr>
          <a:xfrm>
            <a:off x="690372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/>
              </a:rPr>
              <a:t>Mean Pred-Set R²</a:t>
            </a:r>
            <a:endParaRPr lang="en-US" sz="120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B1BEAC4-EBD0-F404-D1A2-BBC5D0F03983}"/>
              </a:ext>
            </a:extLst>
          </p:cNvPr>
          <p:cNvSpPr/>
          <p:nvPr/>
        </p:nvSpPr>
        <p:spPr>
          <a:xfrm>
            <a:off x="457200" y="3843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 b="1">
                <a:solidFill>
                  <a:srgbClr val="1F1F1F"/>
                </a:solidFill>
                <a:latin typeface="Calibri"/>
              </a:rPr>
              <a:t>Huber worst-seed Test R² improved over original residual: 0.9257 → 0.9310</a:t>
            </a:r>
            <a:endParaRPr lang="en-US" sz="140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ED3EFB0-59E6-1645-8CEF-DF1C01064AE1}"/>
              </a:ext>
            </a:extLst>
          </p:cNvPr>
          <p:cNvSpPr/>
          <p:nvPr/>
        </p:nvSpPr>
        <p:spPr>
          <a:xfrm>
            <a:off x="457200" y="4191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300" dirty="0">
                <a:solidFill>
                  <a:srgbClr val="1F1F1F"/>
                </a:solidFill>
                <a:latin typeface="Calibri"/>
              </a:rPr>
              <a:t>Huber helped tail stability somewhat, but still underperformed narrow-LR residual and plain GCN-3. It also reduced prediction-set performance, so the Huber branch should be de-prioritized.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3A027-57F0-3E0A-D252-59995832A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9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8A40F-E2B1-FEC3-469F-F86B8EBA44C2}"/>
              </a:ext>
            </a:extLst>
          </p:cNvPr>
          <p:cNvSpPr txBox="1"/>
          <p:nvPr/>
        </p:nvSpPr>
        <p:spPr>
          <a:xfrm>
            <a:off x="2209800" y="58271"/>
            <a:ext cx="500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18: GCN-3 Fixed-Split Ensemble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6FA9E2C2-698E-3D80-1ABA-80937606FEFF}"/>
              </a:ext>
            </a:extLst>
          </p:cNvPr>
          <p:cNvSpPr/>
          <p:nvPr/>
        </p:nvSpPr>
        <p:spPr>
          <a:xfrm>
            <a:off x="457200" y="1219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Strategy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C267B7BE-A8CE-D46D-A7EB-D40299B48D89}"/>
              </a:ext>
            </a:extLst>
          </p:cNvPr>
          <p:cNvSpPr/>
          <p:nvPr/>
        </p:nvSpPr>
        <p:spPr>
          <a:xfrm>
            <a:off x="457200" y="15849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one shared train/validation/test split fixed using split seed 42. Train five plain GCN-3 members with model seeds 11, 42, 73, 101, and 202. Average predictions across validation, test, and prediction sets.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2C47A-0677-BD40-0D4A-6F9F2C6EE910}"/>
              </a:ext>
            </a:extLst>
          </p:cNvPr>
          <p:cNvSpPr/>
          <p:nvPr/>
        </p:nvSpPr>
        <p:spPr>
          <a:xfrm>
            <a:off x="457200" y="2133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Fixed-Split Ensemble Results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B81B0911-D593-DA4E-6775-D3FB3275D422}"/>
              </a:ext>
            </a:extLst>
          </p:cNvPr>
          <p:cNvSpPr/>
          <p:nvPr/>
        </p:nvSpPr>
        <p:spPr>
          <a:xfrm>
            <a:off x="45720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7D64D81-C0CD-E2CA-F41F-125759D4BD8C}"/>
              </a:ext>
            </a:extLst>
          </p:cNvPr>
          <p:cNvSpPr/>
          <p:nvPr/>
        </p:nvSpPr>
        <p:spPr>
          <a:xfrm>
            <a:off x="45720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0.9400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4EAFB59D-F891-6E1D-EAB6-FBCDAB289CC7}"/>
              </a:ext>
            </a:extLst>
          </p:cNvPr>
          <p:cNvSpPr/>
          <p:nvPr/>
        </p:nvSpPr>
        <p:spPr>
          <a:xfrm>
            <a:off x="45720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R²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34D451EB-6844-978E-AB56-D55CBA9DE785}"/>
              </a:ext>
            </a:extLst>
          </p:cNvPr>
          <p:cNvSpPr/>
          <p:nvPr/>
        </p:nvSpPr>
        <p:spPr>
          <a:xfrm>
            <a:off x="260604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F3E93B24-469B-17CD-0AD7-4DBD2400F36C}"/>
              </a:ext>
            </a:extLst>
          </p:cNvPr>
          <p:cNvSpPr/>
          <p:nvPr/>
        </p:nvSpPr>
        <p:spPr>
          <a:xfrm>
            <a:off x="260604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0.9555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49836524-B627-0805-FEDB-B722DC04CBBE}"/>
              </a:ext>
            </a:extLst>
          </p:cNvPr>
          <p:cNvSpPr/>
          <p:nvPr/>
        </p:nvSpPr>
        <p:spPr>
          <a:xfrm>
            <a:off x="260604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0D80B18F-060E-A286-ABD3-A5A73A55AA06}"/>
              </a:ext>
            </a:extLst>
          </p:cNvPr>
          <p:cNvSpPr/>
          <p:nvPr/>
        </p:nvSpPr>
        <p:spPr>
          <a:xfrm>
            <a:off x="475488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C698B445-CF9C-1E2F-6C55-5EED9710D835}"/>
              </a:ext>
            </a:extLst>
          </p:cNvPr>
          <p:cNvSpPr/>
          <p:nvPr/>
        </p:nvSpPr>
        <p:spPr>
          <a:xfrm>
            <a:off x="475488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0.002759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16F4EC46-722E-CBA3-62A7-F72E132DA8C2}"/>
              </a:ext>
            </a:extLst>
          </p:cNvPr>
          <p:cNvSpPr/>
          <p:nvPr/>
        </p:nvSpPr>
        <p:spPr>
          <a:xfrm>
            <a:off x="475488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RMSE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55C14C85-A838-4680-3664-78E5BC8E6350}"/>
              </a:ext>
            </a:extLst>
          </p:cNvPr>
          <p:cNvSpPr/>
          <p:nvPr/>
        </p:nvSpPr>
        <p:spPr>
          <a:xfrm>
            <a:off x="6903720" y="2545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0C417708-7E08-7AED-1742-D7860D9CAEAB}"/>
              </a:ext>
            </a:extLst>
          </p:cNvPr>
          <p:cNvSpPr/>
          <p:nvPr/>
        </p:nvSpPr>
        <p:spPr>
          <a:xfrm>
            <a:off x="6903720" y="26822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0.4369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91890ADB-763E-F581-6A4D-50CF9EEAF3EC}"/>
              </a:ext>
            </a:extLst>
          </p:cNvPr>
          <p:cNvSpPr/>
          <p:nvPr/>
        </p:nvSpPr>
        <p:spPr>
          <a:xfrm>
            <a:off x="6903720" y="32034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10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Pred-Set R²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CB1BEAC4-EBD0-F404-D1A2-BBC5D0F03983}"/>
              </a:ext>
            </a:extLst>
          </p:cNvPr>
          <p:cNvSpPr/>
          <p:nvPr/>
        </p:nvSpPr>
        <p:spPr>
          <a:xfrm>
            <a:off x="457200" y="3843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4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held-out test result achieved so far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1ED3EFB0-59E6-1645-8CEF-DF1C01064AE1}"/>
              </a:ext>
            </a:extLst>
          </p:cNvPr>
          <p:cNvSpPr/>
          <p:nvPr/>
        </p:nvSpPr>
        <p:spPr>
          <a:xfrm>
            <a:off x="457200" y="4191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sz="130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ensemble clearly exceeded the 0.95 test-R² target, but it is a fixed-split result, not a new multi-split mean benchmark. It improved in-distribution test accuracy, but did not improve prediction-set behavior.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87720-B9C4-197F-621B-FDE64F8F1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10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147F8-F511-956B-751A-C321FAA27385}"/>
              </a:ext>
            </a:extLst>
          </p:cNvPr>
          <p:cNvSpPr txBox="1"/>
          <p:nvPr/>
        </p:nvSpPr>
        <p:spPr>
          <a:xfrm>
            <a:off x="2209800" y="58271"/>
            <a:ext cx="4621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600" b="1">
                <a:latin typeface="Calibri"/>
              </a:rPr>
              <a:t>Phase 9–18 Summary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4835752-A668-0A56-5F84-DEF90E57E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99093"/>
              </p:ext>
            </p:extLst>
          </p:nvPr>
        </p:nvGraphicFramePr>
        <p:xfrm>
          <a:off x="365760" y="1203960"/>
          <a:ext cx="850392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100" b="1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Change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Test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Pred-Set R²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comparison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0.9551 single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0.4497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GCN-3 multi-seed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0.9456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0.4453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Residual multi-seed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0.9424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0.5007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Narrow-LR residual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0.9440 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0.4724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GCN-3 ensemble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0.9555 fixed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0.4369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C222C-951D-11F7-DCCE-9096369B3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11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5E872-39A9-F39B-0E9D-C7E4950F042F}"/>
              </a:ext>
            </a:extLst>
          </p:cNvPr>
          <p:cNvSpPr txBox="1"/>
          <p:nvPr/>
        </p:nvSpPr>
        <p:spPr>
          <a:xfrm>
            <a:off x="2209800" y="58271"/>
            <a:ext cx="3575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600" b="1">
                <a:latin typeface="Calibri"/>
              </a:rPr>
              <a:t>Current Assessment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53E282E-B1B1-070E-506C-2B4FC0F46CC6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A02A3D-9123-8665-6786-60758D6A76D1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FC98D0-3E9E-CEC5-BE23-9CEAB1C57D78}"/>
              </a:ext>
            </a:extLst>
          </p:cNvPr>
          <p:cNvSpPr/>
          <p:nvPr/>
        </p:nvSpPr>
        <p:spPr>
          <a:xfrm>
            <a:off x="914400" y="12192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Plain GCN-3 is now favored over GCN-2 for best average held-out test performance.</a:t>
            </a:r>
            <a:endParaRPr lang="en-US" sz="1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01D2ACD-2CD0-877C-2543-05C2D4AEE9E8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64B1E6E-3097-05EA-13C2-FD0DA5A9BEBC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31453BA-AD44-8397-6122-617764D1B528}"/>
              </a:ext>
            </a:extLst>
          </p:cNvPr>
          <p:cNvSpPr/>
          <p:nvPr/>
        </p:nvSpPr>
        <p:spPr>
          <a:xfrm>
            <a:off x="914400" y="18135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The benefit from extra depth is real but modest; it does not solve prediction-set robustness.</a:t>
            </a:r>
            <a:endParaRPr lang="en-US" sz="13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6B867B3-25BE-A0BB-C8EA-2013E41B4B6A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4C6ED19-9667-38B2-F24D-1100310B6098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  <a:endParaRPr lang="en-US" sz="12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D77B616-EAF9-4E5A-C5BE-2879B30CC35D}"/>
              </a:ext>
            </a:extLst>
          </p:cNvPr>
          <p:cNvSpPr/>
          <p:nvPr/>
        </p:nvSpPr>
        <p:spPr>
          <a:xfrm>
            <a:off x="914400" y="24079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GIN and GraphSAGE did not provide a compelling improvement over the control pipeline.</a:t>
            </a:r>
            <a:endParaRPr lang="en-US" sz="13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7212C48-7D17-6F96-76DD-725B4FA07DF4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A8B6F1BD-DBE2-6E5F-C2AF-753AA1B2A926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  <a:endParaRPr lang="en-US" sz="12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064A809D-2821-58A8-394C-94EF48A0C3DD}"/>
              </a:ext>
            </a:extLst>
          </p:cNvPr>
          <p:cNvSpPr/>
          <p:nvPr/>
        </p:nvSpPr>
        <p:spPr>
          <a:xfrm>
            <a:off x="914400" y="30022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Residual GCN-3 gives the best raw prediction-set mean, but is too unstable to promote.</a:t>
            </a:r>
            <a:endParaRPr lang="en-US" sz="13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DC32E12-3756-E738-133E-AEFBF0B8F16B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BDEF248-BC98-0EE5-37E3-A08CF02A2C81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  <a:endParaRPr lang="en-US" sz="12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0CBCB392-8266-52BF-C8B6-1A2DAFCA7837}"/>
              </a:ext>
            </a:extLst>
          </p:cNvPr>
          <p:cNvSpPr/>
          <p:nvPr/>
        </p:nvSpPr>
        <p:spPr>
          <a:xfrm>
            <a:off x="914400" y="35966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Narrow-LR residual GCN-3 is the strongest stabilized residual compromise.</a:t>
            </a:r>
            <a:endParaRPr lang="en-US" sz="13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0489D256-3CC4-9F52-21EB-A477DD29E956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E9313EF1-63AD-71E0-E55F-27EC103C1760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  <a:endParaRPr lang="en-US" sz="12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D53DDC0F-4741-A5B5-75D1-57E21532EA89}"/>
              </a:ext>
            </a:extLst>
          </p:cNvPr>
          <p:cNvSpPr/>
          <p:nvPr/>
        </p:nvSpPr>
        <p:spPr>
          <a:xfrm>
            <a:off x="914400" y="41910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Huber loss improved tail stability slightly, but did not justify promotion.</a:t>
            </a:r>
            <a:endParaRPr lang="en-US" sz="13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6DF09D38-D45E-16C0-4B19-54D90BDE9503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7991961-1314-5B5C-43C8-491A7C789F62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  <a:endParaRPr lang="en-US" sz="12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A6DDCD71-1EBA-B872-56DF-0B6D1ADC7AFD}"/>
              </a:ext>
            </a:extLst>
          </p:cNvPr>
          <p:cNvSpPr/>
          <p:nvPr/>
        </p:nvSpPr>
        <p:spPr>
          <a:xfrm>
            <a:off x="914400" y="4785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300">
                <a:solidFill>
                  <a:srgbClr val="1F1F1F"/>
                </a:solidFill>
                <a:latin typeface="Calibri"/>
              </a:rPr>
              <a:t>Fixed-split GCN-3 ensembling is now the strongest held-out test result overall.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379A9-32AE-3933-4095-3D072AD89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sz="1400" b="1" dirty="0"/>
              <a:t>12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39E32-6720-2DAA-9EC5-265F0E56AC1E}"/>
              </a:ext>
            </a:extLst>
          </p:cNvPr>
          <p:cNvSpPr txBox="1"/>
          <p:nvPr/>
        </p:nvSpPr>
        <p:spPr>
          <a:xfrm>
            <a:off x="2209800" y="58271"/>
            <a:ext cx="16598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2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2CD028E-B004-0557-50AC-E523FC233E52}"/>
              </a:ext>
            </a:extLst>
          </p:cNvPr>
          <p:cNvSpPr/>
          <p:nvPr/>
        </p:nvSpPr>
        <p:spPr>
          <a:xfrm>
            <a:off x="457200" y="1066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to Keep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D5F9C9-0BE4-BDCB-FC6B-787D6B448F4A}"/>
              </a:ext>
            </a:extLst>
          </p:cNvPr>
          <p:cNvSpPr/>
          <p:nvPr/>
        </p:nvSpPr>
        <p:spPr>
          <a:xfrm>
            <a:off x="457200" y="145999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Plain GCN-3 as promoted model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 two-phase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edges and richer node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Graph-level features + target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seeds for promotion decisions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043A7D-27CD-B4FF-9927-F07CF23DF1FA}"/>
              </a:ext>
            </a:extLst>
          </p:cNvPr>
          <p:cNvSpPr/>
          <p:nvPr/>
        </p:nvSpPr>
        <p:spPr>
          <a:xfrm>
            <a:off x="457200" y="4056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to De-Prioritize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A4B437E-510A-20EF-627A-0E8C43472EFC}"/>
              </a:ext>
            </a:extLst>
          </p:cNvPr>
          <p:cNvSpPr/>
          <p:nvPr/>
        </p:nvSpPr>
        <p:spPr>
          <a:xfrm>
            <a:off x="457200" y="45750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GIN and </a:t>
            </a:r>
            <a:r>
              <a:rPr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GraphSAGE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Broad residual retunes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Huber-loss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optimizer sweeps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A9F4F-D665-BBDB-C7DC-F614D4F0CC79}"/>
              </a:ext>
            </a:extLst>
          </p:cNvPr>
          <p:cNvSpPr/>
          <p:nvPr/>
        </p:nvSpPr>
        <p:spPr>
          <a:xfrm>
            <a:off x="4846320" y="1066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700" b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Highest-Value Directions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808A5B1-166C-4B84-2C32-A3CBEBB101D1}"/>
              </a:ext>
            </a:extLst>
          </p:cNvPr>
          <p:cNvSpPr/>
          <p:nvPr/>
        </p:nvSpPr>
        <p:spPr>
          <a:xfrm>
            <a:off x="4846320" y="145999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BE9C508-BABF-152A-D662-7274F65C5B59}"/>
              </a:ext>
            </a:extLst>
          </p:cNvPr>
          <p:cNvSpPr/>
          <p:nvPr/>
        </p:nvSpPr>
        <p:spPr>
          <a:xfrm>
            <a:off x="4983480" y="1533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Analysis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FCC5229-A23B-2CBD-2BD4-DE7BBD280907}"/>
              </a:ext>
            </a:extLst>
          </p:cNvPr>
          <p:cNvSpPr/>
          <p:nvPr/>
        </p:nvSpPr>
        <p:spPr>
          <a:xfrm>
            <a:off x="4983480" y="1871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Inspect errors by stiffness range, graph size, density, and weighted-degree statistics.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F2E87974-F7F8-1365-9835-2E04C17D7B1E}"/>
              </a:ext>
            </a:extLst>
          </p:cNvPr>
          <p:cNvSpPr/>
          <p:nvPr/>
        </p:nvSpPr>
        <p:spPr>
          <a:xfrm>
            <a:off x="4846320" y="255727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BF1901A-D80A-9548-B6CB-A40171D54B8E}"/>
              </a:ext>
            </a:extLst>
          </p:cNvPr>
          <p:cNvSpPr/>
          <p:nvPr/>
        </p:nvSpPr>
        <p:spPr>
          <a:xfrm>
            <a:off x="4983480" y="2630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Shift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91EAC72E-31D6-CA31-A788-855AC55A9FCC}"/>
              </a:ext>
            </a:extLst>
          </p:cNvPr>
          <p:cNvSpPr/>
          <p:nvPr/>
        </p:nvSpPr>
        <p:spPr>
          <a:xfrm>
            <a:off x="4983480" y="2968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train/test/prediction-set feature distributions to identify structural mismatch.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E1D6A68E-0AE4-988E-9A2E-F8B5E2A56449}"/>
              </a:ext>
            </a:extLst>
          </p:cNvPr>
          <p:cNvSpPr/>
          <p:nvPr/>
        </p:nvSpPr>
        <p:spPr>
          <a:xfrm>
            <a:off x="4846320" y="36545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1C91912-5C8A-A040-FCA7-6CE78CFE3DDB}"/>
              </a:ext>
            </a:extLst>
          </p:cNvPr>
          <p:cNvSpPr/>
          <p:nvPr/>
        </p:nvSpPr>
        <p:spPr>
          <a:xfrm>
            <a:off x="4983480" y="3727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Inference Aggregation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55E18E21-7AD9-CFE2-AF07-9E1471CFD153}"/>
              </a:ext>
            </a:extLst>
          </p:cNvPr>
          <p:cNvSpPr/>
          <p:nvPr/>
        </p:nvSpPr>
        <p:spPr>
          <a:xfrm>
            <a:off x="4983480" y="406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plain GCN-3 ensembling when the goal is maximum fixed-split held-out accuracy.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6-3-REU</Template>
  <TotalTime>331</TotalTime>
  <Words>973</Words>
  <Application>Microsoft Office PowerPoint</Application>
  <PresentationFormat>On-screen Show (4:3)</PresentationFormat>
  <Paragraphs>206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10</cp:revision>
  <cp:lastPrinted>2016-03-29T19:22:42Z</cp:lastPrinted>
  <dcterms:created xsi:type="dcterms:W3CDTF">2026-06-29T22:58:28Z</dcterms:created>
  <dcterms:modified xsi:type="dcterms:W3CDTF">2026-07-09T01:31:50Z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