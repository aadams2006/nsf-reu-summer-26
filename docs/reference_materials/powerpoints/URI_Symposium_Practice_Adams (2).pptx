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Arial"/>
              </a:rPr>
              <a:t>Mean Held-Out Test R² by Configuration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Baseline
GCN-2</c:v>
                  </c:pt>
                  <c:pt idx="1">
                    <c:v>+ Richer
Features</c:v>
                  </c:pt>
                  <c:pt idx="2">
                    <c:v>+ Graph
Features</c:v>
                  </c:pt>
                  <c:pt idx="3">
                    <c:v>+ Target
Norm.</c:v>
                  </c:pt>
                  <c:pt idx="4">
                    <c:v>GCN-3
(best)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0.9148</c:v>
                </c:pt>
                <c:pt idx="1">
                  <c:v>0.938</c:v>
                </c:pt>
                <c:pt idx="2">
                  <c:v>0.9411</c:v>
                </c:pt>
                <c:pt idx="3">
                  <c:v>0.9447</c:v>
                </c:pt>
                <c:pt idx="4">
                  <c:v>0.9456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50" u="none">
                  <a:solidFill>
                    <a:srgbClr val="1E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project, myself, and my advisor. Keep it to about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problem, then pivot to the size of the prize: cite the $1.2T+ advanced materials market and the faster-growing lattice/composites segment. Land the line: materials set the ceiling for every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pitch slide: don't apologize for not curing a disease directly — make the case that every headline field, including medicine, is capped by materials, and that's exactly the bottleneck this project attacks. Land the pull-quote slowly,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right, then point out the six representation upgrades tested this summer. Emphasize this is a controlled, additive research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diagram top to bottom: 9 node features and weighted edges go into 3 stacked GCNConv layers (hidden dim 24), pool to a graph embedding, fuse with 12 graph-level features, then a linear layer predicts normalized stiffness. Mention Adam two-phase schedule and why GCN-3 was promoted over GCN-2/GraphSAGE/GIN.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chart: each bar is a confirmed, multi-seed-validated gain. Baseline R2 0.9148 to 0.9456 with 24% RMSE reduction. All gains from feature engineering, not optimizer swaps.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significance in one sentence, thank Dr. Liu and the REU program, and stop — leave time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114800" cy="41148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REU — OPTICS &amp; PHOTONICS  |  SUMMER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Lattice Stiffness with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Neural Networks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defect-aware alternative to finite element simulation for architected lattice materials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Adams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Mechanical Engineering &amp; Materials Science, University of Pittsburgh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Xing Liu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Mechanical &amp; Industrial Engineering, New Jersey Institute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Significance &amp; Goals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icons_flas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0759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34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assumes perfectly periodic lattices. Manufacturing reality introduces strut-diameter variation, missing struts, and node misalignment — so classical models fail to predict real stiffness and fracture behavior.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8" name="Image 1" descr="icons_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31927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246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" y="370332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 neural network that predicts lattice stiffness directly from imperfect, real-world geometry — fast enough for iterative design, accurate enough to trust in place of full simulation.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26480" y="1188720"/>
            <a:ext cx="5532120" cy="5120640"/>
          </a:xfrm>
          <a:prstGeom prst="roundRect">
            <a:avLst>
              <a:gd name="adj" fmla="val 1429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9224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MATERIALS: THE MONEY BEHIND THE MATH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92240" y="18745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$1.2T+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advanced materials market (2023)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92240" y="3246120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3429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$110–133B → $205–313B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6492240" y="4069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composites &amp; lattice materials, 2024 → 2032–34 (~8–9% CAGR)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92240" y="4754880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4937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30–50%  /  40%+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492240" y="54864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Stiffness-to-weight gain over foams  /  possible weight reduction from lattice design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2377440"/>
            <a:ext cx="5486400" cy="54864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Materials Ceiling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high-stakes field runs into the same wall — no matter how urgent the mission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32204" y="1947672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icons_hear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64" y="20848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Neurodegenerative drug carriers and implants are only as good as the material that holds them together.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02152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94276" y="1947672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icons_bol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0848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85032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density and solar efficiency stall without lighter, stronger structural and storage materials.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64224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56348" y="1947672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icons_rocke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208483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01384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47104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efficiency gain in flight is a materials problem before it is ever an aerodynamics problem.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226296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218420" y="1947672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3" descr="icons_shield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580" y="208483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63456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409176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Protection-to-weight ratio is dictated by the material itself, not by the mission built around it.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61104" y="4343400"/>
            <a:ext cx="36576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188720" y="4572000"/>
            <a:ext cx="9829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Alzheimer’s therapeutics. Clean energy. Hypersonic flight. Every one of them stalls at the same wall — what materials can actually do. This project is built to move that wall.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$1.2T+ global advanced materials market underwrites all four — this is not a niche problem.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neural network learns directly on lattice geometry — no meshing, no billions of degrees of freedom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3332" y="1828800"/>
            <a:ext cx="585216" cy="585216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icons_sitem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19476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Geometry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positions,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connectivity, boundary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81528" y="2382012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8328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7972" y="1828800"/>
            <a:ext cx="585216" cy="585216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1" descr="icons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19476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edges,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node + graph-level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16168" y="2382012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82612" y="182880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icons_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194767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Model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5508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over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structure learns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 response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750808" y="2382012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05256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17252" y="182880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3" descr="icons_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24" y="194767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Stiffness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18972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surrogate for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 simulation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Pipeline Development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48640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graph edges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3547872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547872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node features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547104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547104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Graph-level features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48640" y="5010912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48640" y="50109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normalization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3547872" y="5010912"/>
            <a:ext cx="393192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547872" y="50109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search (GCN-2/3, GraphSAGE, GIN)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7644384" y="5010912"/>
            <a:ext cx="2953512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644384" y="5010912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validation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keeps Adam optimization + the same train/validation/test split fixed, so gains are attributable to representation, not tuning noise.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Model: GCN-3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node features → edge-weighted GCN convolutions → graph-level fusion → normalized stiffness output  ·  mean test R² 0.9456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Node Features (×9)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degree, weighted degree, dist. to center, boundary flag, mean/max edge length, mean edge weight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97680" y="1298448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3716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Weighted Edges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34840" y="1664208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Adjacency-area edge weights replace binary connectivity; passed into every GCNConv layer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17620" y="23682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7360920" cy="1417320"/>
          </a:xfrm>
          <a:prstGeom prst="roundRect">
            <a:avLst>
              <a:gd name="adj" fmla="val 451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752344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GCNConv  —  hidden_dim = 24  —  ReLU + Dropout (0.10)  —  edge-weighted message passing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172968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729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→ 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172968"/>
            <a:ext cx="6172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77540" y="3172968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7540" y="31729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→ 24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97780" y="3172968"/>
            <a:ext cx="6172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3172968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31729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→ 24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17620" y="407822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4352544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4439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Mean Pooling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473659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embeddings → one 24-dim graph embedding per lattice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4352544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44439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Graph-Level Features (×12)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34840" y="473659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node/edge counts, density, edge-weight &amp; degree stats, center-distance stats — concatenated after pooling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17620" y="551383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23260" y="5477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→ 36-dim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5788152"/>
            <a:ext cx="7360920" cy="777240"/>
          </a:xfrm>
          <a:prstGeom prst="roundRect">
            <a:avLst>
              <a:gd name="adj" fmla="val 8235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5788152"/>
            <a:ext cx="699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Output Layer  →  normalized stiffness prediction  →  inverse-transform  →  Predicted Stiffness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92440" y="1298448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66760" y="14813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66760" y="187452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two-phase LR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 → 0.0005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decay: 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1e-5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dim: 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+ 700 epochs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92440" y="42519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366760" y="44348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CONFIG WON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366760" y="480060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layers beat 2 in 4 of 5 seeds — modest but real depth gain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and GIN did not outperform GCN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R²: 0.9456  ·  RMSE: 0.002882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Prediction-set generalization is the open frontier — residual variants trade test accuracy for it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upgrades — not optimizer tuning — drove the accuracy gain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0876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508760"/>
            <a:ext cx="43434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R²:  0.9148  →  0.9456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952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best multi-seed configuration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 0.00382  →  0.00288  (−24%)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0" y="3383280"/>
            <a:ext cx="4343400" cy="2148840"/>
          </a:xfrm>
          <a:prstGeom prst="roundRect">
            <a:avLst>
              <a:gd name="adj" fmla="val 3404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8952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5 Seeds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0" y="39776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range: 0.934 – 0.955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remains the strongest optimizer — AdamW and SGD variants underperform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GCN-3 modestly outperforms GCN-2; GraphSAGE and GIN did not improve results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out-of-distribution (prediction-set) generalization still trails held-out test accuracy — the focus of ongoing work.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Future Work</a:t>
            </a:r>
            <a:endParaRPr lang="en-US" sz="3000" dirty="0"/>
          </a:p>
        </p:txBody>
      </p:sp>
      <p:pic>
        <p:nvPicPr>
          <p:cNvPr id="5" name="Image 0" descr="icons_rocke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stands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defect-aware GCN surrogate now predicts lattice stiffness at 0.95 test R² — replacing costly FE simulation and enabling rapid design iteration across defective, real-world lattice geometries.</a:t>
            </a:r>
            <a:endParaRPr lang="en-US" sz="1350" dirty="0"/>
          </a:p>
        </p:txBody>
      </p:sp>
      <p:pic>
        <p:nvPicPr>
          <p:cNvPr id="8" name="Image 1" descr="icons_bulb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375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37490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validation of Huber-loss objective for tail-seed stability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residual GCN-3 to close the out-of-distribution gap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stiffness to failure-mode / fracture prediction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46520" y="141732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76656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766560" y="201168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set the ceiling for aerospace, energy, medicine, and defense alike. Faster, defect-aware design tools push that ceiling higher — across a $1.2T+ market moving toward $200–300B+ in architected materials alone.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46520" y="402336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766560" y="4224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766560" y="457200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Xing Liu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Mechanical &amp; Industrial Engineering, NJIT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REU Site: Optics &amp; Photonics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Jersey Institute of Technology, Summer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Lattice Stiffness with Graph Neural Networks</dc:title>
  <dc:subject>PptxGenJS Presentation</dc:subject>
  <dc:creator>Alexander Adams</dc:creator>
  <cp:lastModifiedBy>Alexander Adams</cp:lastModifiedBy>
  <cp:revision>1</cp:revision>
  <dcterms:created xsi:type="dcterms:W3CDTF">2026-07-07T12:42:53Z</dcterms:created>
  <dcterms:modified xsi:type="dcterms:W3CDTF">2026-07-07T12:42:53Z</dcterms:modified>
</cp:coreProperties>
</file>