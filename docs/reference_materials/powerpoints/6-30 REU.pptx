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commentAuthors.xml" ContentType="application/vnd.openxmlformats-officedocument.presentationml.commentAuthor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>
  <p:sldMasterIdLst>
    <p:sldMasterId id="2147483648" r:id="rId4"/>
  </p:sldMasterIdLst>
  <p:notesMasterIdLst>
    <p:notesMasterId r:id="rId17"/>
  </p:notesMasterIdLst>
  <p:handoutMasterIdLst>
    <p:handoutMasterId r:id="rId18"/>
  </p:handoutMasterIdLst>
  <p:sldIdLst>
    <p:sldId id="256" r:id="rId5"/>
    <p:sldId id="258" r:id="rId6"/>
    <p:sldId id="259" r:id="rId7"/>
    <p:sldId id="260" r:id="rId8"/>
    <p:sldId id="261" r:id="rId9"/>
    <p:sldId id="262" r:id="rId10"/>
    <p:sldId id="263" r:id="rId11"/>
    <p:sldId id="264" r:id="rId12"/>
    <p:sldId id="265" r:id="rId13"/>
    <p:sldId id="266" r:id="rId14"/>
    <p:sldId id="267" r:id="rId15"/>
    <p:sldId id="268" r:id="rId16"/>
  </p:sldIdLst>
  <p:sldSz cx="9144000" cy="6858000" type="screen4x3"/>
  <p:notesSz cx="6858000" cy="9144000"/>
  <p:defaultTextStyle>
    <a:defPPr>
      <a:defRPr lang="en-US"/>
    </a:defPPr>
    <a:lvl1pPr algn="l" rtl="0" eaLnBrk="0" fontAlgn="base" hangingPunct="0">
      <a:spcBef>
        <a:spcPct val="50000"/>
      </a:spcBef>
      <a:spcAft>
        <a:spcPct val="0"/>
      </a:spcAft>
      <a:defRPr sz="2800" kern="1200">
        <a:solidFill>
          <a:schemeClr val="tx1"/>
        </a:solidFill>
        <a:latin typeface="Arial" charset="0"/>
        <a:ea typeface="ＭＳ Ｐゴシック" charset="-128"/>
        <a:cs typeface="ＭＳ Ｐゴシック" charset="-128"/>
      </a:defRPr>
    </a:lvl1pPr>
    <a:lvl2pPr marL="457200" algn="l" rtl="0" eaLnBrk="0" fontAlgn="base" hangingPunct="0">
      <a:spcBef>
        <a:spcPct val="50000"/>
      </a:spcBef>
      <a:spcAft>
        <a:spcPct val="0"/>
      </a:spcAft>
      <a:defRPr sz="2800" kern="1200">
        <a:solidFill>
          <a:schemeClr val="tx1"/>
        </a:solidFill>
        <a:latin typeface="Arial" charset="0"/>
        <a:ea typeface="ＭＳ Ｐゴシック" charset="-128"/>
        <a:cs typeface="ＭＳ Ｐゴシック" charset="-128"/>
      </a:defRPr>
    </a:lvl2pPr>
    <a:lvl3pPr marL="914400" algn="l" rtl="0" eaLnBrk="0" fontAlgn="base" hangingPunct="0">
      <a:spcBef>
        <a:spcPct val="50000"/>
      </a:spcBef>
      <a:spcAft>
        <a:spcPct val="0"/>
      </a:spcAft>
      <a:defRPr sz="2800" kern="1200">
        <a:solidFill>
          <a:schemeClr val="tx1"/>
        </a:solidFill>
        <a:latin typeface="Arial" charset="0"/>
        <a:ea typeface="ＭＳ Ｐゴシック" charset="-128"/>
        <a:cs typeface="ＭＳ Ｐゴシック" charset="-128"/>
      </a:defRPr>
    </a:lvl3pPr>
    <a:lvl4pPr marL="1371600" algn="l" rtl="0" eaLnBrk="0" fontAlgn="base" hangingPunct="0">
      <a:spcBef>
        <a:spcPct val="50000"/>
      </a:spcBef>
      <a:spcAft>
        <a:spcPct val="0"/>
      </a:spcAft>
      <a:defRPr sz="2800" kern="1200">
        <a:solidFill>
          <a:schemeClr val="tx1"/>
        </a:solidFill>
        <a:latin typeface="Arial" charset="0"/>
        <a:ea typeface="ＭＳ Ｐゴシック" charset="-128"/>
        <a:cs typeface="ＭＳ Ｐゴシック" charset="-128"/>
      </a:defRPr>
    </a:lvl4pPr>
    <a:lvl5pPr marL="1828800" algn="l" rtl="0" eaLnBrk="0" fontAlgn="base" hangingPunct="0">
      <a:spcBef>
        <a:spcPct val="50000"/>
      </a:spcBef>
      <a:spcAft>
        <a:spcPct val="0"/>
      </a:spcAft>
      <a:defRPr sz="2800" kern="1200">
        <a:solidFill>
          <a:schemeClr val="tx1"/>
        </a:solidFill>
        <a:latin typeface="Arial" charset="0"/>
        <a:ea typeface="ＭＳ Ｐゴシック" charset="-128"/>
        <a:cs typeface="ＭＳ Ｐゴシック" charset="-128"/>
      </a:defRPr>
    </a:lvl5pPr>
    <a:lvl6pPr marL="2286000" algn="l" defTabSz="457200" rtl="0" eaLnBrk="1" latinLnBrk="0" hangingPunct="1">
      <a:defRPr sz="2800" kern="1200">
        <a:solidFill>
          <a:schemeClr val="tx1"/>
        </a:solidFill>
        <a:latin typeface="Arial" charset="0"/>
        <a:ea typeface="ＭＳ Ｐゴシック" charset="-128"/>
        <a:cs typeface="ＭＳ Ｐゴシック" charset="-128"/>
      </a:defRPr>
    </a:lvl6pPr>
    <a:lvl7pPr marL="2743200" algn="l" defTabSz="457200" rtl="0" eaLnBrk="1" latinLnBrk="0" hangingPunct="1">
      <a:defRPr sz="2800" kern="1200">
        <a:solidFill>
          <a:schemeClr val="tx1"/>
        </a:solidFill>
        <a:latin typeface="Arial" charset="0"/>
        <a:ea typeface="ＭＳ Ｐゴシック" charset="-128"/>
        <a:cs typeface="ＭＳ Ｐゴシック" charset="-128"/>
      </a:defRPr>
    </a:lvl7pPr>
    <a:lvl8pPr marL="3200400" algn="l" defTabSz="457200" rtl="0" eaLnBrk="1" latinLnBrk="0" hangingPunct="1">
      <a:defRPr sz="2800" kern="1200">
        <a:solidFill>
          <a:schemeClr val="tx1"/>
        </a:solidFill>
        <a:latin typeface="Arial" charset="0"/>
        <a:ea typeface="ＭＳ Ｐゴシック" charset="-128"/>
        <a:cs typeface="ＭＳ Ｐゴシック" charset="-128"/>
      </a:defRPr>
    </a:lvl8pPr>
    <a:lvl9pPr marL="3657600" algn="l" defTabSz="457200" rtl="0" eaLnBrk="1" latinLnBrk="0" hangingPunct="1">
      <a:defRPr sz="2800" kern="1200">
        <a:solidFill>
          <a:schemeClr val="tx1"/>
        </a:solidFill>
        <a:latin typeface="Arial" charset="0"/>
        <a:ea typeface="ＭＳ Ｐゴシック" charset="-128"/>
        <a:cs typeface="ＭＳ Ｐゴシック" charset="-128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>
        <p15:guide id="1" orient="horz" pos="2880">
          <p15:clr>
            <a:srgbClr val="A4A3A4"/>
          </p15:clr>
        </p15:guide>
        <p15:guide id="2" pos="2160">
          <p15:clr>
            <a:srgbClr val="A4A3A4"/>
          </p15:clr>
        </p15:guide>
      </p15:notesGuideLst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0" name="Tevis Jacobs" initials="T" lastIdx="1" clrIdx="0"/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0C4686"/>
    <a:srgbClr val="0F3E7B"/>
    <a:srgbClr val="014F9E"/>
    <a:srgbClr val="FCB61C"/>
    <a:srgbClr val="001F5B"/>
    <a:srgbClr val="A7D2E0"/>
    <a:srgbClr val="0432FF"/>
    <a:srgbClr val="FF0000"/>
    <a:srgbClr val="FF2500"/>
    <a:srgbClr val="00000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F5AB1C69-6EDB-4FF4-983F-18BD219EF322}" styleName="Medium Style 2 - Accent 3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3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3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8025" autoAdjust="0"/>
    <p:restoredTop sz="93505" autoAdjust="0"/>
  </p:normalViewPr>
  <p:slideViewPr>
    <p:cSldViewPr>
      <p:cViewPr varScale="1">
        <p:scale>
          <a:sx n="98" d="100"/>
          <a:sy n="98" d="100"/>
        </p:scale>
        <p:origin x="907" y="82"/>
      </p:cViewPr>
      <p:guideLst>
        <p:guide orient="horz" pos="216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sorterViewPr>
    <p:cViewPr>
      <p:scale>
        <a:sx n="100" d="100"/>
        <a:sy n="100" d="100"/>
      </p:scale>
      <p:origin x="0" y="11152"/>
    </p:cViewPr>
  </p:sorterViewPr>
  <p:notesViewPr>
    <p:cSldViewPr>
      <p:cViewPr varScale="1">
        <p:scale>
          <a:sx n="86" d="100"/>
          <a:sy n="86" d="100"/>
        </p:scale>
        <p:origin x="-3042" y="-78"/>
      </p:cViewPr>
      <p:guideLst>
        <p:guide orient="horz" pos="2880"/>
        <p:guide pos="2160"/>
      </p:guideLst>
    </p:cSldViewPr>
  </p:notes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4.xml"/><Relationship Id="rId13" Type="http://schemas.openxmlformats.org/officeDocument/2006/relationships/slide" Target="slides/slide9.xml"/><Relationship Id="rId18" Type="http://schemas.openxmlformats.org/officeDocument/2006/relationships/handoutMaster" Target="handoutMasters/handoutMaster1.xml"/><Relationship Id="rId3" Type="http://schemas.openxmlformats.org/officeDocument/2006/relationships/customXml" Target="../customXml/item3.xml"/><Relationship Id="rId21" Type="http://schemas.openxmlformats.org/officeDocument/2006/relationships/viewProps" Target="viewProps.xml"/><Relationship Id="rId7" Type="http://schemas.openxmlformats.org/officeDocument/2006/relationships/slide" Target="slides/slide3.xml"/><Relationship Id="rId12" Type="http://schemas.openxmlformats.org/officeDocument/2006/relationships/slide" Target="slides/slide8.xml"/><Relationship Id="rId17" Type="http://schemas.openxmlformats.org/officeDocument/2006/relationships/notesMaster" Target="notesMasters/notesMaster1.xml"/><Relationship Id="rId2" Type="http://schemas.openxmlformats.org/officeDocument/2006/relationships/customXml" Target="../customXml/item2.xml"/><Relationship Id="rId16" Type="http://schemas.openxmlformats.org/officeDocument/2006/relationships/slide" Target="slides/slide12.xml"/><Relationship Id="rId20" Type="http://schemas.openxmlformats.org/officeDocument/2006/relationships/presProps" Target="presProps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1" Type="http://schemas.openxmlformats.org/officeDocument/2006/relationships/slide" Target="slides/slide7.xml"/><Relationship Id="rId5" Type="http://schemas.openxmlformats.org/officeDocument/2006/relationships/slide" Target="slides/slide1.xml"/><Relationship Id="rId15" Type="http://schemas.openxmlformats.org/officeDocument/2006/relationships/slide" Target="slides/slide11.xml"/><Relationship Id="rId23" Type="http://schemas.openxmlformats.org/officeDocument/2006/relationships/tableStyles" Target="tableStyles.xml"/><Relationship Id="rId10" Type="http://schemas.openxmlformats.org/officeDocument/2006/relationships/slide" Target="slides/slide6.xml"/><Relationship Id="rId19" Type="http://schemas.openxmlformats.org/officeDocument/2006/relationships/commentAuthors" Target="commentAuthor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5.xml"/><Relationship Id="rId14" Type="http://schemas.openxmlformats.org/officeDocument/2006/relationships/slide" Target="slides/slide10.xml"/><Relationship Id="rId22" Type="http://schemas.openxmlformats.org/officeDocument/2006/relationships/theme" Target="theme/theme1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018" name="Rectangle 2"/>
          <p:cNvSpPr>
            <a:spLocks noGrp="1" noChangeArrowheads="1"/>
          </p:cNvSpPr>
          <p:nvPr>
            <p:ph type="hdr" sz="quarter"/>
          </p:nvPr>
        </p:nvSpPr>
        <p:spPr bwMode="auto">
          <a:xfrm>
            <a:off x="0" y="0"/>
            <a:ext cx="2971800" cy="4572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>
              <a:spcBef>
                <a:spcPct val="0"/>
              </a:spcBef>
              <a:defRPr sz="1200">
                <a:solidFill>
                  <a:schemeClr val="bg1"/>
                </a:solidFill>
                <a:ea typeface="+mn-ea"/>
                <a:cs typeface="+mn-cs"/>
              </a:defRPr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214019" name="Rectangle 3"/>
          <p:cNvSpPr>
            <a:spLocks noGrp="1" noChangeArrowheads="1"/>
          </p:cNvSpPr>
          <p:nvPr>
            <p:ph type="dt" sz="quarter" idx="1"/>
          </p:nvPr>
        </p:nvSpPr>
        <p:spPr bwMode="auto">
          <a:xfrm>
            <a:off x="3884613" y="0"/>
            <a:ext cx="2971800" cy="4572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algn="r">
              <a:spcBef>
                <a:spcPct val="0"/>
              </a:spcBef>
              <a:defRPr sz="1200">
                <a:solidFill>
                  <a:schemeClr val="bg1"/>
                </a:solidFill>
              </a:defRPr>
            </a:lvl1pPr>
          </a:lstStyle>
          <a:p>
            <a:pPr>
              <a:defRPr/>
            </a:pPr>
            <a:fld id="{DC77948F-8F14-D741-A91D-17DAA1A33C3C}" type="datetime1">
              <a:rPr lang="en-US"/>
              <a:pPr>
                <a:defRPr/>
              </a:pPr>
              <a:t>6/30/2026</a:t>
            </a:fld>
            <a:endParaRPr lang="en-US"/>
          </a:p>
        </p:txBody>
      </p:sp>
      <p:sp>
        <p:nvSpPr>
          <p:cNvPr id="214020" name="Rectangle 4"/>
          <p:cNvSpPr>
            <a:spLocks noGrp="1" noChangeArrowheads="1"/>
          </p:cNvSpPr>
          <p:nvPr>
            <p:ph type="ftr" sz="quarter" idx="2"/>
          </p:nvPr>
        </p:nvSpPr>
        <p:spPr bwMode="auto">
          <a:xfrm>
            <a:off x="0" y="8685213"/>
            <a:ext cx="2971800" cy="4572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>
            <a:lvl1pPr>
              <a:spcBef>
                <a:spcPct val="0"/>
              </a:spcBef>
              <a:defRPr sz="1200">
                <a:solidFill>
                  <a:schemeClr val="bg1"/>
                </a:solidFill>
                <a:ea typeface="+mn-ea"/>
                <a:cs typeface="+mn-cs"/>
              </a:defRPr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214021" name="Rectangle 5"/>
          <p:cNvSpPr>
            <a:spLocks noGrp="1" noChangeArrowheads="1"/>
          </p:cNvSpPr>
          <p:nvPr>
            <p:ph type="sldNum" sz="quarter" idx="3"/>
          </p:nvPr>
        </p:nvSpPr>
        <p:spPr bwMode="auto">
          <a:xfrm>
            <a:off x="3884613" y="8685213"/>
            <a:ext cx="2971800" cy="4572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>
            <a:lvl1pPr algn="r">
              <a:spcBef>
                <a:spcPct val="0"/>
              </a:spcBef>
              <a:defRPr sz="1200">
                <a:solidFill>
                  <a:schemeClr val="bg1"/>
                </a:solidFill>
              </a:defRPr>
            </a:lvl1pPr>
          </a:lstStyle>
          <a:p>
            <a:pPr>
              <a:defRPr/>
            </a:pPr>
            <a:fld id="{19EFBD60-ED00-9F49-9C44-185C37AA9222}" type="slidenum">
              <a:rPr lang="en-US"/>
              <a:pPr>
                <a:defRPr/>
              </a:pPr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80123222"/>
      </p:ext>
    </p:extLst>
  </p:cSld>
  <p:clrMap bg1="lt1" tx1="dk1" bg2="lt2" tx2="dk2" accent1="accent1" accent2="accent2" accent3="accent3" accent4="accent4" accent5="accent5" accent6="accent6" hlink="hlink" folHlink="folHlink"/>
  <p:hf hdr="0" ftr="0" dt="0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4" name="Rectangle 2"/>
          <p:cNvSpPr>
            <a:spLocks noGrp="1" noChangeArrowheads="1"/>
          </p:cNvSpPr>
          <p:nvPr>
            <p:ph type="hdr" sz="quarter"/>
          </p:nvPr>
        </p:nvSpPr>
        <p:spPr bwMode="auto">
          <a:xfrm>
            <a:off x="0" y="0"/>
            <a:ext cx="2971800" cy="4572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eaLnBrk="1" hangingPunct="1">
              <a:spcBef>
                <a:spcPct val="0"/>
              </a:spcBef>
              <a:defRPr sz="1200">
                <a:solidFill>
                  <a:schemeClr val="tx1"/>
                </a:solidFill>
                <a:ea typeface="+mn-ea"/>
                <a:cs typeface="+mn-cs"/>
              </a:defRPr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3075" name="Rectangle 3"/>
          <p:cNvSpPr>
            <a:spLocks noGrp="1" noChangeArrowheads="1"/>
          </p:cNvSpPr>
          <p:nvPr>
            <p:ph type="dt" idx="1"/>
          </p:nvPr>
        </p:nvSpPr>
        <p:spPr bwMode="auto">
          <a:xfrm>
            <a:off x="3884613" y="0"/>
            <a:ext cx="2971800" cy="4572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algn="r" eaLnBrk="1" hangingPunct="1">
              <a:spcBef>
                <a:spcPct val="0"/>
              </a:spcBef>
              <a:defRPr sz="1200">
                <a:solidFill>
                  <a:schemeClr val="tx1"/>
                </a:solidFill>
                <a:ea typeface="+mn-ea"/>
                <a:cs typeface="+mn-cs"/>
              </a:defRPr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7172" name="Rectangle 4"/>
          <p:cNvSpPr>
            <a:spLocks noGrp="1" noRot="1" noChangeAspect="1" noChangeArrowheads="1" noTextEdit="1"/>
          </p:cNvSpPr>
          <p:nvPr>
            <p:ph type="sldImg" idx="2"/>
          </p:nvPr>
        </p:nvSpPr>
        <p:spPr bwMode="auto">
          <a:xfrm>
            <a:off x="1143000" y="685800"/>
            <a:ext cx="4572000" cy="3429000"/>
          </a:xfrm>
          <a:prstGeom prst="rect">
            <a:avLst/>
          </a:prstGeom>
          <a:noFill/>
          <a:ln w="9525">
            <a:solidFill>
              <a:srgbClr val="000000"/>
            </a:solidFill>
            <a:miter lim="800000"/>
            <a:headEnd/>
            <a:tailEnd/>
          </a:ln>
        </p:spPr>
      </p:sp>
      <p:sp>
        <p:nvSpPr>
          <p:cNvPr id="3077" name="Rectangle 5"/>
          <p:cNvSpPr>
            <a:spLocks noGrp="1" noChangeArrowheads="1"/>
          </p:cNvSpPr>
          <p:nvPr>
            <p:ph type="body" sz="quarter" idx="3"/>
          </p:nvPr>
        </p:nvSpPr>
        <p:spPr bwMode="auto">
          <a:xfrm>
            <a:off x="685800" y="4343400"/>
            <a:ext cx="5486400" cy="41148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en-US" noProof="0"/>
              <a:t>Click to edit Master text styles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</a:p>
        </p:txBody>
      </p:sp>
      <p:sp>
        <p:nvSpPr>
          <p:cNvPr id="3078" name="Rectangle 6"/>
          <p:cNvSpPr>
            <a:spLocks noGrp="1" noChangeArrowheads="1"/>
          </p:cNvSpPr>
          <p:nvPr>
            <p:ph type="ftr" sz="quarter" idx="4"/>
          </p:nvPr>
        </p:nvSpPr>
        <p:spPr bwMode="auto">
          <a:xfrm>
            <a:off x="0" y="8685213"/>
            <a:ext cx="2971800" cy="4572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>
            <a:lvl1pPr eaLnBrk="1" hangingPunct="1">
              <a:spcBef>
                <a:spcPct val="0"/>
              </a:spcBef>
              <a:defRPr sz="1200">
                <a:solidFill>
                  <a:schemeClr val="tx1"/>
                </a:solidFill>
                <a:ea typeface="+mn-ea"/>
                <a:cs typeface="+mn-cs"/>
              </a:defRPr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3079" name="Rectangle 7"/>
          <p:cNvSpPr>
            <a:spLocks noGrp="1" noChangeArrowheads="1"/>
          </p:cNvSpPr>
          <p:nvPr>
            <p:ph type="sldNum" sz="quarter" idx="5"/>
          </p:nvPr>
        </p:nvSpPr>
        <p:spPr bwMode="auto">
          <a:xfrm>
            <a:off x="3884613" y="8685213"/>
            <a:ext cx="2971800" cy="4572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>
            <a:lvl1pPr algn="r" eaLnBrk="1" hangingPunct="1">
              <a:spcBef>
                <a:spcPct val="0"/>
              </a:spcBef>
              <a:defRPr sz="1200"/>
            </a:lvl1pPr>
          </a:lstStyle>
          <a:p>
            <a:pPr>
              <a:defRPr/>
            </a:pPr>
            <a:fld id="{17E32B26-EEC0-9247-A56A-A050A540A0C5}" type="slidenum">
              <a:rPr lang="en-US"/>
              <a:pPr>
                <a:defRPr/>
              </a:pPr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02116230"/>
      </p:ext>
    </p:extLst>
  </p:cSld>
  <p:clrMap bg1="lt1" tx1="dk1" bg2="lt2" tx2="dk2" accent1="accent1" accent2="accent2" accent3="accent3" accent4="accent4" accent5="accent5" accent6="accent6" hlink="hlink" folHlink="folHlink"/>
  <p:hf hdr="0" ftr="0" dt="0"/>
  <p:notesStyle>
    <a:lvl1pPr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Arial" charset="0"/>
        <a:ea typeface="ＭＳ Ｐゴシック" charset="-128"/>
        <a:cs typeface="ＭＳ Ｐゴシック" charset="-128"/>
      </a:defRPr>
    </a:lvl1pPr>
    <a:lvl2pPr marL="4572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Arial" charset="0"/>
        <a:ea typeface="ＭＳ Ｐゴシック" charset="-128"/>
        <a:cs typeface="+mn-cs"/>
      </a:defRPr>
    </a:lvl2pPr>
    <a:lvl3pPr marL="9144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Arial" charset="0"/>
        <a:ea typeface="ＭＳ Ｐゴシック" charset="-128"/>
        <a:cs typeface="+mn-cs"/>
      </a:defRPr>
    </a:lvl3pPr>
    <a:lvl4pPr marL="13716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Arial" charset="0"/>
        <a:ea typeface="ＭＳ Ｐゴシック" charset="-128"/>
        <a:cs typeface="+mn-cs"/>
      </a:defRPr>
    </a:lvl4pPr>
    <a:lvl5pPr marL="18288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Arial" charset="0"/>
        <a:ea typeface="ＭＳ Ｐゴシック" charset="-128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Predicting the Mechanical Properties of Complex Lattice Metamaterials Using Graph Neural Networks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>
              <a:defRPr/>
            </a:pPr>
            <a:fld id="{17E32B26-EEC0-9247-A56A-A050A540A0C5}" type="slidenum">
              <a:rPr lang="en-US" smtClean="0"/>
              <a:pPr>
                <a:defRPr/>
              </a:pPr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5261315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171450" indent="-171450">
              <a:buFontTx/>
              <a:buChar char="-"/>
            </a:pPr>
            <a:r>
              <a:rPr lang="en-US" b="1" dirty="0"/>
              <a:t>Graph topology:</a:t>
            </a:r>
            <a:r>
              <a:rPr lang="en-US" dirty="0"/>
              <a:t> The connectivity pattern between nodes and edges, independent of physical geometry. </a:t>
            </a:r>
            <a:r>
              <a:rPr lang="en-US" b="1" dirty="0"/>
              <a:t>FEA (Finite Element Analysis):</a:t>
            </a:r>
            <a:r>
              <a:rPr lang="en-US" dirty="0"/>
              <a:t> A numerical simulation method used to approximate the mechanical behavior of structures. </a:t>
            </a:r>
            <a:r>
              <a:rPr lang="en-US" b="1" dirty="0"/>
              <a:t>Abaqus:</a:t>
            </a:r>
            <a:r>
              <a:rPr lang="en-US" dirty="0"/>
              <a:t> Commercial finite element software used to generate stiffness simulations. </a:t>
            </a:r>
            <a:r>
              <a:rPr lang="en-US" b="1" dirty="0"/>
              <a:t>R² (Coefficient of Determination):</a:t>
            </a:r>
            <a:r>
              <a:rPr lang="en-US" dirty="0"/>
              <a:t> Measures how much variance in the target is explained by the model; values closer to 1 indicate better predictions.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>
              <a:defRPr/>
            </a:pPr>
            <a:fld id="{17E32B26-EEC0-9247-A56A-A050A540A0C5}" type="slidenum">
              <a:rPr lang="en-US" smtClean="0"/>
              <a:pPr>
                <a:defRPr/>
              </a:pPr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06019596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9EC90E4-543F-6977-38E0-4B49F88B8F7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A3D2E7A-C0D1-BED7-E78C-16019C69C90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ADCC250B-F1F7-1E4E-7A59-2D6E6100D1C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b="1" dirty="0"/>
              <a:t>Hidden dimension:</a:t>
            </a:r>
            <a:r>
              <a:rPr lang="en-US" dirty="0"/>
              <a:t> Number of learned features each node stores internally between GCN layers. </a:t>
            </a:r>
          </a:p>
          <a:p>
            <a:r>
              <a:rPr lang="en-US" b="1" dirty="0"/>
              <a:t>Adam optimizer:</a:t>
            </a:r>
            <a:r>
              <a:rPr lang="en-US" dirty="0"/>
              <a:t> Adaptive gradient-based optimization algorithm that adjusts learning rates automatically. </a:t>
            </a:r>
          </a:p>
          <a:p>
            <a:r>
              <a:rPr lang="en-US" b="1" dirty="0"/>
              <a:t>Weight decay:</a:t>
            </a:r>
            <a:r>
              <a:rPr lang="en-US" dirty="0"/>
              <a:t> Regularization technique that penalizes large model weights to reduce overfitting. </a:t>
            </a:r>
          </a:p>
          <a:p>
            <a:r>
              <a:rPr lang="en-US" b="1" dirty="0"/>
              <a:t>Epoch:</a:t>
            </a:r>
            <a:r>
              <a:rPr lang="en-US" dirty="0"/>
              <a:t> One complete pass through the training dataset. </a:t>
            </a:r>
          </a:p>
          <a:p>
            <a:r>
              <a:rPr lang="en-US" b="1" dirty="0"/>
              <a:t>Learning rate (</a:t>
            </a:r>
            <a:r>
              <a:rPr lang="en-US" b="1" dirty="0" err="1"/>
              <a:t>lr</a:t>
            </a:r>
            <a:r>
              <a:rPr lang="en-US" b="1" dirty="0"/>
              <a:t>):</a:t>
            </a:r>
            <a:r>
              <a:rPr lang="en-US" dirty="0"/>
              <a:t> Controls the size of each optimization step. </a:t>
            </a:r>
          </a:p>
          <a:p>
            <a:r>
              <a:rPr lang="en-US" b="1" dirty="0"/>
              <a:t>RMSE:</a:t>
            </a:r>
            <a:r>
              <a:rPr lang="en-US" dirty="0"/>
              <a:t> Root Mean Squared Error; penalizes larger prediction errors more heavily. </a:t>
            </a:r>
          </a:p>
          <a:p>
            <a:r>
              <a:rPr lang="en-US" b="1" dirty="0"/>
              <a:t>MAE:</a:t>
            </a:r>
            <a:r>
              <a:rPr lang="en-US" dirty="0"/>
              <a:t> Mean Absolute Error; average magnitude of prediction errors. </a:t>
            </a:r>
          </a:p>
          <a:p>
            <a:pPr marL="171450" indent="-171450">
              <a:buFontTx/>
              <a:buChar char="-"/>
            </a:pP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FF3C640-6A87-490C-047B-DBE41FA0C740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>
              <a:defRPr/>
            </a:pPr>
            <a:fld id="{17E32B26-EEC0-9247-A56A-A050A540A0C5}" type="slidenum">
              <a:rPr lang="en-US" smtClean="0"/>
              <a:pPr>
                <a:defRPr/>
              </a:pPr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98804723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3492956-8B87-72D6-A3FF-467A15C3A8D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4AF1E2E4-70AF-27D2-6D76-6F133D8B3FF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BF085FDA-6366-1008-2B3E-2BCC14BA6D9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171450" indent="-171450">
              <a:buFontTx/>
              <a:buChar char="-"/>
            </a:pPr>
            <a:r>
              <a:rPr lang="en-US" b="1" dirty="0" err="1"/>
              <a:t>AdamW</a:t>
            </a:r>
            <a:r>
              <a:rPr lang="en-US" b="1" dirty="0"/>
              <a:t>:</a:t>
            </a:r>
            <a:r>
              <a:rPr lang="en-US" dirty="0"/>
              <a:t> Variant of Adam that decouples weight decay from gradient updates. </a:t>
            </a:r>
            <a:r>
              <a:rPr lang="en-US" b="1" dirty="0"/>
              <a:t>SGD (Stochastic Gradient Descent):</a:t>
            </a:r>
            <a:r>
              <a:rPr lang="en-US" dirty="0"/>
              <a:t> Updates parameters using small batches of data instead of the full dataset. </a:t>
            </a:r>
            <a:r>
              <a:rPr lang="en-US" b="1" dirty="0"/>
              <a:t>Momentum:</a:t>
            </a:r>
            <a:r>
              <a:rPr lang="en-US" dirty="0"/>
              <a:t> Uses previous gradients to smooth optimization and accelerate convergence. </a:t>
            </a:r>
            <a:r>
              <a:rPr lang="en-US" b="1" dirty="0"/>
              <a:t>Nesterov momentum:</a:t>
            </a:r>
            <a:r>
              <a:rPr lang="en-US" dirty="0"/>
              <a:t> Looks ahead before updating parameters to improve optimization stability. </a:t>
            </a:r>
            <a:r>
              <a:rPr lang="en-US" b="1" dirty="0"/>
              <a:t>Control experiment:</a:t>
            </a:r>
            <a:r>
              <a:rPr lang="en-US" dirty="0"/>
              <a:t> Baseline used for fair comparison against modified models.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EE58D84-47E1-575C-7BC7-8B0B2D3AEEE7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>
              <a:defRPr/>
            </a:pPr>
            <a:fld id="{17E32B26-EEC0-9247-A56A-A050A540A0C5}" type="slidenum">
              <a:rPr lang="en-US" smtClean="0"/>
              <a:pPr>
                <a:defRPr/>
              </a:pPr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709942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058635A-5984-4FEB-2812-4073801593A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776F523C-2361-4DF0-D478-FA4B98D08F2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0E93E21A-7E8E-AE5A-C908-44C0E2CBCF7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171450" marR="0" lvl="0" indent="-171450" algn="l" defTabSz="914400" rtl="0" eaLnBrk="0" fontAlgn="base" latinLnBrk="0" hangingPunct="0">
              <a:lnSpc>
                <a:spcPct val="100000"/>
              </a:lnSpc>
              <a:spcBef>
                <a:spcPct val="30000"/>
              </a:spcBef>
              <a:spcAft>
                <a:spcPct val="0"/>
              </a:spcAft>
              <a:buClrTx/>
              <a:buSzTx/>
              <a:buFontTx/>
              <a:buChar char="-"/>
              <a:tabLst/>
              <a:defRPr/>
            </a:pPr>
            <a:r>
              <a:rPr lang="en-US" sz="1200" i="1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Interpretation: Weighted edges preserve real graph information and improve out-of-distribution behavior somewhat, but do not move the held-out test ceiling. Retained for all future runs.</a:t>
            </a:r>
            <a:r>
              <a:rPr lang="en-US" b="1" dirty="0"/>
              <a:t> Adjacency matrix:</a:t>
            </a:r>
            <a:r>
              <a:rPr lang="en-US" dirty="0"/>
              <a:t> Matrix describing which nodes are connected. </a:t>
            </a:r>
            <a:r>
              <a:rPr lang="en-US" b="1" dirty="0"/>
              <a:t>Binary edges:</a:t>
            </a:r>
            <a:r>
              <a:rPr lang="en-US" dirty="0"/>
              <a:t> Connections represented only as present (1) or absent (0). </a:t>
            </a:r>
            <a:r>
              <a:rPr lang="en-US" b="1" dirty="0"/>
              <a:t>Edge weights:</a:t>
            </a:r>
            <a:r>
              <a:rPr lang="en-US" dirty="0"/>
              <a:t> Numerical values representing connection strength or physical significance. </a:t>
            </a:r>
            <a:r>
              <a:rPr lang="en-US" b="1" dirty="0" err="1"/>
              <a:t>GCNConv</a:t>
            </a:r>
            <a:r>
              <a:rPr lang="en-US" b="1" dirty="0"/>
              <a:t>:</a:t>
            </a:r>
            <a:r>
              <a:rPr lang="en-US" dirty="0"/>
              <a:t> Graph convolution layer that aggregates information from neighboring nodes. </a:t>
            </a:r>
            <a:r>
              <a:rPr lang="en-US" b="1" dirty="0"/>
              <a:t>Out-of-distribution:</a:t>
            </a:r>
            <a:r>
              <a:rPr lang="en-US" dirty="0"/>
              <a:t> Data differing from the training distribution, making prediction more difficult.</a:t>
            </a:r>
            <a:endParaRPr lang="en-US" sz="1200" dirty="0"/>
          </a:p>
          <a:p>
            <a:pPr marL="171450" indent="-171450">
              <a:buFontTx/>
              <a:buChar char="-"/>
            </a:pP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9844897-8A05-654E-05DB-95CD06ECF981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>
              <a:defRPr/>
            </a:pPr>
            <a:fld id="{17E32B26-EEC0-9247-A56A-A050A540A0C5}" type="slidenum">
              <a:rPr lang="en-US" smtClean="0"/>
              <a:pPr>
                <a:defRPr/>
              </a:pPr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5230230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CB17DD5-0BDD-54B5-F9FC-EB01C7D4186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D02CEFC2-B088-2FC2-D51D-017015ABB62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DF9BD481-2D9E-A8B2-1F63-00D05372FA9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171450" marR="0" lvl="0" indent="-171450" algn="l" defTabSz="914400" rtl="0" eaLnBrk="0" fontAlgn="base" latinLnBrk="0" hangingPunct="0">
              <a:lnSpc>
                <a:spcPct val="100000"/>
              </a:lnSpc>
              <a:spcBef>
                <a:spcPct val="30000"/>
              </a:spcBef>
              <a:spcAft>
                <a:spcPct val="0"/>
              </a:spcAft>
              <a:buClrTx/>
              <a:buSzTx/>
              <a:buFontTx/>
              <a:buChar char="-"/>
              <a:tabLst/>
              <a:defRPr/>
            </a:pPr>
            <a:r>
              <a:rPr lang="en-US" sz="1200" i="1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Strongest single improvement. Confirmed stable across multiple seeds (mean test R²: 0.9380). Best prediction-set generalization </a:t>
            </a:r>
            <a:r>
              <a:rPr lang="en-US" sz="1200" i="1" dirty="0" err="1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baseline</a:t>
            </a:r>
            <a:r>
              <a:rPr lang="en-US" b="1" dirty="0" err="1"/>
              <a:t>Node</a:t>
            </a:r>
            <a:r>
              <a:rPr lang="en-US" b="1" dirty="0"/>
              <a:t> degree:</a:t>
            </a:r>
            <a:r>
              <a:rPr lang="en-US" dirty="0"/>
              <a:t> Number of edges connected to a node. </a:t>
            </a:r>
            <a:r>
              <a:rPr lang="en-US" b="1" dirty="0"/>
              <a:t>Weighted degree:</a:t>
            </a:r>
            <a:r>
              <a:rPr lang="en-US" dirty="0"/>
              <a:t> Sum of edge weights connected to a node. </a:t>
            </a:r>
            <a:r>
              <a:rPr lang="en-US" b="1" dirty="0"/>
              <a:t>Boundary indicator:</a:t>
            </a:r>
            <a:r>
              <a:rPr lang="en-US" dirty="0"/>
              <a:t> Binary feature identifying whether a node lies on the specimen boundary. </a:t>
            </a:r>
            <a:r>
              <a:rPr lang="en-US" b="1" dirty="0"/>
              <a:t>Incident edge:</a:t>
            </a:r>
            <a:r>
              <a:rPr lang="en-US" dirty="0"/>
              <a:t> Any edge directly connected to a node. </a:t>
            </a:r>
            <a:r>
              <a:rPr lang="en-US" b="1" dirty="0"/>
              <a:t>Feature engineering:</a:t>
            </a:r>
            <a:r>
              <a:rPr lang="en-US" dirty="0"/>
              <a:t> Creating informative input features to improve model performance.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F4FB8BA-83CA-E449-4D4D-7F5187DCD243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>
              <a:defRPr/>
            </a:pPr>
            <a:fld id="{17E32B26-EEC0-9247-A56A-A050A540A0C5}" type="slidenum">
              <a:rPr lang="en-US" smtClean="0"/>
              <a:pPr>
                <a:defRPr/>
              </a:pPr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6798286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9FE5110-AF89-CB30-34DE-73DDDBDD544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4D485BD5-C677-A524-B69B-5A8D5452AAF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171E01CD-E4FC-1EE9-7C38-309C8684C31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b="1" dirty="0"/>
              <a:t>Random seed:</a:t>
            </a:r>
            <a:r>
              <a:rPr lang="en-US" dirty="0"/>
              <a:t> Controls random initialization for reproducible experiments. </a:t>
            </a:r>
          </a:p>
          <a:p>
            <a:r>
              <a:rPr lang="en-US" b="1" dirty="0"/>
              <a:t>Variance:</a:t>
            </a:r>
            <a:r>
              <a:rPr lang="en-US" dirty="0"/>
              <a:t> Natural performance differences caused by random initialization or data ordering. </a:t>
            </a:r>
          </a:p>
          <a:p>
            <a:r>
              <a:rPr lang="en-US" b="1" dirty="0"/>
              <a:t>Held-out test set:</a:t>
            </a:r>
            <a:r>
              <a:rPr lang="en-US" dirty="0"/>
              <a:t> Data never seen during training, used for unbiased evaluation. </a:t>
            </a:r>
          </a:p>
          <a:p>
            <a:r>
              <a:rPr lang="en-US" b="1" dirty="0"/>
              <a:t>Generalization:</a:t>
            </a:r>
            <a:r>
              <a:rPr lang="en-US" dirty="0"/>
              <a:t> Ability of a model to perform well on unseen data. </a:t>
            </a:r>
          </a:p>
          <a:p>
            <a:pPr marL="171450" indent="-171450">
              <a:buFontTx/>
              <a:buChar char="-"/>
            </a:pP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1CC451A-25EC-04CF-C5D6-4974A5096297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>
              <a:defRPr/>
            </a:pPr>
            <a:fld id="{17E32B26-EEC0-9247-A56A-A050A540A0C5}" type="slidenum">
              <a:rPr lang="en-US" smtClean="0"/>
              <a:pPr>
                <a:defRPr/>
              </a:pPr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94160402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7885B7C-4285-78F3-D490-D10AF263763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D7E99F37-8540-2813-47B4-7C041AB8AF2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5968D144-466B-A79A-E339-F1A949D02CB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171450" marR="0" lvl="0" indent="-171450" algn="l" defTabSz="914400" rtl="0" eaLnBrk="0" fontAlgn="base" latinLnBrk="0" hangingPunct="0">
              <a:lnSpc>
                <a:spcPct val="100000"/>
              </a:lnSpc>
              <a:spcBef>
                <a:spcPct val="30000"/>
              </a:spcBef>
              <a:spcAft>
                <a:spcPct val="0"/>
              </a:spcAft>
              <a:buClrTx/>
              <a:buSzTx/>
              <a:buFontTx/>
              <a:buChar char="-"/>
              <a:tabLst/>
              <a:defRPr/>
            </a:pPr>
            <a:r>
              <a:rPr lang="en-US" sz="1200" i="1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Marginal improvement on held-out test; prediction-set R² declined. Graph features help in-distribution fit but do not yet resolve out-of-distribution robustness.</a:t>
            </a:r>
            <a:endParaRPr lang="en-US" sz="1200" dirty="0"/>
          </a:p>
          <a:p>
            <a:pPr marL="171450" indent="-171450">
              <a:buFontTx/>
              <a:buChar char="-"/>
            </a:pPr>
            <a:r>
              <a:rPr lang="en-US" b="1" dirty="0"/>
              <a:t>Graph density:</a:t>
            </a:r>
            <a:r>
              <a:rPr lang="en-US" dirty="0"/>
              <a:t> Fraction of possible edges that actually exist. </a:t>
            </a:r>
            <a:r>
              <a:rPr lang="en-US" b="1" dirty="0"/>
              <a:t>Pooling:</a:t>
            </a:r>
            <a:r>
              <a:rPr lang="en-US" dirty="0"/>
              <a:t> Combines node-level information into a single graph representation. </a:t>
            </a:r>
            <a:r>
              <a:rPr lang="en-US" b="1" dirty="0"/>
              <a:t>Concatenation:</a:t>
            </a:r>
            <a:r>
              <a:rPr lang="en-US" dirty="0"/>
              <a:t> Joining multiple feature vectors into one larger vector. </a:t>
            </a:r>
            <a:r>
              <a:rPr lang="en-US" b="1" dirty="0"/>
              <a:t>Normalization:</a:t>
            </a:r>
            <a:r>
              <a:rPr lang="en-US" dirty="0"/>
              <a:t> Scaling features to comparable ranges for more stable training. </a:t>
            </a:r>
            <a:r>
              <a:rPr lang="en-US" b="1" dirty="0"/>
              <a:t>Standard deviation (std):</a:t>
            </a:r>
            <a:r>
              <a:rPr lang="en-US" dirty="0"/>
              <a:t> Measures variability within a set of values.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BDCCC15-6D2B-61B6-2CC7-4D6F9B25FC8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>
              <a:defRPr/>
            </a:pPr>
            <a:fld id="{17E32B26-EEC0-9247-A56A-A050A540A0C5}" type="slidenum">
              <a:rPr lang="en-US" smtClean="0"/>
              <a:pPr>
                <a:defRPr/>
              </a:pPr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3300185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E661986-4181-A64E-01F8-4FB76C4AECE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DC27EF1F-2609-292F-F0D2-E870023D77E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7B487EEF-E436-E304-23A3-9CA0F72A713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171450" indent="-171450">
              <a:buFontTx/>
              <a:buChar char="-"/>
            </a:pPr>
            <a:r>
              <a:rPr lang="en-US" b="1" dirty="0"/>
              <a:t>Regression target:</a:t>
            </a:r>
            <a:r>
              <a:rPr lang="en-US" dirty="0"/>
              <a:t> Continuous value the model is trained to predict (stiffness). </a:t>
            </a:r>
            <a:r>
              <a:rPr lang="en-US" b="1" dirty="0"/>
              <a:t>Target normalization:</a:t>
            </a:r>
            <a:r>
              <a:rPr lang="en-US" dirty="0"/>
              <a:t> Scaling output values before training to improve optimization. </a:t>
            </a:r>
            <a:r>
              <a:rPr lang="en-US" b="1" dirty="0"/>
              <a:t>Robustness:</a:t>
            </a:r>
            <a:r>
              <a:rPr lang="en-US" dirty="0"/>
              <a:t> Ability of the model to maintain performance under different conditions. </a:t>
            </a:r>
            <a:r>
              <a:rPr lang="en-US" b="1" dirty="0"/>
              <a:t>Tradeoff:</a:t>
            </a:r>
            <a:r>
              <a:rPr lang="en-US" dirty="0"/>
              <a:t> Improving one performance metric while another may decrease.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019C8B6-7250-F93D-7D30-C48E9BAF26E7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>
              <a:defRPr/>
            </a:pPr>
            <a:fld id="{17E32B26-EEC0-9247-A56A-A050A540A0C5}" type="slidenum">
              <a:rPr lang="en-US" smtClean="0"/>
              <a:pPr>
                <a:defRPr/>
              </a:pPr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71260462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34C7BBD-3B3D-2BDE-3DF7-DB0BF377D97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74157269-2556-D805-D6A2-044E521E2C5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B90E0FF2-C546-421F-DA45-7E47AF362FB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171450" indent="-171450">
              <a:buFontTx/>
              <a:buChar char="-"/>
            </a:pP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B5017B9-801A-84DA-80BC-D41093882C1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>
              <a:defRPr/>
            </a:pPr>
            <a:fld id="{17E32B26-EEC0-9247-A56A-A050A540A0C5}" type="slidenum">
              <a:rPr lang="en-US" smtClean="0"/>
              <a:pPr>
                <a:defRPr/>
              </a:pPr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30686543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6821F86-C282-A499-A187-E206A868B59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F2E87F3C-9E47-34C4-CB33-36E326FFF2C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A3FD4E47-F15B-3E93-D22C-1F7BDEE5558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171450" indent="-171450">
              <a:buFontTx/>
              <a:buChar char="-"/>
            </a:pPr>
            <a:r>
              <a:rPr lang="en-US" b="1" dirty="0"/>
              <a:t>In-distribution:</a:t>
            </a:r>
            <a:r>
              <a:rPr lang="en-US" dirty="0"/>
              <a:t> Data drawn from the same distribution as the training set. </a:t>
            </a:r>
            <a:r>
              <a:rPr lang="en-US" b="1" dirty="0"/>
              <a:t>Architecture:</a:t>
            </a:r>
            <a:r>
              <a:rPr lang="en-US" dirty="0"/>
              <a:t> Overall structure of the neural network, including layers and connections. </a:t>
            </a:r>
            <a:r>
              <a:rPr lang="en-US" b="1" dirty="0"/>
              <a:t>Objective function:</a:t>
            </a:r>
            <a:r>
              <a:rPr lang="en-US" dirty="0"/>
              <a:t> Mathematical function minimized during training to guide learning.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D8B3B4C-6439-07B5-1554-6B3A38B1204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>
              <a:defRPr/>
            </a:pPr>
            <a:fld id="{17E32B26-EEC0-9247-A56A-A050A540A0C5}" type="slidenum">
              <a:rPr lang="en-US" smtClean="0"/>
              <a:pPr>
                <a:defRPr/>
              </a:pPr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2151629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B3DD9FC-A83E-D592-3D21-784B2B5A0A4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A173F38C-0B46-1A50-24CA-5478A85C4C5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CFDF9009-073B-3FE6-4BB6-21FEED02233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171450" indent="-171450">
              <a:buFontTx/>
              <a:buChar char="-"/>
            </a:pPr>
            <a:r>
              <a:rPr lang="en-US" b="1" dirty="0"/>
              <a:t>GIN (Graph Isomorphism Network):</a:t>
            </a:r>
            <a:r>
              <a:rPr lang="en-US" dirty="0"/>
              <a:t> More expressive GNN architecture capable of distinguishing a wider range of graph structures. </a:t>
            </a:r>
            <a:r>
              <a:rPr lang="en-US" b="1" dirty="0" err="1"/>
              <a:t>GraphSAGE</a:t>
            </a:r>
            <a:r>
              <a:rPr lang="en-US" b="1" dirty="0"/>
              <a:t>:</a:t>
            </a:r>
            <a:r>
              <a:rPr lang="en-US" dirty="0"/>
              <a:t> GNN architecture that samples neighboring nodes, making it scalable to larger graphs. </a:t>
            </a:r>
            <a:r>
              <a:rPr lang="en-US" b="1" dirty="0"/>
              <a:t>Residual connection (skip connection):</a:t>
            </a:r>
            <a:r>
              <a:rPr lang="en-US" dirty="0"/>
              <a:t> Directly passes information across layers to improve gradient flow in deeper networks. </a:t>
            </a:r>
            <a:r>
              <a:rPr lang="en-US" b="1" dirty="0"/>
              <a:t>Inductive learning:</a:t>
            </a:r>
            <a:r>
              <a:rPr lang="en-US" dirty="0"/>
              <a:t> Ability to generalize to graphs not seen during training. </a:t>
            </a:r>
            <a:r>
              <a:rPr lang="en-US" b="1" dirty="0"/>
              <a:t>Split strategy:</a:t>
            </a:r>
            <a:r>
              <a:rPr lang="en-US" dirty="0"/>
              <a:t> Method of dividing data into training, validation, and testing sets.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4359C30-EF8F-44F2-5E7E-2EF3022F59B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>
              <a:defRPr/>
            </a:pPr>
            <a:fld id="{17E32B26-EEC0-9247-A56A-A050A540A0C5}" type="slidenum">
              <a:rPr lang="en-US" smtClean="0"/>
              <a:pPr>
                <a:defRPr/>
              </a:pPr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10925064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3.png"/></Relationships>
</file>

<file path=ppt/slideLayouts/_rels/slideLayout2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6.png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ody Slide (1 Title Line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 descr="Seal 2color 2 line.png">
            <a:extLst>
              <a:ext uri="{FF2B5EF4-FFF2-40B4-BE49-F238E27FC236}">
                <a16:creationId xmlns:a16="http://schemas.microsoft.com/office/drawing/2014/main" id="{5DFF146A-4BCE-6F95-2D4C-A6F7B2A0D782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32288" y="0"/>
            <a:ext cx="640597" cy="640597"/>
          </a:xfrm>
          <a:prstGeom prst="rect">
            <a:avLst/>
          </a:prstGeom>
        </p:spPr>
      </p:pic>
      <p:sp>
        <p:nvSpPr>
          <p:cNvPr id="6" name="Rectangle 5">
            <a:extLst>
              <a:ext uri="{FF2B5EF4-FFF2-40B4-BE49-F238E27FC236}">
                <a16:creationId xmlns:a16="http://schemas.microsoft.com/office/drawing/2014/main" id="{8A4FB9F8-A929-64F9-8452-DF5F52C12C2C}"/>
              </a:ext>
            </a:extLst>
          </p:cNvPr>
          <p:cNvSpPr/>
          <p:nvPr userDrawn="1"/>
        </p:nvSpPr>
        <p:spPr>
          <a:xfrm>
            <a:off x="8220730" y="0"/>
            <a:ext cx="923270" cy="640080"/>
          </a:xfrm>
          <a:prstGeom prst="rect">
            <a:avLst/>
          </a:prstGeom>
          <a:solidFill>
            <a:srgbClr val="B9A4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Rectangle 10">
            <a:extLst>
              <a:ext uri="{FF2B5EF4-FFF2-40B4-BE49-F238E27FC236}">
                <a16:creationId xmlns:a16="http://schemas.microsoft.com/office/drawing/2014/main" id="{3D2B8474-1DC1-B492-A83D-2535C61CCD2A}"/>
              </a:ext>
            </a:extLst>
          </p:cNvPr>
          <p:cNvSpPr>
            <a:spLocks noGrp="1" noChangeArrowheads="1"/>
          </p:cNvSpPr>
          <p:nvPr>
            <p:ph type="sldNum" sz="quarter" idx="4"/>
          </p:nvPr>
        </p:nvSpPr>
        <p:spPr>
          <a:xfrm>
            <a:off x="8229600" y="0"/>
            <a:ext cx="914400" cy="639763"/>
          </a:xfrm>
          <a:prstGeom prst="rect">
            <a:avLst/>
          </a:prstGeom>
          <a:ln/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>
            <a:lvl1pPr algn="ctr">
              <a:defRPr sz="2800">
                <a:solidFill>
                  <a:schemeClr val="tx1"/>
                </a:solidFill>
              </a:defRPr>
            </a:lvl1pPr>
          </a:lstStyle>
          <a:p>
            <a:pPr>
              <a:defRPr/>
            </a:pPr>
            <a:fld id="{DEE2FDD7-C825-9743-96D4-4DD964AE6A99}" type="slidenum">
              <a:rPr lang="en-US" smtClean="0"/>
              <a:pPr>
                <a:defRPr/>
              </a:pPr>
              <a:t>‹#›</a:t>
            </a:fld>
            <a:endParaRPr lang="en-US" dirty="0"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C670A84B-3904-6B95-68EB-E37CE90A1570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rcRect r="47333"/>
          <a:stretch>
            <a:fillRect/>
          </a:stretch>
        </p:blipFill>
        <p:spPr>
          <a:xfrm>
            <a:off x="705173" y="-42908"/>
            <a:ext cx="678055" cy="725262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6F9C7C03-25AE-60C0-E0C6-14C3DA9A5636}"/>
              </a:ext>
            </a:extLst>
          </p:cNvPr>
          <p:cNvPicPr>
            <a:picLocks noChangeAspect="1"/>
          </p:cNvPicPr>
          <p:nvPr userDrawn="1"/>
        </p:nvPicPr>
        <p:blipFill>
          <a:blip r:embed="rId4"/>
          <a:stretch>
            <a:fillRect/>
          </a:stretch>
        </p:blipFill>
        <p:spPr>
          <a:xfrm>
            <a:off x="1415516" y="-1151"/>
            <a:ext cx="640080" cy="640080"/>
          </a:xfrm>
          <a:prstGeom prst="rect">
            <a:avLst/>
          </a:prstGeom>
        </p:spPr>
      </p:pic>
      <p:sp>
        <p:nvSpPr>
          <p:cNvPr id="10" name="Title 9">
            <a:extLst>
              <a:ext uri="{FF2B5EF4-FFF2-40B4-BE49-F238E27FC236}">
                <a16:creationId xmlns:a16="http://schemas.microsoft.com/office/drawing/2014/main" id="{65BC5DFF-661D-7A87-98CC-549BC73161F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209800" y="19572"/>
            <a:ext cx="6010930" cy="639763"/>
          </a:xfrm>
          <a:prstGeom prst="rect">
            <a:avLst/>
          </a:prstGeo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>
            <a:extLst>
              <a:ext uri="{FF2B5EF4-FFF2-40B4-BE49-F238E27FC236}">
                <a16:creationId xmlns:a16="http://schemas.microsoft.com/office/drawing/2014/main" id="{4C041DF6-60C1-D18C-A84F-4C23DF4CAED5}"/>
              </a:ext>
            </a:extLst>
          </p:cNvPr>
          <p:cNvSpPr/>
          <p:nvPr userDrawn="1"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chemeClr val="accent3">
              <a:lumMod val="75000"/>
            </a:schemeClr>
          </a:solidFill>
          <a:ln>
            <a:solidFill>
              <a:schemeClr val="tx1"/>
            </a:solidFill>
          </a:ln>
        </p:spPr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B7E6410E-FFA5-6012-8204-8E0258311395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0" y="0"/>
            <a:ext cx="1729076" cy="975487"/>
          </a:xfrm>
          <a:prstGeom prst="rect">
            <a:avLst/>
          </a:prstGeom>
        </p:spPr>
      </p:pic>
      <p:pic>
        <p:nvPicPr>
          <p:cNvPr id="11" name="Picture 10" descr="University of Pittsburgh, Mechanical Engineering and Materials Science">
            <a:extLst>
              <a:ext uri="{FF2B5EF4-FFF2-40B4-BE49-F238E27FC236}">
                <a16:creationId xmlns:a16="http://schemas.microsoft.com/office/drawing/2014/main" id="{18DF627C-11E2-B857-0B20-57F581D4A15A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5334000" y="6159660"/>
            <a:ext cx="2311580" cy="707743"/>
          </a:xfrm>
          <a:prstGeom prst="rect">
            <a:avLst/>
          </a:prstGeom>
        </p:spPr>
      </p:pic>
      <p:pic>
        <p:nvPicPr>
          <p:cNvPr id="12" name="Picture 11" descr="NJIT Launches a Campus Chapter of the National Academy of Inventors | David  A. Bader">
            <a:extLst>
              <a:ext uri="{FF2B5EF4-FFF2-40B4-BE49-F238E27FC236}">
                <a16:creationId xmlns:a16="http://schemas.microsoft.com/office/drawing/2014/main" id="{6B28D72E-749C-EBC3-22F6-A19174E6E21D}"/>
              </a:ext>
            </a:extLst>
          </p:cNvPr>
          <p:cNvPicPr>
            <a:picLocks noChangeAspect="1"/>
          </p:cNvPicPr>
          <p:nvPr userDrawn="1"/>
        </p:nvPicPr>
        <p:blipFill>
          <a:blip r:embed="rId4"/>
          <a:stretch>
            <a:fillRect/>
          </a:stretch>
        </p:blipFill>
        <p:spPr>
          <a:xfrm>
            <a:off x="7924800" y="6284380"/>
            <a:ext cx="1112280" cy="458301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ody Slide (2 Title Lines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10"/>
          <p:cNvSpPr>
            <a:spLocks noGrp="1" noChangeArrowheads="1"/>
          </p:cNvSpPr>
          <p:nvPr>
            <p:ph type="sldNum" sz="quarter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ADF2A186-A842-EB41-93F8-9926F66DBD04}" type="slidenum">
              <a:rPr lang="en-US"/>
              <a:pPr>
                <a:defRPr/>
              </a:pPr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7" Type="http://schemas.openxmlformats.org/officeDocument/2006/relationships/image" Target="../media/image3.png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2.png"/><Relationship Id="rId5" Type="http://schemas.openxmlformats.org/officeDocument/2006/relationships/image" Target="../media/image1.png"/><Relationship Id="rId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 userDrawn="1"/>
        </p:nvSpPr>
        <p:spPr>
          <a:xfrm>
            <a:off x="0" y="-317"/>
            <a:ext cx="9144000" cy="640080"/>
          </a:xfrm>
          <a:prstGeom prst="rect">
            <a:avLst/>
          </a:prstGeom>
          <a:solidFill>
            <a:schemeClr val="accent3">
              <a:lumMod val="7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pic>
        <p:nvPicPr>
          <p:cNvPr id="11" name="Picture 10" descr="Seal 2color 2 line.png"/>
          <p:cNvPicPr>
            <a:picLocks noChangeAspect="1"/>
          </p:cNvPicPr>
          <p:nvPr userDrawn="1"/>
        </p:nvPicPr>
        <p:blipFill rotWithShape="1">
          <a:blip r:embed="rId5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32288" y="0"/>
            <a:ext cx="640597" cy="640597"/>
          </a:xfrm>
          <a:prstGeom prst="rect">
            <a:avLst/>
          </a:prstGeom>
        </p:spPr>
      </p:pic>
      <p:sp>
        <p:nvSpPr>
          <p:cNvPr id="12" name="Rectangle 11"/>
          <p:cNvSpPr/>
          <p:nvPr userDrawn="1"/>
        </p:nvSpPr>
        <p:spPr>
          <a:xfrm>
            <a:off x="8220730" y="0"/>
            <a:ext cx="923270" cy="640080"/>
          </a:xfrm>
          <a:prstGeom prst="rect">
            <a:avLst/>
          </a:prstGeom>
          <a:solidFill>
            <a:srgbClr val="B9A4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Rectangle 10"/>
          <p:cNvSpPr>
            <a:spLocks noGrp="1" noChangeArrowheads="1"/>
          </p:cNvSpPr>
          <p:nvPr>
            <p:ph type="sldNum" sz="quarter" idx="4"/>
          </p:nvPr>
        </p:nvSpPr>
        <p:spPr>
          <a:xfrm>
            <a:off x="8229600" y="0"/>
            <a:ext cx="914400" cy="639763"/>
          </a:xfrm>
          <a:prstGeom prst="rect">
            <a:avLst/>
          </a:prstGeom>
          <a:ln/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>
            <a:lvl1pPr algn="ctr">
              <a:defRPr sz="2800">
                <a:solidFill>
                  <a:schemeClr val="tx1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pPr>
              <a:defRPr/>
            </a:pPr>
            <a:fld id="{DEE2FDD7-C825-9743-96D4-4DD964AE6A99}" type="slidenum">
              <a:rPr lang="en-US" smtClean="0"/>
              <a:pPr>
                <a:defRPr/>
              </a:pPr>
              <a:t>‹#›</a:t>
            </a:fld>
            <a:endParaRPr lang="en-US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D5FFD572-9420-AD18-8C3B-3529F2BF12E8}"/>
              </a:ext>
            </a:extLst>
          </p:cNvPr>
          <p:cNvSpPr txBox="1"/>
          <p:nvPr userDrawn="1"/>
        </p:nvSpPr>
        <p:spPr>
          <a:xfrm>
            <a:off x="2305373" y="3159641"/>
            <a:ext cx="4610746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endParaRPr lang="en-US" dirty="0"/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99C9725D-A2D6-16FE-6F5D-47EE05BF272F}"/>
              </a:ext>
            </a:extLst>
          </p:cNvPr>
          <p:cNvPicPr>
            <a:picLocks noChangeAspect="1"/>
          </p:cNvPicPr>
          <p:nvPr userDrawn="1"/>
        </p:nvPicPr>
        <p:blipFill>
          <a:blip r:embed="rId6"/>
          <a:srcRect r="47333"/>
          <a:stretch>
            <a:fillRect/>
          </a:stretch>
        </p:blipFill>
        <p:spPr>
          <a:xfrm>
            <a:off x="705173" y="-42908"/>
            <a:ext cx="678055" cy="725262"/>
          </a:xfrm>
          <a:prstGeom prst="rect">
            <a:avLst/>
          </a:prstGeom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BE3E585B-2E8A-DEF3-CD0F-C20D13904D3B}"/>
              </a:ext>
            </a:extLst>
          </p:cNvPr>
          <p:cNvPicPr>
            <a:picLocks noChangeAspect="1"/>
          </p:cNvPicPr>
          <p:nvPr userDrawn="1"/>
        </p:nvPicPr>
        <p:blipFill>
          <a:blip r:embed="rId7"/>
          <a:stretch>
            <a:fillRect/>
          </a:stretch>
        </p:blipFill>
        <p:spPr>
          <a:xfrm>
            <a:off x="1415516" y="-1151"/>
            <a:ext cx="640080" cy="640080"/>
          </a:xfrm>
          <a:prstGeom prst="rect">
            <a:avLst/>
          </a:prstGeom>
        </p:spPr>
      </p:pic>
    </p:spTree>
  </p:cSld>
  <p:clrMap bg1="lt1" tx1="dk1" bg2="lt2" tx2="dk2" accent1="accent1" accent2="accent2" accent3="accent3" accent4="accent4" accent5="accent5" accent6="accent6" hlink="hlink" folHlink="folHlink"/>
  <p:sldLayoutIdLst>
    <p:sldLayoutId id="2147483688" r:id="rId1"/>
    <p:sldLayoutId id="2147483690" r:id="rId2"/>
    <p:sldLayoutId id="2147483689" r:id="rId3"/>
  </p:sldLayoutIdLst>
  <p:hf hdr="0" ftr="0" dt="0"/>
  <p:txStyles>
    <p:titleStyle>
      <a:lvl1pPr algn="l" rtl="0" eaLnBrk="1" fontAlgn="base" hangingPunct="1">
        <a:spcBef>
          <a:spcPct val="0"/>
        </a:spcBef>
        <a:spcAft>
          <a:spcPct val="0"/>
        </a:spcAft>
        <a:defRPr sz="2800">
          <a:solidFill>
            <a:schemeClr val="bg1"/>
          </a:solidFill>
          <a:latin typeface="+mj-lt"/>
          <a:ea typeface="ＭＳ Ｐゴシック" charset="-128"/>
          <a:cs typeface="ＭＳ Ｐゴシック" charset="-128"/>
        </a:defRPr>
      </a:lvl1pPr>
      <a:lvl2pPr algn="l" rtl="0" eaLnBrk="1" fontAlgn="base" hangingPunct="1">
        <a:spcBef>
          <a:spcPct val="0"/>
        </a:spcBef>
        <a:spcAft>
          <a:spcPct val="0"/>
        </a:spcAft>
        <a:defRPr sz="2800">
          <a:solidFill>
            <a:schemeClr val="bg1"/>
          </a:solidFill>
          <a:latin typeface="Arial" charset="0"/>
          <a:ea typeface="ＭＳ Ｐゴシック" charset="-128"/>
          <a:cs typeface="ＭＳ Ｐゴシック" charset="-128"/>
        </a:defRPr>
      </a:lvl2pPr>
      <a:lvl3pPr algn="l" rtl="0" eaLnBrk="1" fontAlgn="base" hangingPunct="1">
        <a:spcBef>
          <a:spcPct val="0"/>
        </a:spcBef>
        <a:spcAft>
          <a:spcPct val="0"/>
        </a:spcAft>
        <a:defRPr sz="2800">
          <a:solidFill>
            <a:schemeClr val="bg1"/>
          </a:solidFill>
          <a:latin typeface="Arial" charset="0"/>
          <a:ea typeface="ＭＳ Ｐゴシック" charset="-128"/>
          <a:cs typeface="ＭＳ Ｐゴシック" charset="-128"/>
        </a:defRPr>
      </a:lvl3pPr>
      <a:lvl4pPr algn="l" rtl="0" eaLnBrk="1" fontAlgn="base" hangingPunct="1">
        <a:spcBef>
          <a:spcPct val="0"/>
        </a:spcBef>
        <a:spcAft>
          <a:spcPct val="0"/>
        </a:spcAft>
        <a:defRPr sz="2800">
          <a:solidFill>
            <a:schemeClr val="bg1"/>
          </a:solidFill>
          <a:latin typeface="Arial" charset="0"/>
          <a:ea typeface="ＭＳ Ｐゴシック" charset="-128"/>
          <a:cs typeface="ＭＳ Ｐゴシック" charset="-128"/>
        </a:defRPr>
      </a:lvl4pPr>
      <a:lvl5pPr algn="l" rtl="0" eaLnBrk="1" fontAlgn="base" hangingPunct="1">
        <a:spcBef>
          <a:spcPct val="0"/>
        </a:spcBef>
        <a:spcAft>
          <a:spcPct val="0"/>
        </a:spcAft>
        <a:defRPr sz="2800">
          <a:solidFill>
            <a:schemeClr val="bg1"/>
          </a:solidFill>
          <a:latin typeface="Arial" charset="0"/>
          <a:ea typeface="ＭＳ Ｐゴシック" charset="-128"/>
          <a:cs typeface="ＭＳ Ｐゴシック" charset="-128"/>
        </a:defRPr>
      </a:lvl5pPr>
      <a:lvl6pPr marL="457200" algn="l" rtl="0" eaLnBrk="1" fontAlgn="base" hangingPunct="1">
        <a:spcBef>
          <a:spcPct val="0"/>
        </a:spcBef>
        <a:spcAft>
          <a:spcPct val="0"/>
        </a:spcAft>
        <a:defRPr sz="2800">
          <a:solidFill>
            <a:schemeClr val="bg1"/>
          </a:solidFill>
          <a:latin typeface="Arial" charset="0"/>
        </a:defRPr>
      </a:lvl6pPr>
      <a:lvl7pPr marL="914400" algn="l" rtl="0" eaLnBrk="1" fontAlgn="base" hangingPunct="1">
        <a:spcBef>
          <a:spcPct val="0"/>
        </a:spcBef>
        <a:spcAft>
          <a:spcPct val="0"/>
        </a:spcAft>
        <a:defRPr sz="2800">
          <a:solidFill>
            <a:schemeClr val="bg1"/>
          </a:solidFill>
          <a:latin typeface="Arial" charset="0"/>
        </a:defRPr>
      </a:lvl7pPr>
      <a:lvl8pPr marL="1371600" algn="l" rtl="0" eaLnBrk="1" fontAlgn="base" hangingPunct="1">
        <a:spcBef>
          <a:spcPct val="0"/>
        </a:spcBef>
        <a:spcAft>
          <a:spcPct val="0"/>
        </a:spcAft>
        <a:defRPr sz="2800">
          <a:solidFill>
            <a:schemeClr val="bg1"/>
          </a:solidFill>
          <a:latin typeface="Arial" charset="0"/>
        </a:defRPr>
      </a:lvl8pPr>
      <a:lvl9pPr marL="1828800" algn="l" rtl="0" eaLnBrk="1" fontAlgn="base" hangingPunct="1">
        <a:spcBef>
          <a:spcPct val="0"/>
        </a:spcBef>
        <a:spcAft>
          <a:spcPct val="0"/>
        </a:spcAft>
        <a:defRPr sz="2800">
          <a:solidFill>
            <a:schemeClr val="bg1"/>
          </a:solidFill>
          <a:latin typeface="Arial" charset="0"/>
        </a:defRPr>
      </a:lvl9pPr>
    </p:titleStyle>
    <p:bodyStyle>
      <a:lvl1pPr marL="342900" indent="-342900" algn="l" rtl="0" eaLnBrk="1" fontAlgn="base" hangingPunct="1">
        <a:spcBef>
          <a:spcPct val="20000"/>
        </a:spcBef>
        <a:spcAft>
          <a:spcPct val="0"/>
        </a:spcAft>
        <a:buChar char="•"/>
        <a:defRPr sz="3200">
          <a:solidFill>
            <a:schemeClr val="tx1"/>
          </a:solidFill>
          <a:latin typeface="+mn-lt"/>
          <a:ea typeface="ＭＳ Ｐゴシック" charset="-128"/>
          <a:cs typeface="ＭＳ Ｐゴシック" charset="-128"/>
        </a:defRPr>
      </a:lvl1pPr>
      <a:lvl2pPr marL="742950" indent="-285750" algn="l" rtl="0" eaLnBrk="1" fontAlgn="base" hangingPunct="1">
        <a:spcBef>
          <a:spcPct val="20000"/>
        </a:spcBef>
        <a:spcAft>
          <a:spcPct val="0"/>
        </a:spcAft>
        <a:buChar char="–"/>
        <a:defRPr sz="2800">
          <a:solidFill>
            <a:schemeClr val="tx1"/>
          </a:solidFill>
          <a:latin typeface="+mn-lt"/>
          <a:ea typeface="ＭＳ Ｐゴシック" charset="-128"/>
        </a:defRPr>
      </a:lvl2pPr>
      <a:lvl3pPr marL="1143000" indent="-228600" algn="l" rtl="0" eaLnBrk="1" fontAlgn="base" hangingPunct="1">
        <a:spcBef>
          <a:spcPct val="20000"/>
        </a:spcBef>
        <a:spcAft>
          <a:spcPct val="0"/>
        </a:spcAft>
        <a:buChar char="•"/>
        <a:defRPr sz="2400">
          <a:solidFill>
            <a:schemeClr val="tx1"/>
          </a:solidFill>
          <a:latin typeface="+mn-lt"/>
          <a:ea typeface="ＭＳ Ｐゴシック" charset="-128"/>
        </a:defRPr>
      </a:lvl3pPr>
      <a:lvl4pPr marL="1600200" indent="-228600" algn="l" rtl="0" eaLnBrk="1" fontAlgn="base" hangingPunct="1">
        <a:spcBef>
          <a:spcPct val="20000"/>
        </a:spcBef>
        <a:spcAft>
          <a:spcPct val="0"/>
        </a:spcAft>
        <a:buChar char="–"/>
        <a:defRPr sz="2000">
          <a:solidFill>
            <a:schemeClr val="tx1"/>
          </a:solidFill>
          <a:latin typeface="+mn-lt"/>
          <a:ea typeface="ＭＳ Ｐゴシック" charset="-128"/>
        </a:defRPr>
      </a:lvl4pPr>
      <a:lvl5pPr marL="2057400" indent="-228600" algn="l" rtl="0" eaLnBrk="1" fontAlgn="base" hangingPunct="1">
        <a:spcBef>
          <a:spcPct val="20000"/>
        </a:spcBef>
        <a:spcAft>
          <a:spcPct val="0"/>
        </a:spcAft>
        <a:buChar char="»"/>
        <a:defRPr sz="2000">
          <a:solidFill>
            <a:schemeClr val="tx1"/>
          </a:solidFill>
          <a:latin typeface="+mn-lt"/>
          <a:ea typeface="ＭＳ Ｐゴシック" charset="-128"/>
        </a:defRPr>
      </a:lvl5pPr>
      <a:lvl6pPr marL="2514600" indent="-228600" algn="l" rtl="0" eaLnBrk="1" fontAlgn="base" hangingPunct="1">
        <a:spcBef>
          <a:spcPct val="20000"/>
        </a:spcBef>
        <a:spcAft>
          <a:spcPct val="0"/>
        </a:spcAft>
        <a:buChar char="»"/>
        <a:defRPr sz="2000">
          <a:solidFill>
            <a:schemeClr val="tx1"/>
          </a:solidFill>
          <a:latin typeface="+mn-lt"/>
        </a:defRPr>
      </a:lvl6pPr>
      <a:lvl7pPr marL="2971800" indent="-228600" algn="l" rtl="0" eaLnBrk="1" fontAlgn="base" hangingPunct="1">
        <a:spcBef>
          <a:spcPct val="20000"/>
        </a:spcBef>
        <a:spcAft>
          <a:spcPct val="0"/>
        </a:spcAft>
        <a:buChar char="»"/>
        <a:defRPr sz="2000">
          <a:solidFill>
            <a:schemeClr val="tx1"/>
          </a:solidFill>
          <a:latin typeface="+mn-lt"/>
        </a:defRPr>
      </a:lvl7pPr>
      <a:lvl8pPr marL="3429000" indent="-228600" algn="l" rtl="0" eaLnBrk="1" fontAlgn="base" hangingPunct="1">
        <a:spcBef>
          <a:spcPct val="20000"/>
        </a:spcBef>
        <a:spcAft>
          <a:spcPct val="0"/>
        </a:spcAft>
        <a:buChar char="»"/>
        <a:defRPr sz="2000">
          <a:solidFill>
            <a:schemeClr val="tx1"/>
          </a:solidFill>
          <a:latin typeface="+mn-lt"/>
        </a:defRPr>
      </a:lvl8pPr>
      <a:lvl9pPr marL="3886200" indent="-228600" algn="l" rtl="0" eaLnBrk="1" fontAlgn="base" hangingPunct="1">
        <a:spcBef>
          <a:spcPct val="20000"/>
        </a:spcBef>
        <a:spcAft>
          <a:spcPct val="0"/>
        </a:spcAft>
        <a:buChar char="»"/>
        <a:defRPr sz="2000">
          <a:solidFill>
            <a:schemeClr val="tx1"/>
          </a:solidFill>
          <a:latin typeface="+mn-lt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3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3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3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3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3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3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3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3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3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3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Box 14">
            <a:extLst>
              <a:ext uri="{FF2B5EF4-FFF2-40B4-BE49-F238E27FC236}">
                <a16:creationId xmlns:a16="http://schemas.microsoft.com/office/drawing/2014/main" id="{EC73BF8B-9074-FEFA-90EF-69C858B96FA3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028700" y="2667000"/>
            <a:ext cx="7086600" cy="1461236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lIns="83472" tIns="83472" rIns="83472" bIns="83472">
            <a:spAutoFit/>
          </a:bodyPr>
          <a:lstStyle>
            <a:lvl1pPr defTabSz="977900" eaLnBrk="0" hangingPunct="0">
              <a:tabLst>
                <a:tab pos="5362575" algn="l"/>
              </a:tabLst>
              <a:defRPr sz="3200">
                <a:solidFill>
                  <a:schemeClr val="tx1"/>
                </a:solidFill>
                <a:latin typeface="Helvetica" charset="0"/>
                <a:ea typeface="ＭＳ Ｐゴシック" charset="-128"/>
              </a:defRPr>
            </a:lvl1pPr>
            <a:lvl2pPr marL="742950" indent="-285750" defTabSz="977900" eaLnBrk="0" hangingPunct="0">
              <a:tabLst>
                <a:tab pos="5362575" algn="l"/>
              </a:tabLst>
              <a:defRPr sz="3200">
                <a:solidFill>
                  <a:schemeClr val="tx1"/>
                </a:solidFill>
                <a:latin typeface="Helvetica" charset="0"/>
                <a:ea typeface="ＭＳ Ｐゴシック" charset="-128"/>
              </a:defRPr>
            </a:lvl2pPr>
            <a:lvl3pPr marL="1143000" indent="-228600" defTabSz="977900" eaLnBrk="0" hangingPunct="0">
              <a:tabLst>
                <a:tab pos="5362575" algn="l"/>
              </a:tabLst>
              <a:defRPr sz="3200">
                <a:solidFill>
                  <a:schemeClr val="tx1"/>
                </a:solidFill>
                <a:latin typeface="Helvetica" charset="0"/>
                <a:ea typeface="ＭＳ Ｐゴシック" charset="-128"/>
              </a:defRPr>
            </a:lvl3pPr>
            <a:lvl4pPr marL="1600200" indent="-228600" defTabSz="977900" eaLnBrk="0" hangingPunct="0">
              <a:tabLst>
                <a:tab pos="5362575" algn="l"/>
              </a:tabLst>
              <a:defRPr sz="3200">
                <a:solidFill>
                  <a:schemeClr val="tx1"/>
                </a:solidFill>
                <a:latin typeface="Helvetica" charset="0"/>
                <a:ea typeface="ＭＳ Ｐゴシック" charset="-128"/>
              </a:defRPr>
            </a:lvl4pPr>
            <a:lvl5pPr marL="2057400" indent="-228600" defTabSz="977900" eaLnBrk="0" hangingPunct="0">
              <a:tabLst>
                <a:tab pos="5362575" algn="l"/>
              </a:tabLst>
              <a:defRPr sz="3200">
                <a:solidFill>
                  <a:schemeClr val="tx1"/>
                </a:solidFill>
                <a:latin typeface="Helvetica" charset="0"/>
                <a:ea typeface="ＭＳ Ｐゴシック" charset="-128"/>
              </a:defRPr>
            </a:lvl5pPr>
            <a:lvl6pPr marL="2514600" indent="-228600" defTabSz="977900" eaLnBrk="0" fontAlgn="base" hangingPunct="0">
              <a:spcBef>
                <a:spcPct val="0"/>
              </a:spcBef>
              <a:spcAft>
                <a:spcPct val="0"/>
              </a:spcAft>
              <a:tabLst>
                <a:tab pos="5362575" algn="l"/>
              </a:tabLst>
              <a:defRPr sz="3200">
                <a:solidFill>
                  <a:schemeClr val="tx1"/>
                </a:solidFill>
                <a:latin typeface="Helvetica" charset="0"/>
                <a:ea typeface="ＭＳ Ｐゴシック" charset="-128"/>
              </a:defRPr>
            </a:lvl6pPr>
            <a:lvl7pPr marL="2971800" indent="-228600" defTabSz="977900" eaLnBrk="0" fontAlgn="base" hangingPunct="0">
              <a:spcBef>
                <a:spcPct val="0"/>
              </a:spcBef>
              <a:spcAft>
                <a:spcPct val="0"/>
              </a:spcAft>
              <a:tabLst>
                <a:tab pos="5362575" algn="l"/>
              </a:tabLst>
              <a:defRPr sz="3200">
                <a:solidFill>
                  <a:schemeClr val="tx1"/>
                </a:solidFill>
                <a:latin typeface="Helvetica" charset="0"/>
                <a:ea typeface="ＭＳ Ｐゴシック" charset="-128"/>
              </a:defRPr>
            </a:lvl7pPr>
            <a:lvl8pPr marL="3429000" indent="-228600" defTabSz="977900" eaLnBrk="0" fontAlgn="base" hangingPunct="0">
              <a:spcBef>
                <a:spcPct val="0"/>
              </a:spcBef>
              <a:spcAft>
                <a:spcPct val="0"/>
              </a:spcAft>
              <a:tabLst>
                <a:tab pos="5362575" algn="l"/>
              </a:tabLst>
              <a:defRPr sz="3200">
                <a:solidFill>
                  <a:schemeClr val="tx1"/>
                </a:solidFill>
                <a:latin typeface="Helvetica" charset="0"/>
                <a:ea typeface="ＭＳ Ｐゴシック" charset="-128"/>
              </a:defRPr>
            </a:lvl8pPr>
            <a:lvl9pPr marL="3886200" indent="-228600" defTabSz="977900" eaLnBrk="0" fontAlgn="base" hangingPunct="0">
              <a:spcBef>
                <a:spcPct val="0"/>
              </a:spcBef>
              <a:spcAft>
                <a:spcPct val="0"/>
              </a:spcAft>
              <a:tabLst>
                <a:tab pos="5362575" algn="l"/>
              </a:tabLst>
              <a:defRPr sz="3200">
                <a:solidFill>
                  <a:schemeClr val="tx1"/>
                </a:solidFill>
                <a:latin typeface="Helvetica" charset="0"/>
                <a:ea typeface="ＭＳ Ｐゴシック" charset="-128"/>
              </a:defRPr>
            </a:lvl9pPr>
          </a:lstStyle>
          <a:p>
            <a:pPr algn="ctr" eaLnBrk="1" hangingPunct="1"/>
            <a:r>
              <a:rPr lang="en-US" altLang="en-US" sz="2800" b="1" dirty="0"/>
              <a:t>Graph Convolution Network (GCN) Voronoi Lattice Stiffness Optimization Progress Report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849E37CF-52DF-9FCE-ABD6-CA0AF5BD4CA2}"/>
              </a:ext>
            </a:extLst>
          </p:cNvPr>
          <p:cNvSpPr txBox="1"/>
          <p:nvPr/>
        </p:nvSpPr>
        <p:spPr>
          <a:xfrm>
            <a:off x="1333500" y="4442936"/>
            <a:ext cx="6477000" cy="49629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 eaLnBrk="1" hangingPunct="1"/>
            <a:r>
              <a:rPr lang="en-US" altLang="en-US" sz="1050" b="1" dirty="0"/>
              <a:t>Alexander Adams </a:t>
            </a:r>
            <a:r>
              <a:rPr lang="en-US" altLang="en-US" sz="1050" b="1" baseline="30000" dirty="0"/>
              <a:t> </a:t>
            </a:r>
            <a:r>
              <a:rPr lang="en-US" altLang="en-US" sz="1050" b="1" dirty="0"/>
              <a:t> </a:t>
            </a:r>
          </a:p>
          <a:p>
            <a:pPr algn="ctr"/>
            <a:r>
              <a:rPr lang="en-US" altLang="en-US" sz="1050" baseline="30000" dirty="0">
                <a:latin typeface="Calibri" pitchFamily="34" charset="0"/>
                <a:ea typeface="Calibri" pitchFamily="34" charset="0"/>
                <a:cs typeface="Calibri" pitchFamily="34" charset="0"/>
              </a:rPr>
              <a:t> </a:t>
            </a:r>
            <a:r>
              <a:rPr lang="en-US" altLang="en-US" sz="1050" dirty="0">
                <a:latin typeface="Calibri" pitchFamily="34" charset="0"/>
                <a:ea typeface="Calibri" pitchFamily="34" charset="0"/>
                <a:cs typeface="Calibri" pitchFamily="34" charset="0"/>
              </a:rPr>
              <a:t>Department of Mechanical Engineering and Materials Science, University of Pittsburgh, Pittsburgh, PA 15260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26AD81BF-565F-7FF3-7CB6-6F9B243F885D}"/>
              </a:ext>
            </a:extLst>
          </p:cNvPr>
          <p:cNvSpPr txBox="1"/>
          <p:nvPr/>
        </p:nvSpPr>
        <p:spPr>
          <a:xfrm>
            <a:off x="1333500" y="4128236"/>
            <a:ext cx="6477000" cy="2539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 eaLnBrk="1" hangingPunct="1"/>
            <a:r>
              <a:rPr lang="en-US" sz="1050" b="1" dirty="0"/>
              <a:t>June 30</a:t>
            </a:r>
            <a:r>
              <a:rPr lang="en-US" sz="1050" b="1" baseline="30000" dirty="0"/>
              <a:t>th</a:t>
            </a:r>
            <a:r>
              <a:rPr lang="en-US" sz="1050" b="1" dirty="0"/>
              <a:t> 2026</a:t>
            </a:r>
            <a:endParaRPr lang="en-US" sz="1050" dirty="0"/>
          </a:p>
        </p:txBody>
      </p:sp>
    </p:spTree>
    <p:extLst>
      <p:ext uri="{BB962C8B-B14F-4D97-AF65-F5344CB8AC3E}">
        <p14:creationId xmlns:p14="http://schemas.microsoft.com/office/powerpoint/2010/main" val="394950938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89C37E8E-DC5A-2D7E-941E-9988B75C86FD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fld id="{ADF2A186-A842-EB41-93F8-9926F66DBD04}" type="slidenum">
              <a:rPr lang="en-US" smtClean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pPr>
                <a:defRPr/>
              </a:pPr>
              <a:t>2</a:t>
            </a:fld>
            <a:endParaRPr lang="en-US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BBFACA65-382A-B590-11F9-3C130CA0629C}"/>
              </a:ext>
            </a:extLst>
          </p:cNvPr>
          <p:cNvSpPr txBox="1"/>
          <p:nvPr/>
        </p:nvSpPr>
        <p:spPr>
          <a:xfrm>
            <a:off x="2209800" y="58271"/>
            <a:ext cx="1814343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200" b="1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Overview</a:t>
            </a:r>
          </a:p>
        </p:txBody>
      </p:sp>
      <p:sp>
        <p:nvSpPr>
          <p:cNvPr id="4" name="Text 5">
            <a:extLst>
              <a:ext uri="{FF2B5EF4-FFF2-40B4-BE49-F238E27FC236}">
                <a16:creationId xmlns:a16="http://schemas.microsoft.com/office/drawing/2014/main" id="{E392C27B-946D-E8EF-895F-B44763B1C17E}"/>
              </a:ext>
            </a:extLst>
          </p:cNvPr>
          <p:cNvSpPr/>
          <p:nvPr/>
        </p:nvSpPr>
        <p:spPr>
          <a:xfrm>
            <a:off x="457200" y="1188720"/>
            <a:ext cx="82296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Predict stiffness of Voronoi lattice structures from graph topology using a Graph Convolutional Network (GCN), trained on 3,000 synthetic FEA simulations (Abaqus). Experiments span 8 phases of optimizer, representation, and objective improvements.</a:t>
            </a:r>
            <a:endParaRPr lang="en-US" sz="1400" dirty="0"/>
          </a:p>
        </p:txBody>
      </p:sp>
      <p:sp>
        <p:nvSpPr>
          <p:cNvPr id="8" name="Text 6">
            <a:extLst>
              <a:ext uri="{FF2B5EF4-FFF2-40B4-BE49-F238E27FC236}">
                <a16:creationId xmlns:a16="http://schemas.microsoft.com/office/drawing/2014/main" id="{91BA6DBF-D815-B0C6-C9D3-2B26D68C46DC}"/>
              </a:ext>
            </a:extLst>
          </p:cNvPr>
          <p:cNvSpPr/>
          <p:nvPr/>
        </p:nvSpPr>
        <p:spPr>
          <a:xfrm>
            <a:off x="457200" y="187452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Progress Summary</a:t>
            </a:r>
            <a:endParaRPr lang="en-US" sz="1800" dirty="0"/>
          </a:p>
        </p:txBody>
      </p:sp>
      <p:sp>
        <p:nvSpPr>
          <p:cNvPr id="10" name="Text 7">
            <a:extLst>
              <a:ext uri="{FF2B5EF4-FFF2-40B4-BE49-F238E27FC236}">
                <a16:creationId xmlns:a16="http://schemas.microsoft.com/office/drawing/2014/main" id="{6C840E15-12F8-5D3B-1F49-308CA0E01721}"/>
              </a:ext>
            </a:extLst>
          </p:cNvPr>
          <p:cNvSpPr/>
          <p:nvPr/>
        </p:nvSpPr>
        <p:spPr>
          <a:xfrm>
            <a:off x="457200" y="2286000"/>
            <a:ext cx="8229600" cy="2651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Baseline: 2-layer GCN, Adam optimizer  |  Test R²: 0.9148</a:t>
            </a:r>
            <a:endParaRPr lang="en-US" sz="1300" dirty="0"/>
          </a:p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Phases 1-2: Optimizer comparison (AdamW, SGD) | Adam remains best</a:t>
            </a:r>
            <a:endParaRPr lang="en-US" sz="1300" dirty="0"/>
          </a:p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Phase 3: Weighted edges  |  Prediction-set R²: 0.3637 → 0.4336</a:t>
            </a:r>
            <a:endParaRPr lang="en-US" sz="1300" dirty="0"/>
          </a:p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Phase 4: Richer node features  |  Test R²: 0.9148 → 0.9403</a:t>
            </a:r>
            <a:endParaRPr lang="en-US" sz="1300" dirty="0"/>
          </a:p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Phase 5: Multi-seed validation  |  Confirms improvement is real</a:t>
            </a:r>
            <a:endParaRPr lang="en-US" sz="1300" dirty="0"/>
          </a:p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Phase 6: Graph-level summary features  |  Mean test R²: 0.9411</a:t>
            </a:r>
            <a:endParaRPr lang="en-US" sz="1300" dirty="0"/>
          </a:p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Phase 7-8: Target normalization  |  Best mean test R²: 0.9447</a:t>
            </a:r>
            <a:endParaRPr lang="en-US" sz="1300" dirty="0"/>
          </a:p>
        </p:txBody>
      </p:sp>
    </p:spTree>
    <p:extLst>
      <p:ext uri="{BB962C8B-B14F-4D97-AF65-F5344CB8AC3E}">
        <p14:creationId xmlns:p14="http://schemas.microsoft.com/office/powerpoint/2010/main" val="3842392599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BFC1EDC-9169-D578-FBA4-4309787C8F7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BA7DD621-2C16-38E8-21BB-03E7E04D5A4E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fld id="{ADF2A186-A842-EB41-93F8-9926F66DBD04}" type="slidenum">
              <a:rPr lang="en-US" smtClean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pPr>
                <a:defRPr/>
              </a:pPr>
              <a:t>3</a:t>
            </a:fld>
            <a:endParaRPr lang="en-US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BF0D9F8C-0292-FF88-B8C7-DA8479EBF1EB}"/>
              </a:ext>
            </a:extLst>
          </p:cNvPr>
          <p:cNvSpPr txBox="1"/>
          <p:nvPr/>
        </p:nvSpPr>
        <p:spPr>
          <a:xfrm>
            <a:off x="2209800" y="58271"/>
            <a:ext cx="4029693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200" b="1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Baseline Configuration</a:t>
            </a:r>
          </a:p>
        </p:txBody>
      </p:sp>
      <p:sp>
        <p:nvSpPr>
          <p:cNvPr id="4" name="Text 4">
            <a:extLst>
              <a:ext uri="{FF2B5EF4-FFF2-40B4-BE49-F238E27FC236}">
                <a16:creationId xmlns:a16="http://schemas.microsoft.com/office/drawing/2014/main" id="{7400E8B7-0C8A-BE76-68CE-68C3A3261B9A}"/>
              </a:ext>
            </a:extLst>
          </p:cNvPr>
          <p:cNvSpPr/>
          <p:nvPr/>
        </p:nvSpPr>
        <p:spPr>
          <a:xfrm>
            <a:off x="457200" y="1295400"/>
            <a:ext cx="41148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 Architecture</a:t>
            </a:r>
            <a:endParaRPr lang="en-US" sz="1700" dirty="0"/>
          </a:p>
        </p:txBody>
      </p:sp>
      <p:sp>
        <p:nvSpPr>
          <p:cNvPr id="7" name="Text 5">
            <a:extLst>
              <a:ext uri="{FF2B5EF4-FFF2-40B4-BE49-F238E27FC236}">
                <a16:creationId xmlns:a16="http://schemas.microsoft.com/office/drawing/2014/main" id="{3B705E4A-EA14-30D3-7A2A-9A0197183719}"/>
              </a:ext>
            </a:extLst>
          </p:cNvPr>
          <p:cNvSpPr/>
          <p:nvPr/>
        </p:nvSpPr>
        <p:spPr>
          <a:xfrm>
            <a:off x="457200" y="1661160"/>
            <a:ext cx="4114800" cy="1645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400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2-layer GCN</a:t>
            </a:r>
            <a:endParaRPr lang="en-US" sz="1400" dirty="0"/>
          </a:p>
          <a:p>
            <a:pPr marL="342900" indent="-342900">
              <a:buSzPct val="100000"/>
              <a:buChar char="•"/>
            </a:pPr>
            <a:r>
              <a:rPr lang="en-US" sz="1400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Hidden dimension: 24</a:t>
            </a:r>
            <a:endParaRPr lang="en-US" sz="1400" dirty="0"/>
          </a:p>
          <a:p>
            <a:pPr marL="342900" indent="-342900">
              <a:buSzPct val="100000"/>
              <a:buChar char="•"/>
            </a:pPr>
            <a:r>
              <a:rPr lang="en-US" sz="1400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Node features: x, y coordinates</a:t>
            </a:r>
            <a:endParaRPr lang="en-US" sz="1400" dirty="0"/>
          </a:p>
          <a:p>
            <a:pPr marL="342900" indent="-342900">
              <a:buSzPct val="100000"/>
              <a:buChar char="•"/>
            </a:pPr>
            <a:r>
              <a:rPr lang="en-US" sz="1400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Optimizer: Adam</a:t>
            </a:r>
            <a:endParaRPr lang="en-US" sz="1400" dirty="0"/>
          </a:p>
          <a:p>
            <a:pPr marL="342900" indent="-342900">
              <a:buSzPct val="100000"/>
              <a:buChar char="•"/>
            </a:pPr>
            <a:r>
              <a:rPr lang="en-US" sz="1400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Weight decay: 1e-5</a:t>
            </a:r>
            <a:endParaRPr lang="en-US" sz="1400" dirty="0"/>
          </a:p>
        </p:txBody>
      </p:sp>
      <p:sp>
        <p:nvSpPr>
          <p:cNvPr id="9" name="Text 6">
            <a:extLst>
              <a:ext uri="{FF2B5EF4-FFF2-40B4-BE49-F238E27FC236}">
                <a16:creationId xmlns:a16="http://schemas.microsoft.com/office/drawing/2014/main" id="{8CB587ED-CCB4-A5BC-87FF-07CCC1610AEA}"/>
              </a:ext>
            </a:extLst>
          </p:cNvPr>
          <p:cNvSpPr/>
          <p:nvPr/>
        </p:nvSpPr>
        <p:spPr>
          <a:xfrm>
            <a:off x="457200" y="3307080"/>
            <a:ext cx="41148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Training Schedule</a:t>
            </a:r>
            <a:endParaRPr lang="en-US" sz="1700" dirty="0"/>
          </a:p>
        </p:txBody>
      </p:sp>
      <p:sp>
        <p:nvSpPr>
          <p:cNvPr id="11" name="Text 7">
            <a:extLst>
              <a:ext uri="{FF2B5EF4-FFF2-40B4-BE49-F238E27FC236}">
                <a16:creationId xmlns:a16="http://schemas.microsoft.com/office/drawing/2014/main" id="{EF847E36-2290-EB8B-DF74-18220A7CFA95}"/>
              </a:ext>
            </a:extLst>
          </p:cNvPr>
          <p:cNvSpPr/>
          <p:nvPr/>
        </p:nvSpPr>
        <p:spPr>
          <a:xfrm>
            <a:off x="457200" y="3672840"/>
            <a:ext cx="41148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400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Phase 1: lr = 0.003 for 200 epochs</a:t>
            </a:r>
            <a:endParaRPr lang="en-US" sz="1400" dirty="0"/>
          </a:p>
          <a:p>
            <a:pPr marL="342900" indent="-342900">
              <a:buSzPct val="100000"/>
              <a:buChar char="•"/>
            </a:pPr>
            <a:r>
              <a:rPr lang="en-US" sz="1400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Phase 2: lr = 0.0005 for 700 epochs</a:t>
            </a:r>
            <a:endParaRPr lang="en-US" sz="1400" dirty="0"/>
          </a:p>
        </p:txBody>
      </p:sp>
      <p:sp>
        <p:nvSpPr>
          <p:cNvPr id="13" name="Text 8">
            <a:extLst>
              <a:ext uri="{FF2B5EF4-FFF2-40B4-BE49-F238E27FC236}">
                <a16:creationId xmlns:a16="http://schemas.microsoft.com/office/drawing/2014/main" id="{E09C788F-016F-D19E-B092-894B5B56EA40}"/>
              </a:ext>
            </a:extLst>
          </p:cNvPr>
          <p:cNvSpPr/>
          <p:nvPr/>
        </p:nvSpPr>
        <p:spPr>
          <a:xfrm>
            <a:off x="4846320" y="1295400"/>
            <a:ext cx="40233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Baseline Metrics</a:t>
            </a:r>
            <a:endParaRPr lang="en-US" sz="1700" dirty="0"/>
          </a:p>
        </p:txBody>
      </p:sp>
      <p:sp>
        <p:nvSpPr>
          <p:cNvPr id="15" name="Shape 9">
            <a:extLst>
              <a:ext uri="{FF2B5EF4-FFF2-40B4-BE49-F238E27FC236}">
                <a16:creationId xmlns:a16="http://schemas.microsoft.com/office/drawing/2014/main" id="{52994B52-F850-9CFD-B709-04B47A3A87AF}"/>
              </a:ext>
            </a:extLst>
          </p:cNvPr>
          <p:cNvSpPr/>
          <p:nvPr/>
        </p:nvSpPr>
        <p:spPr>
          <a:xfrm>
            <a:off x="4846320" y="1706880"/>
            <a:ext cx="1828800" cy="1188720"/>
          </a:xfrm>
          <a:prstGeom prst="roundRect">
            <a:avLst>
              <a:gd name="adj" fmla="val 6154"/>
            </a:avLst>
          </a:prstGeom>
          <a:solidFill>
            <a:srgbClr val="EEF2F8"/>
          </a:solidFill>
          <a:ln w="12700">
            <a:solidFill>
              <a:srgbClr val="C8D6EA"/>
            </a:solidFill>
            <a:prstDash val="solid"/>
          </a:ln>
        </p:spPr>
      </p:sp>
      <p:sp>
        <p:nvSpPr>
          <p:cNvPr id="17" name="Text 10">
            <a:extLst>
              <a:ext uri="{FF2B5EF4-FFF2-40B4-BE49-F238E27FC236}">
                <a16:creationId xmlns:a16="http://schemas.microsoft.com/office/drawing/2014/main" id="{5DCDD9C8-F1CF-AC98-C846-B3F3487D6264}"/>
              </a:ext>
            </a:extLst>
          </p:cNvPr>
          <p:cNvSpPr/>
          <p:nvPr/>
        </p:nvSpPr>
        <p:spPr>
          <a:xfrm>
            <a:off x="4846320" y="1844040"/>
            <a:ext cx="18288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800" b="1" dirty="0">
                <a:solidFill>
                  <a:srgbClr val="2F54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0.8424</a:t>
            </a:r>
            <a:endParaRPr lang="en-US" sz="2800" dirty="0"/>
          </a:p>
        </p:txBody>
      </p:sp>
      <p:sp>
        <p:nvSpPr>
          <p:cNvPr id="19" name="Text 11">
            <a:extLst>
              <a:ext uri="{FF2B5EF4-FFF2-40B4-BE49-F238E27FC236}">
                <a16:creationId xmlns:a16="http://schemas.microsoft.com/office/drawing/2014/main" id="{16F3E758-DB50-3BE4-15AA-CCCEB0288328}"/>
              </a:ext>
            </a:extLst>
          </p:cNvPr>
          <p:cNvSpPr/>
          <p:nvPr/>
        </p:nvSpPr>
        <p:spPr>
          <a:xfrm>
            <a:off x="4846320" y="2456688"/>
            <a:ext cx="1828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 R²</a:t>
            </a:r>
            <a:endParaRPr lang="en-US" sz="1300" dirty="0"/>
          </a:p>
        </p:txBody>
      </p:sp>
      <p:sp>
        <p:nvSpPr>
          <p:cNvPr id="21" name="Shape 12">
            <a:extLst>
              <a:ext uri="{FF2B5EF4-FFF2-40B4-BE49-F238E27FC236}">
                <a16:creationId xmlns:a16="http://schemas.microsoft.com/office/drawing/2014/main" id="{8ADAC03F-EA38-4FDD-014D-A4120442C720}"/>
              </a:ext>
            </a:extLst>
          </p:cNvPr>
          <p:cNvSpPr/>
          <p:nvPr/>
        </p:nvSpPr>
        <p:spPr>
          <a:xfrm>
            <a:off x="6858000" y="1706880"/>
            <a:ext cx="1828800" cy="1188720"/>
          </a:xfrm>
          <a:prstGeom prst="roundRect">
            <a:avLst>
              <a:gd name="adj" fmla="val 6154"/>
            </a:avLst>
          </a:prstGeom>
          <a:solidFill>
            <a:srgbClr val="EEF2F8"/>
          </a:solidFill>
          <a:ln w="12700">
            <a:solidFill>
              <a:srgbClr val="C8D6EA"/>
            </a:solidFill>
            <a:prstDash val="solid"/>
          </a:ln>
        </p:spPr>
      </p:sp>
      <p:sp>
        <p:nvSpPr>
          <p:cNvPr id="23" name="Text 13">
            <a:extLst>
              <a:ext uri="{FF2B5EF4-FFF2-40B4-BE49-F238E27FC236}">
                <a16:creationId xmlns:a16="http://schemas.microsoft.com/office/drawing/2014/main" id="{7C250057-F43C-D50B-EF20-0C146BC5B644}"/>
              </a:ext>
            </a:extLst>
          </p:cNvPr>
          <p:cNvSpPr/>
          <p:nvPr/>
        </p:nvSpPr>
        <p:spPr>
          <a:xfrm>
            <a:off x="6858000" y="1844040"/>
            <a:ext cx="18288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800" b="1" dirty="0">
                <a:solidFill>
                  <a:srgbClr val="2F54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0.9148</a:t>
            </a:r>
            <a:endParaRPr lang="en-US" sz="2800" dirty="0"/>
          </a:p>
        </p:txBody>
      </p:sp>
      <p:sp>
        <p:nvSpPr>
          <p:cNvPr id="25" name="Text 14">
            <a:extLst>
              <a:ext uri="{FF2B5EF4-FFF2-40B4-BE49-F238E27FC236}">
                <a16:creationId xmlns:a16="http://schemas.microsoft.com/office/drawing/2014/main" id="{DB5FB70C-BC80-BCA9-2B4A-D93ED0F16DC5}"/>
              </a:ext>
            </a:extLst>
          </p:cNvPr>
          <p:cNvSpPr/>
          <p:nvPr/>
        </p:nvSpPr>
        <p:spPr>
          <a:xfrm>
            <a:off x="6858000" y="2456688"/>
            <a:ext cx="1828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 R²</a:t>
            </a:r>
            <a:endParaRPr lang="en-US" sz="1300" dirty="0"/>
          </a:p>
        </p:txBody>
      </p:sp>
      <p:sp>
        <p:nvSpPr>
          <p:cNvPr id="27" name="Shape 15">
            <a:extLst>
              <a:ext uri="{FF2B5EF4-FFF2-40B4-BE49-F238E27FC236}">
                <a16:creationId xmlns:a16="http://schemas.microsoft.com/office/drawing/2014/main" id="{D096C102-F855-0561-870D-AC0AE2F74FFA}"/>
              </a:ext>
            </a:extLst>
          </p:cNvPr>
          <p:cNvSpPr/>
          <p:nvPr/>
        </p:nvSpPr>
        <p:spPr>
          <a:xfrm>
            <a:off x="4846320" y="3124200"/>
            <a:ext cx="1828800" cy="1188720"/>
          </a:xfrm>
          <a:prstGeom prst="roundRect">
            <a:avLst>
              <a:gd name="adj" fmla="val 6154"/>
            </a:avLst>
          </a:prstGeom>
          <a:solidFill>
            <a:srgbClr val="EEF2F8"/>
          </a:solidFill>
          <a:ln w="12700">
            <a:solidFill>
              <a:srgbClr val="C8D6EA"/>
            </a:solidFill>
            <a:prstDash val="solid"/>
          </a:ln>
        </p:spPr>
      </p:sp>
      <p:sp>
        <p:nvSpPr>
          <p:cNvPr id="29" name="Text 16">
            <a:extLst>
              <a:ext uri="{FF2B5EF4-FFF2-40B4-BE49-F238E27FC236}">
                <a16:creationId xmlns:a16="http://schemas.microsoft.com/office/drawing/2014/main" id="{DD477914-13D0-0D75-81FB-69793DB7B91B}"/>
              </a:ext>
            </a:extLst>
          </p:cNvPr>
          <p:cNvSpPr/>
          <p:nvPr/>
        </p:nvSpPr>
        <p:spPr>
          <a:xfrm>
            <a:off x="4846320" y="3261360"/>
            <a:ext cx="18288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800" b="1" dirty="0">
                <a:solidFill>
                  <a:srgbClr val="2F54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0.003818</a:t>
            </a:r>
            <a:endParaRPr lang="en-US" sz="2800" dirty="0"/>
          </a:p>
        </p:txBody>
      </p:sp>
      <p:sp>
        <p:nvSpPr>
          <p:cNvPr id="31" name="Text 17">
            <a:extLst>
              <a:ext uri="{FF2B5EF4-FFF2-40B4-BE49-F238E27FC236}">
                <a16:creationId xmlns:a16="http://schemas.microsoft.com/office/drawing/2014/main" id="{E52DB479-7ECB-A957-9AEC-74A6D347F304}"/>
              </a:ext>
            </a:extLst>
          </p:cNvPr>
          <p:cNvSpPr/>
          <p:nvPr/>
        </p:nvSpPr>
        <p:spPr>
          <a:xfrm>
            <a:off x="4846320" y="3874008"/>
            <a:ext cx="1828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 RMSE</a:t>
            </a:r>
            <a:endParaRPr lang="en-US" sz="1300" dirty="0"/>
          </a:p>
        </p:txBody>
      </p:sp>
      <p:sp>
        <p:nvSpPr>
          <p:cNvPr id="33" name="Shape 18">
            <a:extLst>
              <a:ext uri="{FF2B5EF4-FFF2-40B4-BE49-F238E27FC236}">
                <a16:creationId xmlns:a16="http://schemas.microsoft.com/office/drawing/2014/main" id="{F984F012-8217-9252-A24C-3C3F7BEEB478}"/>
              </a:ext>
            </a:extLst>
          </p:cNvPr>
          <p:cNvSpPr/>
          <p:nvPr/>
        </p:nvSpPr>
        <p:spPr>
          <a:xfrm>
            <a:off x="6858000" y="3124200"/>
            <a:ext cx="1828800" cy="1188720"/>
          </a:xfrm>
          <a:prstGeom prst="roundRect">
            <a:avLst>
              <a:gd name="adj" fmla="val 6154"/>
            </a:avLst>
          </a:prstGeom>
          <a:solidFill>
            <a:srgbClr val="EEF2F8"/>
          </a:solidFill>
          <a:ln w="12700">
            <a:solidFill>
              <a:srgbClr val="C8D6EA"/>
            </a:solidFill>
            <a:prstDash val="solid"/>
          </a:ln>
        </p:spPr>
      </p:sp>
      <p:sp>
        <p:nvSpPr>
          <p:cNvPr id="35" name="Text 19">
            <a:extLst>
              <a:ext uri="{FF2B5EF4-FFF2-40B4-BE49-F238E27FC236}">
                <a16:creationId xmlns:a16="http://schemas.microsoft.com/office/drawing/2014/main" id="{B3563D17-13D8-4FEE-43F3-6A08B7377ECB}"/>
              </a:ext>
            </a:extLst>
          </p:cNvPr>
          <p:cNvSpPr/>
          <p:nvPr/>
        </p:nvSpPr>
        <p:spPr>
          <a:xfrm>
            <a:off x="6858000" y="3261360"/>
            <a:ext cx="18288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800" b="1" dirty="0">
                <a:solidFill>
                  <a:srgbClr val="2F54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0.003003</a:t>
            </a:r>
            <a:endParaRPr lang="en-US" sz="2800" dirty="0"/>
          </a:p>
        </p:txBody>
      </p:sp>
      <p:sp>
        <p:nvSpPr>
          <p:cNvPr id="37" name="Text 20">
            <a:extLst>
              <a:ext uri="{FF2B5EF4-FFF2-40B4-BE49-F238E27FC236}">
                <a16:creationId xmlns:a16="http://schemas.microsoft.com/office/drawing/2014/main" id="{302FE6D8-C5FD-8516-6B77-1442D8880ECB}"/>
              </a:ext>
            </a:extLst>
          </p:cNvPr>
          <p:cNvSpPr/>
          <p:nvPr/>
        </p:nvSpPr>
        <p:spPr>
          <a:xfrm>
            <a:off x="6858000" y="3874008"/>
            <a:ext cx="1828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 MAE</a:t>
            </a:r>
            <a:endParaRPr lang="en-US" sz="1300" dirty="0"/>
          </a:p>
        </p:txBody>
      </p:sp>
    </p:spTree>
    <p:extLst>
      <p:ext uri="{BB962C8B-B14F-4D97-AF65-F5344CB8AC3E}">
        <p14:creationId xmlns:p14="http://schemas.microsoft.com/office/powerpoint/2010/main" val="974416176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27535C9-7D34-E4FB-2CA5-183FF9843A8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78F3D51E-55C0-83D2-3209-DB26DD63482F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fld id="{ADF2A186-A842-EB41-93F8-9926F66DBD04}" type="slidenum">
              <a:rPr lang="en-US" smtClean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pPr>
                <a:defRPr/>
              </a:pPr>
              <a:t>4</a:t>
            </a:fld>
            <a:endParaRPr lang="en-US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43D7A5BE-B43F-57C3-3AA0-E5A4AECD9BF8}"/>
              </a:ext>
            </a:extLst>
          </p:cNvPr>
          <p:cNvSpPr txBox="1"/>
          <p:nvPr/>
        </p:nvSpPr>
        <p:spPr>
          <a:xfrm>
            <a:off x="2057400" y="58271"/>
            <a:ext cx="6242799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indent="0">
              <a:buNone/>
            </a:pPr>
            <a:r>
              <a:rPr lang="en-US" sz="3200" b="1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Optimizer Comparison (Phases 1–2)</a:t>
            </a:r>
            <a:endParaRPr lang="en-US" sz="3200" dirty="0"/>
          </a:p>
        </p:txBody>
      </p:sp>
      <p:sp>
        <p:nvSpPr>
          <p:cNvPr id="4" name="Text 4">
            <a:extLst>
              <a:ext uri="{FF2B5EF4-FFF2-40B4-BE49-F238E27FC236}">
                <a16:creationId xmlns:a16="http://schemas.microsoft.com/office/drawing/2014/main" id="{95A3675C-F4D7-03FC-8FBE-03220FB2DE4D}"/>
              </a:ext>
            </a:extLst>
          </p:cNvPr>
          <p:cNvSpPr/>
          <p:nvPr/>
        </p:nvSpPr>
        <p:spPr>
          <a:xfrm>
            <a:off x="457200" y="1127760"/>
            <a:ext cx="82296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Phase 1: Initial Comparison (Flawed)</a:t>
            </a:r>
            <a:endParaRPr lang="en-US" sz="1700" dirty="0"/>
          </a:p>
        </p:txBody>
      </p:sp>
      <p:sp>
        <p:nvSpPr>
          <p:cNvPr id="7" name="Text 5">
            <a:extLst>
              <a:ext uri="{FF2B5EF4-FFF2-40B4-BE49-F238E27FC236}">
                <a16:creationId xmlns:a16="http://schemas.microsoft.com/office/drawing/2014/main" id="{FBF93B27-FA31-43C7-EA50-18D864D41301}"/>
              </a:ext>
            </a:extLst>
          </p:cNvPr>
          <p:cNvSpPr/>
          <p:nvPr/>
        </p:nvSpPr>
        <p:spPr>
          <a:xfrm>
            <a:off x="457200" y="1493520"/>
            <a:ext cx="8229600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400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Tested AdamW, SGD + momentum, SGD + Nesterov</a:t>
            </a:r>
            <a:endParaRPr lang="en-US" sz="1400" dirty="0"/>
          </a:p>
          <a:p>
            <a:pPr marL="342900" indent="-342900">
              <a:buSzPct val="100000"/>
              <a:buChar char="•"/>
            </a:pPr>
            <a:r>
              <a:rPr lang="en-US" sz="1400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Issue: changed hidden_dim, regularization, schedule, and early stopping simultaneously</a:t>
            </a:r>
            <a:endParaRPr lang="en-US" sz="1400" dirty="0"/>
          </a:p>
          <a:p>
            <a:pPr marL="342900" indent="-342900">
              <a:buSzPct val="100000"/>
              <a:buChar char="•"/>
            </a:pPr>
            <a:r>
              <a:rPr lang="en-US" sz="1400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 optimizers performed worse than baseline</a:t>
            </a:r>
            <a:endParaRPr lang="en-US" sz="1400" dirty="0"/>
          </a:p>
        </p:txBody>
      </p:sp>
      <p:sp>
        <p:nvSpPr>
          <p:cNvPr id="9" name="Text 6">
            <a:extLst>
              <a:ext uri="{FF2B5EF4-FFF2-40B4-BE49-F238E27FC236}">
                <a16:creationId xmlns:a16="http://schemas.microsoft.com/office/drawing/2014/main" id="{DF10603F-3B4D-4D79-DE53-EB526392862E}"/>
              </a:ext>
            </a:extLst>
          </p:cNvPr>
          <p:cNvSpPr/>
          <p:nvPr/>
        </p:nvSpPr>
        <p:spPr>
          <a:xfrm>
            <a:off x="457200" y="2526792"/>
            <a:ext cx="82296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Phase 2: Fair Optimizer Comparison</a:t>
            </a:r>
            <a:endParaRPr lang="en-US" sz="1700" dirty="0"/>
          </a:p>
        </p:txBody>
      </p:sp>
      <p:graphicFrame>
        <p:nvGraphicFramePr>
          <p:cNvPr id="11" name="Table 0">
            <a:extLst>
              <a:ext uri="{FF2B5EF4-FFF2-40B4-BE49-F238E27FC236}">
                <a16:creationId xmlns:a16="http://schemas.microsoft.com/office/drawing/2014/main" id="{C3785040-C22D-44FA-D3F1-D0673DC20BC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484302057"/>
              </p:ext>
            </p:extLst>
          </p:nvPr>
        </p:nvGraphicFramePr>
        <p:xfrm>
          <a:off x="457200" y="2910840"/>
          <a:ext cx="8229600" cy="2194560"/>
        </p:xfrm>
        <a:graphic>
          <a:graphicData uri="http://schemas.openxmlformats.org/drawingml/2006/table">
            <a:tbl>
              <a:tblPr/>
              <a:tblGrid>
                <a:gridCol w="2286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64592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29768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438912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Optimizer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C8D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D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D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D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F5496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Test R²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C8D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D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D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D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F5496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Outcome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C8D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D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D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D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F549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38912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Adam (control)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C8D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D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D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D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0.9148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C8D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D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D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D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Baseline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C8D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D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D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D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38912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AdamW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C8D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D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D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D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0.5101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C8D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D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D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D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Substantially worse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C8D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D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D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D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38912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SGD + Momentum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C8D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D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D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D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0.1424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C8D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D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D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D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Far below baseline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C8D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D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D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D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38912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SGD + Nesterov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C8D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D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D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D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~0.14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C8D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D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D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D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Far below baseline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C8D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D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D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D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961630189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FF6AA50-A08F-B629-B096-CC6998309E7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87D16FB0-11E8-8D6C-F34C-C6D623FBBE00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fld id="{ADF2A186-A842-EB41-93F8-9926F66DBD04}" type="slidenum">
              <a:rPr lang="en-US" smtClean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pPr>
                <a:defRPr/>
              </a:pPr>
              <a:t>5</a:t>
            </a:fld>
            <a:endParaRPr lang="en-US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E648C71C-2D6D-233F-FA85-C83F4D5BB414}"/>
              </a:ext>
            </a:extLst>
          </p:cNvPr>
          <p:cNvSpPr txBox="1"/>
          <p:nvPr/>
        </p:nvSpPr>
        <p:spPr>
          <a:xfrm>
            <a:off x="2209800" y="58271"/>
            <a:ext cx="4515788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200" b="1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Phase 3 (Weighted Edges)</a:t>
            </a:r>
          </a:p>
        </p:txBody>
      </p:sp>
      <p:sp>
        <p:nvSpPr>
          <p:cNvPr id="4" name="Text 4">
            <a:extLst>
              <a:ext uri="{FF2B5EF4-FFF2-40B4-BE49-F238E27FC236}">
                <a16:creationId xmlns:a16="http://schemas.microsoft.com/office/drawing/2014/main" id="{4AA2592A-C0F6-64F9-26EA-3B0F0F9DE927}"/>
              </a:ext>
            </a:extLst>
          </p:cNvPr>
          <p:cNvSpPr/>
          <p:nvPr/>
        </p:nvSpPr>
        <p:spPr>
          <a:xfrm>
            <a:off x="457200" y="1063752"/>
            <a:ext cx="82296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Change</a:t>
            </a:r>
            <a:endParaRPr lang="en-US" sz="1700" dirty="0"/>
          </a:p>
        </p:txBody>
      </p:sp>
      <p:sp>
        <p:nvSpPr>
          <p:cNvPr id="7" name="Text 5">
            <a:extLst>
              <a:ext uri="{FF2B5EF4-FFF2-40B4-BE49-F238E27FC236}">
                <a16:creationId xmlns:a16="http://schemas.microsoft.com/office/drawing/2014/main" id="{A5EBCFFC-8B81-C90E-BFBE-7F3651539539}"/>
              </a:ext>
            </a:extLst>
          </p:cNvPr>
          <p:cNvSpPr/>
          <p:nvPr/>
        </p:nvSpPr>
        <p:spPr>
          <a:xfrm>
            <a:off x="457200" y="1429512"/>
            <a:ext cx="822960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400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adjacency_area.csv used as weighted connectivity instead of binary edges only</a:t>
            </a:r>
            <a:endParaRPr lang="en-US" sz="1400" dirty="0"/>
          </a:p>
          <a:p>
            <a:pPr marL="342900" indent="-342900">
              <a:buSzPct val="100000"/>
              <a:buChar char="•"/>
            </a:pPr>
            <a:r>
              <a:rPr lang="en-US" sz="1400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edge_weight passed into both GCNConv layers</a:t>
            </a:r>
            <a:endParaRPr lang="en-US" sz="1400" dirty="0"/>
          </a:p>
        </p:txBody>
      </p:sp>
      <p:sp>
        <p:nvSpPr>
          <p:cNvPr id="9" name="Text 6">
            <a:extLst>
              <a:ext uri="{FF2B5EF4-FFF2-40B4-BE49-F238E27FC236}">
                <a16:creationId xmlns:a16="http://schemas.microsoft.com/office/drawing/2014/main" id="{3B4EA1ED-9708-C6C6-4ECD-2F96FCCE1E22}"/>
              </a:ext>
            </a:extLst>
          </p:cNvPr>
          <p:cNvSpPr/>
          <p:nvPr/>
        </p:nvSpPr>
        <p:spPr>
          <a:xfrm>
            <a:off x="457200" y="2298192"/>
            <a:ext cx="82296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Observed Impact</a:t>
            </a:r>
            <a:endParaRPr lang="en-US" sz="1700" dirty="0"/>
          </a:p>
        </p:txBody>
      </p:sp>
      <p:sp>
        <p:nvSpPr>
          <p:cNvPr id="11" name="Text 7">
            <a:extLst>
              <a:ext uri="{FF2B5EF4-FFF2-40B4-BE49-F238E27FC236}">
                <a16:creationId xmlns:a16="http://schemas.microsoft.com/office/drawing/2014/main" id="{3FB1631B-BF77-3644-FA85-1D0B6DDD88AC}"/>
              </a:ext>
            </a:extLst>
          </p:cNvPr>
          <p:cNvSpPr/>
          <p:nvPr/>
        </p:nvSpPr>
        <p:spPr>
          <a:xfrm>
            <a:off x="457200" y="2755392"/>
            <a:ext cx="27432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Adam Test R²</a:t>
            </a:r>
            <a:endParaRPr lang="en-US" sz="1400" dirty="0"/>
          </a:p>
        </p:txBody>
      </p:sp>
      <p:sp>
        <p:nvSpPr>
          <p:cNvPr id="13" name="Shape 8">
            <a:extLst>
              <a:ext uri="{FF2B5EF4-FFF2-40B4-BE49-F238E27FC236}">
                <a16:creationId xmlns:a16="http://schemas.microsoft.com/office/drawing/2014/main" id="{C574721F-260B-E472-6432-0119C435AFD1}"/>
              </a:ext>
            </a:extLst>
          </p:cNvPr>
          <p:cNvSpPr/>
          <p:nvPr/>
        </p:nvSpPr>
        <p:spPr>
          <a:xfrm>
            <a:off x="3291840" y="2828544"/>
            <a:ext cx="1280160" cy="502920"/>
          </a:xfrm>
          <a:prstGeom prst="roundRect">
            <a:avLst>
              <a:gd name="adj" fmla="val 10909"/>
            </a:avLst>
          </a:prstGeom>
          <a:solidFill>
            <a:srgbClr val="F0F0F0"/>
          </a:solidFill>
          <a:ln w="12700">
            <a:solidFill>
              <a:srgbClr val="CCCCCC"/>
            </a:solidFill>
            <a:prstDash val="solid"/>
          </a:ln>
        </p:spPr>
      </p:sp>
      <p:sp>
        <p:nvSpPr>
          <p:cNvPr id="15" name="Text 9">
            <a:extLst>
              <a:ext uri="{FF2B5EF4-FFF2-40B4-BE49-F238E27FC236}">
                <a16:creationId xmlns:a16="http://schemas.microsoft.com/office/drawing/2014/main" id="{5FB7385C-EE9D-4436-AB78-FE252C5BB07C}"/>
              </a:ext>
            </a:extLst>
          </p:cNvPr>
          <p:cNvSpPr/>
          <p:nvPr/>
        </p:nvSpPr>
        <p:spPr>
          <a:xfrm>
            <a:off x="3291840" y="2828544"/>
            <a:ext cx="12801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6666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0.9148</a:t>
            </a:r>
            <a:endParaRPr lang="en-US" sz="1600" dirty="0"/>
          </a:p>
        </p:txBody>
      </p:sp>
      <p:sp>
        <p:nvSpPr>
          <p:cNvPr id="17" name="Text 10">
            <a:extLst>
              <a:ext uri="{FF2B5EF4-FFF2-40B4-BE49-F238E27FC236}">
                <a16:creationId xmlns:a16="http://schemas.microsoft.com/office/drawing/2014/main" id="{1013A7C6-8953-BE42-1ABA-D37177C9CFFF}"/>
              </a:ext>
            </a:extLst>
          </p:cNvPr>
          <p:cNvSpPr/>
          <p:nvPr/>
        </p:nvSpPr>
        <p:spPr>
          <a:xfrm>
            <a:off x="4663440" y="2828544"/>
            <a:ext cx="4572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800" dirty="0">
                <a:solidFill>
                  <a:srgbClr val="888888"/>
                </a:solidFill>
              </a:rPr>
              <a:t>→</a:t>
            </a:r>
            <a:endParaRPr lang="en-US" sz="1800" dirty="0"/>
          </a:p>
        </p:txBody>
      </p:sp>
      <p:sp>
        <p:nvSpPr>
          <p:cNvPr id="19" name="Shape 11">
            <a:extLst>
              <a:ext uri="{FF2B5EF4-FFF2-40B4-BE49-F238E27FC236}">
                <a16:creationId xmlns:a16="http://schemas.microsoft.com/office/drawing/2014/main" id="{A0E7B111-DBC9-3248-50A0-E5ABCC03142C}"/>
              </a:ext>
            </a:extLst>
          </p:cNvPr>
          <p:cNvSpPr/>
          <p:nvPr/>
        </p:nvSpPr>
        <p:spPr>
          <a:xfrm>
            <a:off x="5212080" y="2828544"/>
            <a:ext cx="1280160" cy="502920"/>
          </a:xfrm>
          <a:prstGeom prst="roundRect">
            <a:avLst>
              <a:gd name="adj" fmla="val 10909"/>
            </a:avLst>
          </a:prstGeom>
          <a:solidFill>
            <a:srgbClr val="F0F0F0"/>
          </a:solidFill>
          <a:ln w="12700">
            <a:solidFill>
              <a:srgbClr val="F0F0F0"/>
            </a:solidFill>
            <a:prstDash val="solid"/>
          </a:ln>
        </p:spPr>
      </p:sp>
      <p:sp>
        <p:nvSpPr>
          <p:cNvPr id="21" name="Text 12">
            <a:extLst>
              <a:ext uri="{FF2B5EF4-FFF2-40B4-BE49-F238E27FC236}">
                <a16:creationId xmlns:a16="http://schemas.microsoft.com/office/drawing/2014/main" id="{3A594312-2954-4E67-D6A2-9548EAE8E0D7}"/>
              </a:ext>
            </a:extLst>
          </p:cNvPr>
          <p:cNvSpPr/>
          <p:nvPr/>
        </p:nvSpPr>
        <p:spPr>
          <a:xfrm>
            <a:off x="5212080" y="2828544"/>
            <a:ext cx="12801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0.9113</a:t>
            </a:r>
            <a:endParaRPr lang="en-US" sz="1600" dirty="0"/>
          </a:p>
        </p:txBody>
      </p:sp>
      <p:sp>
        <p:nvSpPr>
          <p:cNvPr id="23" name="Text 13">
            <a:extLst>
              <a:ext uri="{FF2B5EF4-FFF2-40B4-BE49-F238E27FC236}">
                <a16:creationId xmlns:a16="http://schemas.microsoft.com/office/drawing/2014/main" id="{9BAF896E-6050-BA83-64CB-50C996FB348B}"/>
              </a:ext>
            </a:extLst>
          </p:cNvPr>
          <p:cNvSpPr/>
          <p:nvPr/>
        </p:nvSpPr>
        <p:spPr>
          <a:xfrm>
            <a:off x="457200" y="3560064"/>
            <a:ext cx="27432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Adam Pred-Set R²</a:t>
            </a:r>
            <a:endParaRPr lang="en-US" sz="1400" dirty="0"/>
          </a:p>
        </p:txBody>
      </p:sp>
      <p:sp>
        <p:nvSpPr>
          <p:cNvPr id="25" name="Shape 14">
            <a:extLst>
              <a:ext uri="{FF2B5EF4-FFF2-40B4-BE49-F238E27FC236}">
                <a16:creationId xmlns:a16="http://schemas.microsoft.com/office/drawing/2014/main" id="{9EB4D642-FA9F-30E4-FC41-451BFCD9A64B}"/>
              </a:ext>
            </a:extLst>
          </p:cNvPr>
          <p:cNvSpPr/>
          <p:nvPr/>
        </p:nvSpPr>
        <p:spPr>
          <a:xfrm>
            <a:off x="3291840" y="3633216"/>
            <a:ext cx="1280160" cy="502920"/>
          </a:xfrm>
          <a:prstGeom prst="roundRect">
            <a:avLst>
              <a:gd name="adj" fmla="val 10909"/>
            </a:avLst>
          </a:prstGeom>
          <a:solidFill>
            <a:srgbClr val="F0F0F0"/>
          </a:solidFill>
          <a:ln w="12700">
            <a:solidFill>
              <a:srgbClr val="CCCCCC"/>
            </a:solidFill>
            <a:prstDash val="solid"/>
          </a:ln>
        </p:spPr>
      </p:sp>
      <p:sp>
        <p:nvSpPr>
          <p:cNvPr id="27" name="Text 15">
            <a:extLst>
              <a:ext uri="{FF2B5EF4-FFF2-40B4-BE49-F238E27FC236}">
                <a16:creationId xmlns:a16="http://schemas.microsoft.com/office/drawing/2014/main" id="{3FC3B20B-C3FF-8946-6A53-DD164779D312}"/>
              </a:ext>
            </a:extLst>
          </p:cNvPr>
          <p:cNvSpPr/>
          <p:nvPr/>
        </p:nvSpPr>
        <p:spPr>
          <a:xfrm>
            <a:off x="3291840" y="3633216"/>
            <a:ext cx="12801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6666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0.3637</a:t>
            </a:r>
            <a:endParaRPr lang="en-US" sz="1600" dirty="0"/>
          </a:p>
        </p:txBody>
      </p:sp>
      <p:sp>
        <p:nvSpPr>
          <p:cNvPr id="29" name="Text 16">
            <a:extLst>
              <a:ext uri="{FF2B5EF4-FFF2-40B4-BE49-F238E27FC236}">
                <a16:creationId xmlns:a16="http://schemas.microsoft.com/office/drawing/2014/main" id="{D5C5D2D1-53F3-470D-589B-C0D503892BA6}"/>
              </a:ext>
            </a:extLst>
          </p:cNvPr>
          <p:cNvSpPr/>
          <p:nvPr/>
        </p:nvSpPr>
        <p:spPr>
          <a:xfrm>
            <a:off x="4663440" y="3633216"/>
            <a:ext cx="4572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800" dirty="0">
                <a:solidFill>
                  <a:srgbClr val="888888"/>
                </a:solidFill>
              </a:rPr>
              <a:t>→</a:t>
            </a:r>
            <a:endParaRPr lang="en-US" sz="1800" dirty="0"/>
          </a:p>
        </p:txBody>
      </p:sp>
      <p:sp>
        <p:nvSpPr>
          <p:cNvPr id="31" name="Shape 17">
            <a:extLst>
              <a:ext uri="{FF2B5EF4-FFF2-40B4-BE49-F238E27FC236}">
                <a16:creationId xmlns:a16="http://schemas.microsoft.com/office/drawing/2014/main" id="{44373610-48C6-F9DE-E6E2-554ECFF95BE7}"/>
              </a:ext>
            </a:extLst>
          </p:cNvPr>
          <p:cNvSpPr/>
          <p:nvPr/>
        </p:nvSpPr>
        <p:spPr>
          <a:xfrm>
            <a:off x="5212080" y="3633216"/>
            <a:ext cx="1280160" cy="502920"/>
          </a:xfrm>
          <a:prstGeom prst="roundRect">
            <a:avLst>
              <a:gd name="adj" fmla="val 10909"/>
            </a:avLst>
          </a:prstGeom>
          <a:solidFill>
            <a:srgbClr val="D4EDDA"/>
          </a:solidFill>
          <a:ln w="12700">
            <a:solidFill>
              <a:srgbClr val="D4EDDA"/>
            </a:solidFill>
            <a:prstDash val="solid"/>
          </a:ln>
        </p:spPr>
      </p:sp>
      <p:sp>
        <p:nvSpPr>
          <p:cNvPr id="33" name="Text 18">
            <a:extLst>
              <a:ext uri="{FF2B5EF4-FFF2-40B4-BE49-F238E27FC236}">
                <a16:creationId xmlns:a16="http://schemas.microsoft.com/office/drawing/2014/main" id="{E54B7133-ECF8-0CCD-933F-411FCD59B619}"/>
              </a:ext>
            </a:extLst>
          </p:cNvPr>
          <p:cNvSpPr/>
          <p:nvPr/>
        </p:nvSpPr>
        <p:spPr>
          <a:xfrm>
            <a:off x="5212080" y="3633216"/>
            <a:ext cx="12801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1A6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0.4336</a:t>
            </a:r>
            <a:endParaRPr lang="en-US" sz="1600" dirty="0"/>
          </a:p>
        </p:txBody>
      </p:sp>
      <p:sp>
        <p:nvSpPr>
          <p:cNvPr id="35" name="Text 19">
            <a:extLst>
              <a:ext uri="{FF2B5EF4-FFF2-40B4-BE49-F238E27FC236}">
                <a16:creationId xmlns:a16="http://schemas.microsoft.com/office/drawing/2014/main" id="{DBD86AFB-D74D-AA30-5036-6B53C4C32BE5}"/>
              </a:ext>
            </a:extLst>
          </p:cNvPr>
          <p:cNvSpPr/>
          <p:nvPr/>
        </p:nvSpPr>
        <p:spPr>
          <a:xfrm>
            <a:off x="457200" y="4364736"/>
            <a:ext cx="27432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AdamW Test R²</a:t>
            </a:r>
            <a:endParaRPr lang="en-US" sz="1400" dirty="0"/>
          </a:p>
        </p:txBody>
      </p:sp>
      <p:sp>
        <p:nvSpPr>
          <p:cNvPr id="37" name="Shape 20">
            <a:extLst>
              <a:ext uri="{FF2B5EF4-FFF2-40B4-BE49-F238E27FC236}">
                <a16:creationId xmlns:a16="http://schemas.microsoft.com/office/drawing/2014/main" id="{268FC36B-61A8-259A-AB59-EF5DB50413E9}"/>
              </a:ext>
            </a:extLst>
          </p:cNvPr>
          <p:cNvSpPr/>
          <p:nvPr/>
        </p:nvSpPr>
        <p:spPr>
          <a:xfrm>
            <a:off x="3291840" y="4437888"/>
            <a:ext cx="1280160" cy="502920"/>
          </a:xfrm>
          <a:prstGeom prst="roundRect">
            <a:avLst>
              <a:gd name="adj" fmla="val 10909"/>
            </a:avLst>
          </a:prstGeom>
          <a:solidFill>
            <a:srgbClr val="F0F0F0"/>
          </a:solidFill>
          <a:ln w="12700">
            <a:solidFill>
              <a:srgbClr val="CCCCCC"/>
            </a:solidFill>
            <a:prstDash val="solid"/>
          </a:ln>
        </p:spPr>
      </p:sp>
      <p:sp>
        <p:nvSpPr>
          <p:cNvPr id="39" name="Text 21">
            <a:extLst>
              <a:ext uri="{FF2B5EF4-FFF2-40B4-BE49-F238E27FC236}">
                <a16:creationId xmlns:a16="http://schemas.microsoft.com/office/drawing/2014/main" id="{34B710E1-0CDF-6686-C2C0-C8D1F106357C}"/>
              </a:ext>
            </a:extLst>
          </p:cNvPr>
          <p:cNvSpPr/>
          <p:nvPr/>
        </p:nvSpPr>
        <p:spPr>
          <a:xfrm>
            <a:off x="3291840" y="4437888"/>
            <a:ext cx="12801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6666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0.5101</a:t>
            </a:r>
            <a:endParaRPr lang="en-US" sz="1600" dirty="0"/>
          </a:p>
        </p:txBody>
      </p:sp>
      <p:sp>
        <p:nvSpPr>
          <p:cNvPr id="41" name="Text 22">
            <a:extLst>
              <a:ext uri="{FF2B5EF4-FFF2-40B4-BE49-F238E27FC236}">
                <a16:creationId xmlns:a16="http://schemas.microsoft.com/office/drawing/2014/main" id="{02492A80-A2BA-5CCE-4A34-43A3CFDFE5E0}"/>
              </a:ext>
            </a:extLst>
          </p:cNvPr>
          <p:cNvSpPr/>
          <p:nvPr/>
        </p:nvSpPr>
        <p:spPr>
          <a:xfrm>
            <a:off x="4663440" y="4437888"/>
            <a:ext cx="4572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800" dirty="0">
                <a:solidFill>
                  <a:srgbClr val="888888"/>
                </a:solidFill>
              </a:rPr>
              <a:t>→</a:t>
            </a:r>
            <a:endParaRPr lang="en-US" sz="1800" dirty="0"/>
          </a:p>
        </p:txBody>
      </p:sp>
      <p:sp>
        <p:nvSpPr>
          <p:cNvPr id="43" name="Shape 23">
            <a:extLst>
              <a:ext uri="{FF2B5EF4-FFF2-40B4-BE49-F238E27FC236}">
                <a16:creationId xmlns:a16="http://schemas.microsoft.com/office/drawing/2014/main" id="{9A1C64A0-96EC-1701-4A22-602983C77D6F}"/>
              </a:ext>
            </a:extLst>
          </p:cNvPr>
          <p:cNvSpPr/>
          <p:nvPr/>
        </p:nvSpPr>
        <p:spPr>
          <a:xfrm>
            <a:off x="5212080" y="4437888"/>
            <a:ext cx="1280160" cy="502920"/>
          </a:xfrm>
          <a:prstGeom prst="roundRect">
            <a:avLst>
              <a:gd name="adj" fmla="val 10909"/>
            </a:avLst>
          </a:prstGeom>
          <a:solidFill>
            <a:srgbClr val="D4EDDA"/>
          </a:solidFill>
          <a:ln w="12700">
            <a:solidFill>
              <a:srgbClr val="D4EDDA"/>
            </a:solidFill>
            <a:prstDash val="solid"/>
          </a:ln>
        </p:spPr>
      </p:sp>
      <p:sp>
        <p:nvSpPr>
          <p:cNvPr id="45" name="Text 24">
            <a:extLst>
              <a:ext uri="{FF2B5EF4-FFF2-40B4-BE49-F238E27FC236}">
                <a16:creationId xmlns:a16="http://schemas.microsoft.com/office/drawing/2014/main" id="{D2888E62-4DEF-FE36-90FB-9AFB19D9A442}"/>
              </a:ext>
            </a:extLst>
          </p:cNvPr>
          <p:cNvSpPr/>
          <p:nvPr/>
        </p:nvSpPr>
        <p:spPr>
          <a:xfrm>
            <a:off x="5212080" y="4437888"/>
            <a:ext cx="12801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1A6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0.5560</a:t>
            </a:r>
            <a:endParaRPr lang="en-US" sz="1600" dirty="0"/>
          </a:p>
        </p:txBody>
      </p:sp>
    </p:spTree>
    <p:extLst>
      <p:ext uri="{BB962C8B-B14F-4D97-AF65-F5344CB8AC3E}">
        <p14:creationId xmlns:p14="http://schemas.microsoft.com/office/powerpoint/2010/main" val="935934542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91D3858-0E44-2A04-8BCD-A524B965FC7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254E5217-2E6A-9F70-988A-6B578895AEE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fld id="{ADF2A186-A842-EB41-93F8-9926F66DBD04}" type="slidenum">
              <a:rPr lang="en-US" smtClean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pPr>
                <a:defRPr/>
              </a:pPr>
              <a:t>6</a:t>
            </a:fld>
            <a:endParaRPr lang="en-US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1913A8D8-7835-1A3E-591D-70DBB15E7F82}"/>
              </a:ext>
            </a:extLst>
          </p:cNvPr>
          <p:cNvSpPr txBox="1"/>
          <p:nvPr/>
        </p:nvSpPr>
        <p:spPr>
          <a:xfrm>
            <a:off x="2209800" y="58271"/>
            <a:ext cx="5344733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indent="0">
              <a:buNone/>
            </a:pPr>
            <a:r>
              <a:rPr lang="en-US" sz="3200" b="1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Phase 4: Richer Node Features</a:t>
            </a:r>
            <a:endParaRPr lang="en-US" sz="3200" dirty="0"/>
          </a:p>
        </p:txBody>
      </p:sp>
      <p:sp>
        <p:nvSpPr>
          <p:cNvPr id="49" name="Text 4">
            <a:extLst>
              <a:ext uri="{FF2B5EF4-FFF2-40B4-BE49-F238E27FC236}">
                <a16:creationId xmlns:a16="http://schemas.microsoft.com/office/drawing/2014/main" id="{B28E784E-87DC-C54C-22BD-682CB25A3137}"/>
              </a:ext>
            </a:extLst>
          </p:cNvPr>
          <p:cNvSpPr/>
          <p:nvPr/>
        </p:nvSpPr>
        <p:spPr>
          <a:xfrm>
            <a:off x="457200" y="1676400"/>
            <a:ext cx="82296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Node Features Added</a:t>
            </a:r>
            <a:endParaRPr lang="en-US" sz="1700" dirty="0"/>
          </a:p>
        </p:txBody>
      </p:sp>
      <p:sp>
        <p:nvSpPr>
          <p:cNvPr id="51" name="Text 5">
            <a:extLst>
              <a:ext uri="{FF2B5EF4-FFF2-40B4-BE49-F238E27FC236}">
                <a16:creationId xmlns:a16="http://schemas.microsoft.com/office/drawing/2014/main" id="{8D65B4E3-5E10-D69C-7324-68C65E706B26}"/>
              </a:ext>
            </a:extLst>
          </p:cNvPr>
          <p:cNvSpPr/>
          <p:nvPr/>
        </p:nvSpPr>
        <p:spPr>
          <a:xfrm>
            <a:off x="457200" y="2060448"/>
            <a:ext cx="4206240" cy="23774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x, y coordinates (original)</a:t>
            </a:r>
            <a:endParaRPr lang="en-US" sz="1300" dirty="0"/>
          </a:p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Node degree</a:t>
            </a:r>
            <a:endParaRPr lang="en-US" sz="1300" dirty="0"/>
          </a:p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Weighted degree</a:t>
            </a:r>
            <a:endParaRPr lang="en-US" sz="1300" dirty="0"/>
          </a:p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Distance from specimen center</a:t>
            </a:r>
            <a:endParaRPr lang="en-US" sz="1300" dirty="0"/>
          </a:p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Boundary indicator</a:t>
            </a:r>
            <a:endParaRPr lang="en-US" sz="1300" dirty="0"/>
          </a:p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Mean incident edge length</a:t>
            </a:r>
            <a:endParaRPr lang="en-US" sz="1300" dirty="0"/>
          </a:p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Max incident edge length</a:t>
            </a:r>
            <a:endParaRPr lang="en-US" sz="1300" dirty="0"/>
          </a:p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Mean incident edge weight</a:t>
            </a:r>
            <a:endParaRPr lang="en-US" sz="1300" dirty="0"/>
          </a:p>
        </p:txBody>
      </p:sp>
      <p:sp>
        <p:nvSpPr>
          <p:cNvPr id="53" name="Text 6">
            <a:extLst>
              <a:ext uri="{FF2B5EF4-FFF2-40B4-BE49-F238E27FC236}">
                <a16:creationId xmlns:a16="http://schemas.microsoft.com/office/drawing/2014/main" id="{BEA4F048-9FE1-58A2-1C08-FCAAECD48B86}"/>
              </a:ext>
            </a:extLst>
          </p:cNvPr>
          <p:cNvSpPr/>
          <p:nvPr/>
        </p:nvSpPr>
        <p:spPr>
          <a:xfrm>
            <a:off x="4846320" y="1676400"/>
            <a:ext cx="40233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Impact vs. Baseline</a:t>
            </a:r>
            <a:endParaRPr lang="en-US" sz="1700" dirty="0"/>
          </a:p>
        </p:txBody>
      </p:sp>
      <p:sp>
        <p:nvSpPr>
          <p:cNvPr id="55" name="Shape 7">
            <a:extLst>
              <a:ext uri="{FF2B5EF4-FFF2-40B4-BE49-F238E27FC236}">
                <a16:creationId xmlns:a16="http://schemas.microsoft.com/office/drawing/2014/main" id="{8400BE05-4D3D-4263-27F7-099276D4948C}"/>
              </a:ext>
            </a:extLst>
          </p:cNvPr>
          <p:cNvSpPr/>
          <p:nvPr/>
        </p:nvSpPr>
        <p:spPr>
          <a:xfrm>
            <a:off x="4846320" y="2060448"/>
            <a:ext cx="1828800" cy="1234440"/>
          </a:xfrm>
          <a:prstGeom prst="roundRect">
            <a:avLst>
              <a:gd name="adj" fmla="val 5926"/>
            </a:avLst>
          </a:prstGeom>
          <a:solidFill>
            <a:srgbClr val="D4EDDA"/>
          </a:solidFill>
          <a:ln w="12700">
            <a:solidFill>
              <a:srgbClr val="A8D5B5"/>
            </a:solidFill>
            <a:prstDash val="solid"/>
          </a:ln>
        </p:spPr>
      </p:sp>
      <p:sp>
        <p:nvSpPr>
          <p:cNvPr id="57" name="Text 8">
            <a:extLst>
              <a:ext uri="{FF2B5EF4-FFF2-40B4-BE49-F238E27FC236}">
                <a16:creationId xmlns:a16="http://schemas.microsoft.com/office/drawing/2014/main" id="{DF18F43C-966A-73E5-DC91-19FE447801ED}"/>
              </a:ext>
            </a:extLst>
          </p:cNvPr>
          <p:cNvSpPr/>
          <p:nvPr/>
        </p:nvSpPr>
        <p:spPr>
          <a:xfrm>
            <a:off x="4846320" y="2133600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 R²</a:t>
            </a:r>
            <a:endParaRPr lang="en-US" sz="1200" dirty="0"/>
          </a:p>
        </p:txBody>
      </p:sp>
      <p:sp>
        <p:nvSpPr>
          <p:cNvPr id="59" name="Text 9">
            <a:extLst>
              <a:ext uri="{FF2B5EF4-FFF2-40B4-BE49-F238E27FC236}">
                <a16:creationId xmlns:a16="http://schemas.microsoft.com/office/drawing/2014/main" id="{17A80E6A-F9FE-0C16-96B9-DF5A3E76939E}"/>
              </a:ext>
            </a:extLst>
          </p:cNvPr>
          <p:cNvSpPr/>
          <p:nvPr/>
        </p:nvSpPr>
        <p:spPr>
          <a:xfrm>
            <a:off x="4846320" y="2407920"/>
            <a:ext cx="1828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6666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0.8424 →</a:t>
            </a:r>
            <a:endParaRPr lang="en-US" sz="1100" dirty="0"/>
          </a:p>
        </p:txBody>
      </p:sp>
      <p:sp>
        <p:nvSpPr>
          <p:cNvPr id="61" name="Text 10">
            <a:extLst>
              <a:ext uri="{FF2B5EF4-FFF2-40B4-BE49-F238E27FC236}">
                <a16:creationId xmlns:a16="http://schemas.microsoft.com/office/drawing/2014/main" id="{A924E58D-9CD4-4AAB-4F71-6AAD23D5B5DF}"/>
              </a:ext>
            </a:extLst>
          </p:cNvPr>
          <p:cNvSpPr/>
          <p:nvPr/>
        </p:nvSpPr>
        <p:spPr>
          <a:xfrm>
            <a:off x="4846320" y="2663952"/>
            <a:ext cx="18288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1A6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0.9386</a:t>
            </a:r>
            <a:endParaRPr lang="en-US" sz="2200" dirty="0"/>
          </a:p>
        </p:txBody>
      </p:sp>
      <p:sp>
        <p:nvSpPr>
          <p:cNvPr id="63" name="Shape 11">
            <a:extLst>
              <a:ext uri="{FF2B5EF4-FFF2-40B4-BE49-F238E27FC236}">
                <a16:creationId xmlns:a16="http://schemas.microsoft.com/office/drawing/2014/main" id="{85F72764-6A79-F0A5-8D08-8E55D53F0C13}"/>
              </a:ext>
            </a:extLst>
          </p:cNvPr>
          <p:cNvSpPr/>
          <p:nvPr/>
        </p:nvSpPr>
        <p:spPr>
          <a:xfrm>
            <a:off x="6858000" y="2060448"/>
            <a:ext cx="1828800" cy="1234440"/>
          </a:xfrm>
          <a:prstGeom prst="roundRect">
            <a:avLst>
              <a:gd name="adj" fmla="val 5926"/>
            </a:avLst>
          </a:prstGeom>
          <a:solidFill>
            <a:srgbClr val="D4EDDA"/>
          </a:solidFill>
          <a:ln w="12700">
            <a:solidFill>
              <a:srgbClr val="A8D5B5"/>
            </a:solidFill>
            <a:prstDash val="solid"/>
          </a:ln>
        </p:spPr>
      </p:sp>
      <p:sp>
        <p:nvSpPr>
          <p:cNvPr id="65" name="Text 12">
            <a:extLst>
              <a:ext uri="{FF2B5EF4-FFF2-40B4-BE49-F238E27FC236}">
                <a16:creationId xmlns:a16="http://schemas.microsoft.com/office/drawing/2014/main" id="{406FDFF2-A1A2-931F-23D1-EFBFA192D4AC}"/>
              </a:ext>
            </a:extLst>
          </p:cNvPr>
          <p:cNvSpPr/>
          <p:nvPr/>
        </p:nvSpPr>
        <p:spPr>
          <a:xfrm>
            <a:off x="6858000" y="2133600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 R²</a:t>
            </a:r>
            <a:endParaRPr lang="en-US" sz="1200" dirty="0"/>
          </a:p>
        </p:txBody>
      </p:sp>
      <p:sp>
        <p:nvSpPr>
          <p:cNvPr id="67" name="Text 13">
            <a:extLst>
              <a:ext uri="{FF2B5EF4-FFF2-40B4-BE49-F238E27FC236}">
                <a16:creationId xmlns:a16="http://schemas.microsoft.com/office/drawing/2014/main" id="{4CEA08FC-DB70-C024-B01D-BACE21834B69}"/>
              </a:ext>
            </a:extLst>
          </p:cNvPr>
          <p:cNvSpPr/>
          <p:nvPr/>
        </p:nvSpPr>
        <p:spPr>
          <a:xfrm>
            <a:off x="6858000" y="2407920"/>
            <a:ext cx="1828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6666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0.9148 →</a:t>
            </a:r>
            <a:endParaRPr lang="en-US" sz="1100" dirty="0"/>
          </a:p>
        </p:txBody>
      </p:sp>
      <p:sp>
        <p:nvSpPr>
          <p:cNvPr id="69" name="Text 14">
            <a:extLst>
              <a:ext uri="{FF2B5EF4-FFF2-40B4-BE49-F238E27FC236}">
                <a16:creationId xmlns:a16="http://schemas.microsoft.com/office/drawing/2014/main" id="{AA6E15E0-70BE-133F-B720-D27EBD6CCDF6}"/>
              </a:ext>
            </a:extLst>
          </p:cNvPr>
          <p:cNvSpPr/>
          <p:nvPr/>
        </p:nvSpPr>
        <p:spPr>
          <a:xfrm>
            <a:off x="6858000" y="2663952"/>
            <a:ext cx="18288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1A6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0.9403</a:t>
            </a:r>
            <a:endParaRPr lang="en-US" sz="2200" dirty="0"/>
          </a:p>
        </p:txBody>
      </p:sp>
      <p:sp>
        <p:nvSpPr>
          <p:cNvPr id="71" name="Shape 15">
            <a:extLst>
              <a:ext uri="{FF2B5EF4-FFF2-40B4-BE49-F238E27FC236}">
                <a16:creationId xmlns:a16="http://schemas.microsoft.com/office/drawing/2014/main" id="{63BBD743-FCF4-C317-B84A-531ABD5BE8C6}"/>
              </a:ext>
            </a:extLst>
          </p:cNvPr>
          <p:cNvSpPr/>
          <p:nvPr/>
        </p:nvSpPr>
        <p:spPr>
          <a:xfrm>
            <a:off x="4846320" y="3477768"/>
            <a:ext cx="1828800" cy="1234440"/>
          </a:xfrm>
          <a:prstGeom prst="roundRect">
            <a:avLst>
              <a:gd name="adj" fmla="val 5926"/>
            </a:avLst>
          </a:prstGeom>
          <a:solidFill>
            <a:srgbClr val="D4EDDA"/>
          </a:solidFill>
          <a:ln w="12700">
            <a:solidFill>
              <a:srgbClr val="A8D5B5"/>
            </a:solidFill>
            <a:prstDash val="solid"/>
          </a:ln>
        </p:spPr>
      </p:sp>
      <p:sp>
        <p:nvSpPr>
          <p:cNvPr id="73" name="Text 16">
            <a:extLst>
              <a:ext uri="{FF2B5EF4-FFF2-40B4-BE49-F238E27FC236}">
                <a16:creationId xmlns:a16="http://schemas.microsoft.com/office/drawing/2014/main" id="{28E0E545-D32A-9131-647C-E06812B8140A}"/>
              </a:ext>
            </a:extLst>
          </p:cNvPr>
          <p:cNvSpPr/>
          <p:nvPr/>
        </p:nvSpPr>
        <p:spPr>
          <a:xfrm>
            <a:off x="4846320" y="3550920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 RMSE</a:t>
            </a:r>
            <a:endParaRPr lang="en-US" sz="1200" dirty="0"/>
          </a:p>
        </p:txBody>
      </p:sp>
      <p:sp>
        <p:nvSpPr>
          <p:cNvPr id="75" name="Text 17">
            <a:extLst>
              <a:ext uri="{FF2B5EF4-FFF2-40B4-BE49-F238E27FC236}">
                <a16:creationId xmlns:a16="http://schemas.microsoft.com/office/drawing/2014/main" id="{A341B0E1-17E7-4054-5C45-BEB0A93CAC24}"/>
              </a:ext>
            </a:extLst>
          </p:cNvPr>
          <p:cNvSpPr/>
          <p:nvPr/>
        </p:nvSpPr>
        <p:spPr>
          <a:xfrm>
            <a:off x="4846320" y="3825240"/>
            <a:ext cx="1828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6666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0.003818 →</a:t>
            </a:r>
            <a:endParaRPr lang="en-US" sz="1100" dirty="0"/>
          </a:p>
        </p:txBody>
      </p:sp>
      <p:sp>
        <p:nvSpPr>
          <p:cNvPr id="77" name="Text 18">
            <a:extLst>
              <a:ext uri="{FF2B5EF4-FFF2-40B4-BE49-F238E27FC236}">
                <a16:creationId xmlns:a16="http://schemas.microsoft.com/office/drawing/2014/main" id="{9E67E319-22B4-AC7E-F2A3-72BBAE50CF50}"/>
              </a:ext>
            </a:extLst>
          </p:cNvPr>
          <p:cNvSpPr/>
          <p:nvPr/>
        </p:nvSpPr>
        <p:spPr>
          <a:xfrm>
            <a:off x="4846320" y="4081272"/>
            <a:ext cx="18288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1A6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0.003197</a:t>
            </a:r>
            <a:endParaRPr lang="en-US" sz="2200" dirty="0"/>
          </a:p>
        </p:txBody>
      </p:sp>
      <p:sp>
        <p:nvSpPr>
          <p:cNvPr id="79" name="Shape 19">
            <a:extLst>
              <a:ext uri="{FF2B5EF4-FFF2-40B4-BE49-F238E27FC236}">
                <a16:creationId xmlns:a16="http://schemas.microsoft.com/office/drawing/2014/main" id="{E9910FBA-3DBE-2608-1AA0-11B9BA027327}"/>
              </a:ext>
            </a:extLst>
          </p:cNvPr>
          <p:cNvSpPr/>
          <p:nvPr/>
        </p:nvSpPr>
        <p:spPr>
          <a:xfrm>
            <a:off x="6858000" y="3477768"/>
            <a:ext cx="1828800" cy="1234440"/>
          </a:xfrm>
          <a:prstGeom prst="roundRect">
            <a:avLst>
              <a:gd name="adj" fmla="val 5926"/>
            </a:avLst>
          </a:prstGeom>
          <a:solidFill>
            <a:srgbClr val="D4EDDA"/>
          </a:solidFill>
          <a:ln w="12700">
            <a:solidFill>
              <a:srgbClr val="A8D5B5"/>
            </a:solidFill>
            <a:prstDash val="solid"/>
          </a:ln>
        </p:spPr>
      </p:sp>
      <p:sp>
        <p:nvSpPr>
          <p:cNvPr id="81" name="Text 20">
            <a:extLst>
              <a:ext uri="{FF2B5EF4-FFF2-40B4-BE49-F238E27FC236}">
                <a16:creationId xmlns:a16="http://schemas.microsoft.com/office/drawing/2014/main" id="{4E5F4108-39AC-7865-8526-60E6FB4A4BA2}"/>
              </a:ext>
            </a:extLst>
          </p:cNvPr>
          <p:cNvSpPr/>
          <p:nvPr/>
        </p:nvSpPr>
        <p:spPr>
          <a:xfrm>
            <a:off x="6858000" y="3550920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 MAE</a:t>
            </a:r>
            <a:endParaRPr lang="en-US" sz="1200" dirty="0"/>
          </a:p>
        </p:txBody>
      </p:sp>
      <p:sp>
        <p:nvSpPr>
          <p:cNvPr id="83" name="Text 21">
            <a:extLst>
              <a:ext uri="{FF2B5EF4-FFF2-40B4-BE49-F238E27FC236}">
                <a16:creationId xmlns:a16="http://schemas.microsoft.com/office/drawing/2014/main" id="{183C820D-427A-089F-EE08-4B59ED1B238A}"/>
              </a:ext>
            </a:extLst>
          </p:cNvPr>
          <p:cNvSpPr/>
          <p:nvPr/>
        </p:nvSpPr>
        <p:spPr>
          <a:xfrm>
            <a:off x="6858000" y="3825240"/>
            <a:ext cx="1828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6666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0.003003 →</a:t>
            </a:r>
            <a:endParaRPr lang="en-US" sz="1100" dirty="0"/>
          </a:p>
        </p:txBody>
      </p:sp>
      <p:sp>
        <p:nvSpPr>
          <p:cNvPr id="85" name="Text 22">
            <a:extLst>
              <a:ext uri="{FF2B5EF4-FFF2-40B4-BE49-F238E27FC236}">
                <a16:creationId xmlns:a16="http://schemas.microsoft.com/office/drawing/2014/main" id="{A57B46C2-2481-E0D4-E42E-B34412A877DB}"/>
              </a:ext>
            </a:extLst>
          </p:cNvPr>
          <p:cNvSpPr/>
          <p:nvPr/>
        </p:nvSpPr>
        <p:spPr>
          <a:xfrm>
            <a:off x="6858000" y="4081272"/>
            <a:ext cx="18288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1A6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0.002448</a:t>
            </a:r>
            <a:endParaRPr lang="en-US" sz="2200" dirty="0"/>
          </a:p>
        </p:txBody>
      </p:sp>
    </p:spTree>
    <p:extLst>
      <p:ext uri="{BB962C8B-B14F-4D97-AF65-F5344CB8AC3E}">
        <p14:creationId xmlns:p14="http://schemas.microsoft.com/office/powerpoint/2010/main" val="1722552988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9996E8E-2597-2AB8-8430-C69211BEB03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EB63A027-57F0-3E0A-D252-59995832A7E3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fld id="{ADF2A186-A842-EB41-93F8-9926F66DBD04}" type="slidenum">
              <a:rPr lang="en-US" smtClean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pPr>
                <a:defRPr/>
              </a:pPr>
              <a:t>7</a:t>
            </a:fld>
            <a:endParaRPr lang="en-US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A898A40F-E2B1-FEC3-469F-F86B8EBA44C2}"/>
              </a:ext>
            </a:extLst>
          </p:cNvPr>
          <p:cNvSpPr txBox="1"/>
          <p:nvPr/>
        </p:nvSpPr>
        <p:spPr>
          <a:xfrm>
            <a:off x="2209800" y="58271"/>
            <a:ext cx="5396862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indent="0">
              <a:buNone/>
            </a:pPr>
            <a:r>
              <a:rPr lang="en-US" sz="3200" b="1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Phase 5: Multi-Seed Validation</a:t>
            </a:r>
            <a:endParaRPr lang="en-US" sz="3200" dirty="0"/>
          </a:p>
        </p:txBody>
      </p:sp>
      <p:sp>
        <p:nvSpPr>
          <p:cNvPr id="49" name="Text 4">
            <a:extLst>
              <a:ext uri="{FF2B5EF4-FFF2-40B4-BE49-F238E27FC236}">
                <a16:creationId xmlns:a16="http://schemas.microsoft.com/office/drawing/2014/main" id="{6FA9E2C2-698E-3D80-1ABA-80937606FEFF}"/>
              </a:ext>
            </a:extLst>
          </p:cNvPr>
          <p:cNvSpPr/>
          <p:nvPr/>
        </p:nvSpPr>
        <p:spPr>
          <a:xfrm>
            <a:off x="457200" y="1219200"/>
            <a:ext cx="82296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Purpose</a:t>
            </a:r>
            <a:endParaRPr lang="en-US" sz="1700" dirty="0"/>
          </a:p>
        </p:txBody>
      </p:sp>
      <p:sp>
        <p:nvSpPr>
          <p:cNvPr id="51" name="Text 5">
            <a:extLst>
              <a:ext uri="{FF2B5EF4-FFF2-40B4-BE49-F238E27FC236}">
                <a16:creationId xmlns:a16="http://schemas.microsoft.com/office/drawing/2014/main" id="{C267B7BE-A8CE-D46D-A7EB-D40299B48D89}"/>
              </a:ext>
            </a:extLst>
          </p:cNvPr>
          <p:cNvSpPr/>
          <p:nvPr/>
        </p:nvSpPr>
        <p:spPr>
          <a:xfrm>
            <a:off x="457200" y="1584960"/>
            <a:ext cx="822960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Re-run the richer-feature Adam baseline across multiple random seeds to confirm the improvement is stable and not a lucky split.</a:t>
            </a:r>
            <a:endParaRPr lang="en-US" sz="1400" dirty="0"/>
          </a:p>
        </p:txBody>
      </p:sp>
      <p:sp>
        <p:nvSpPr>
          <p:cNvPr id="53" name="Text 6">
            <a:extLst>
              <a:ext uri="{FF2B5EF4-FFF2-40B4-BE49-F238E27FC236}">
                <a16:creationId xmlns:a16="http://schemas.microsoft.com/office/drawing/2014/main" id="{6CE2C47A-0677-BD40-0D4A-6F9F2C6EE910}"/>
              </a:ext>
            </a:extLst>
          </p:cNvPr>
          <p:cNvSpPr/>
          <p:nvPr/>
        </p:nvSpPr>
        <p:spPr>
          <a:xfrm>
            <a:off x="457200" y="2133600"/>
            <a:ext cx="82296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Multi-Seed Results (Richer Node Features)</a:t>
            </a:r>
            <a:endParaRPr lang="en-US" sz="1700" dirty="0"/>
          </a:p>
        </p:txBody>
      </p:sp>
      <p:sp>
        <p:nvSpPr>
          <p:cNvPr id="55" name="Shape 7">
            <a:extLst>
              <a:ext uri="{FF2B5EF4-FFF2-40B4-BE49-F238E27FC236}">
                <a16:creationId xmlns:a16="http://schemas.microsoft.com/office/drawing/2014/main" id="{B81B0911-D593-DA4E-6775-D3FB3275D422}"/>
              </a:ext>
            </a:extLst>
          </p:cNvPr>
          <p:cNvSpPr/>
          <p:nvPr/>
        </p:nvSpPr>
        <p:spPr>
          <a:xfrm>
            <a:off x="457200" y="2545080"/>
            <a:ext cx="1920240" cy="1188720"/>
          </a:xfrm>
          <a:prstGeom prst="roundRect">
            <a:avLst>
              <a:gd name="adj" fmla="val 6154"/>
            </a:avLst>
          </a:prstGeom>
          <a:solidFill>
            <a:srgbClr val="EEF2F8"/>
          </a:solidFill>
          <a:ln w="12700">
            <a:solidFill>
              <a:srgbClr val="C8D6EA"/>
            </a:solidFill>
            <a:prstDash val="solid"/>
          </a:ln>
        </p:spPr>
      </p:sp>
      <p:sp>
        <p:nvSpPr>
          <p:cNvPr id="57" name="Text 8">
            <a:extLst>
              <a:ext uri="{FF2B5EF4-FFF2-40B4-BE49-F238E27FC236}">
                <a16:creationId xmlns:a16="http://schemas.microsoft.com/office/drawing/2014/main" id="{27D64D81-C0CD-E2CA-F41F-125759D4BD8C}"/>
              </a:ext>
            </a:extLst>
          </p:cNvPr>
          <p:cNvSpPr/>
          <p:nvPr/>
        </p:nvSpPr>
        <p:spPr>
          <a:xfrm>
            <a:off x="457200" y="2682240"/>
            <a:ext cx="19202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600" b="1" dirty="0">
                <a:solidFill>
                  <a:srgbClr val="2F54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0.9414</a:t>
            </a:r>
            <a:endParaRPr lang="en-US" sz="2600" dirty="0"/>
          </a:p>
        </p:txBody>
      </p:sp>
      <p:sp>
        <p:nvSpPr>
          <p:cNvPr id="59" name="Text 9">
            <a:extLst>
              <a:ext uri="{FF2B5EF4-FFF2-40B4-BE49-F238E27FC236}">
                <a16:creationId xmlns:a16="http://schemas.microsoft.com/office/drawing/2014/main" id="{4EAFB59D-F891-6E1D-EAB6-FBCDAB289CC7}"/>
              </a:ext>
            </a:extLst>
          </p:cNvPr>
          <p:cNvSpPr/>
          <p:nvPr/>
        </p:nvSpPr>
        <p:spPr>
          <a:xfrm>
            <a:off x="457200" y="3203448"/>
            <a:ext cx="19202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Mean Val R²</a:t>
            </a:r>
            <a:endParaRPr lang="en-US" sz="1200" dirty="0"/>
          </a:p>
        </p:txBody>
      </p:sp>
      <p:sp>
        <p:nvSpPr>
          <p:cNvPr id="61" name="Shape 10">
            <a:extLst>
              <a:ext uri="{FF2B5EF4-FFF2-40B4-BE49-F238E27FC236}">
                <a16:creationId xmlns:a16="http://schemas.microsoft.com/office/drawing/2014/main" id="{34D451EB-6844-978E-AB56-D55CBA9DE785}"/>
              </a:ext>
            </a:extLst>
          </p:cNvPr>
          <p:cNvSpPr/>
          <p:nvPr/>
        </p:nvSpPr>
        <p:spPr>
          <a:xfrm>
            <a:off x="2606040" y="2545080"/>
            <a:ext cx="1920240" cy="1188720"/>
          </a:xfrm>
          <a:prstGeom prst="roundRect">
            <a:avLst>
              <a:gd name="adj" fmla="val 6154"/>
            </a:avLst>
          </a:prstGeom>
          <a:solidFill>
            <a:srgbClr val="EEF2F8"/>
          </a:solidFill>
          <a:ln w="12700">
            <a:solidFill>
              <a:srgbClr val="C8D6EA"/>
            </a:solidFill>
            <a:prstDash val="solid"/>
          </a:ln>
        </p:spPr>
      </p:sp>
      <p:sp>
        <p:nvSpPr>
          <p:cNvPr id="63" name="Text 11">
            <a:extLst>
              <a:ext uri="{FF2B5EF4-FFF2-40B4-BE49-F238E27FC236}">
                <a16:creationId xmlns:a16="http://schemas.microsoft.com/office/drawing/2014/main" id="{F3E93B24-469B-17CD-0AD7-4DBD2400F36C}"/>
              </a:ext>
            </a:extLst>
          </p:cNvPr>
          <p:cNvSpPr/>
          <p:nvPr/>
        </p:nvSpPr>
        <p:spPr>
          <a:xfrm>
            <a:off x="2606040" y="2682240"/>
            <a:ext cx="19202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600" b="1" dirty="0">
                <a:solidFill>
                  <a:srgbClr val="2F54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0.9380</a:t>
            </a:r>
            <a:endParaRPr lang="en-US" sz="2600" dirty="0"/>
          </a:p>
        </p:txBody>
      </p:sp>
      <p:sp>
        <p:nvSpPr>
          <p:cNvPr id="65" name="Text 12">
            <a:extLst>
              <a:ext uri="{FF2B5EF4-FFF2-40B4-BE49-F238E27FC236}">
                <a16:creationId xmlns:a16="http://schemas.microsoft.com/office/drawing/2014/main" id="{49836524-B627-0805-FEDB-B722DC04CBBE}"/>
              </a:ext>
            </a:extLst>
          </p:cNvPr>
          <p:cNvSpPr/>
          <p:nvPr/>
        </p:nvSpPr>
        <p:spPr>
          <a:xfrm>
            <a:off x="2606040" y="3203448"/>
            <a:ext cx="19202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Mean Test R²</a:t>
            </a:r>
            <a:endParaRPr lang="en-US" sz="1200" dirty="0"/>
          </a:p>
        </p:txBody>
      </p:sp>
      <p:sp>
        <p:nvSpPr>
          <p:cNvPr id="67" name="Shape 13">
            <a:extLst>
              <a:ext uri="{FF2B5EF4-FFF2-40B4-BE49-F238E27FC236}">
                <a16:creationId xmlns:a16="http://schemas.microsoft.com/office/drawing/2014/main" id="{0D80B18F-060E-A286-ABD3-A5A73A55AA06}"/>
              </a:ext>
            </a:extLst>
          </p:cNvPr>
          <p:cNvSpPr/>
          <p:nvPr/>
        </p:nvSpPr>
        <p:spPr>
          <a:xfrm>
            <a:off x="4754880" y="2545080"/>
            <a:ext cx="1920240" cy="1188720"/>
          </a:xfrm>
          <a:prstGeom prst="roundRect">
            <a:avLst>
              <a:gd name="adj" fmla="val 6154"/>
            </a:avLst>
          </a:prstGeom>
          <a:solidFill>
            <a:srgbClr val="EEF2F8"/>
          </a:solidFill>
          <a:ln w="12700">
            <a:solidFill>
              <a:srgbClr val="C8D6EA"/>
            </a:solidFill>
            <a:prstDash val="solid"/>
          </a:ln>
        </p:spPr>
      </p:sp>
      <p:sp>
        <p:nvSpPr>
          <p:cNvPr id="69" name="Text 14">
            <a:extLst>
              <a:ext uri="{FF2B5EF4-FFF2-40B4-BE49-F238E27FC236}">
                <a16:creationId xmlns:a16="http://schemas.microsoft.com/office/drawing/2014/main" id="{C698B445-CF9C-1E2F-6C55-5EED9710D835}"/>
              </a:ext>
            </a:extLst>
          </p:cNvPr>
          <p:cNvSpPr/>
          <p:nvPr/>
        </p:nvSpPr>
        <p:spPr>
          <a:xfrm>
            <a:off x="4754880" y="2682240"/>
            <a:ext cx="19202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600" b="1" dirty="0">
                <a:solidFill>
                  <a:srgbClr val="2F54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0.003086</a:t>
            </a:r>
            <a:endParaRPr lang="en-US" sz="2600" dirty="0"/>
          </a:p>
        </p:txBody>
      </p:sp>
      <p:sp>
        <p:nvSpPr>
          <p:cNvPr id="71" name="Text 15">
            <a:extLst>
              <a:ext uri="{FF2B5EF4-FFF2-40B4-BE49-F238E27FC236}">
                <a16:creationId xmlns:a16="http://schemas.microsoft.com/office/drawing/2014/main" id="{16F4EC46-722E-CBA3-62A7-F72E132DA8C2}"/>
              </a:ext>
            </a:extLst>
          </p:cNvPr>
          <p:cNvSpPr/>
          <p:nvPr/>
        </p:nvSpPr>
        <p:spPr>
          <a:xfrm>
            <a:off x="4754880" y="3203448"/>
            <a:ext cx="19202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Mean Test RMSE</a:t>
            </a:r>
            <a:endParaRPr lang="en-US" sz="1200" dirty="0"/>
          </a:p>
        </p:txBody>
      </p:sp>
      <p:sp>
        <p:nvSpPr>
          <p:cNvPr id="73" name="Shape 16">
            <a:extLst>
              <a:ext uri="{FF2B5EF4-FFF2-40B4-BE49-F238E27FC236}">
                <a16:creationId xmlns:a16="http://schemas.microsoft.com/office/drawing/2014/main" id="{55C14C85-A838-4680-3664-78E5BC8E6350}"/>
              </a:ext>
            </a:extLst>
          </p:cNvPr>
          <p:cNvSpPr/>
          <p:nvPr/>
        </p:nvSpPr>
        <p:spPr>
          <a:xfrm>
            <a:off x="6903720" y="2545080"/>
            <a:ext cx="1920240" cy="1188720"/>
          </a:xfrm>
          <a:prstGeom prst="roundRect">
            <a:avLst>
              <a:gd name="adj" fmla="val 6154"/>
            </a:avLst>
          </a:prstGeom>
          <a:solidFill>
            <a:srgbClr val="EEF2F8"/>
          </a:solidFill>
          <a:ln w="12700">
            <a:solidFill>
              <a:srgbClr val="C8D6EA"/>
            </a:solidFill>
            <a:prstDash val="solid"/>
          </a:ln>
        </p:spPr>
      </p:sp>
      <p:sp>
        <p:nvSpPr>
          <p:cNvPr id="75" name="Text 17">
            <a:extLst>
              <a:ext uri="{FF2B5EF4-FFF2-40B4-BE49-F238E27FC236}">
                <a16:creationId xmlns:a16="http://schemas.microsoft.com/office/drawing/2014/main" id="{0C417708-7E08-7AED-1742-D7860D9CAEAB}"/>
              </a:ext>
            </a:extLst>
          </p:cNvPr>
          <p:cNvSpPr/>
          <p:nvPr/>
        </p:nvSpPr>
        <p:spPr>
          <a:xfrm>
            <a:off x="6903720" y="2682240"/>
            <a:ext cx="19202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600" b="1" dirty="0">
                <a:solidFill>
                  <a:srgbClr val="2F54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0.4964</a:t>
            </a:r>
            <a:endParaRPr lang="en-US" sz="2600" dirty="0"/>
          </a:p>
        </p:txBody>
      </p:sp>
      <p:sp>
        <p:nvSpPr>
          <p:cNvPr id="77" name="Text 18">
            <a:extLst>
              <a:ext uri="{FF2B5EF4-FFF2-40B4-BE49-F238E27FC236}">
                <a16:creationId xmlns:a16="http://schemas.microsoft.com/office/drawing/2014/main" id="{91890ADB-763E-F581-6A4D-50CF9EEAF3EC}"/>
              </a:ext>
            </a:extLst>
          </p:cNvPr>
          <p:cNvSpPr/>
          <p:nvPr/>
        </p:nvSpPr>
        <p:spPr>
          <a:xfrm>
            <a:off x="6903720" y="3203448"/>
            <a:ext cx="19202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Mean Pred-Set R²</a:t>
            </a:r>
            <a:endParaRPr lang="en-US" sz="1200" dirty="0"/>
          </a:p>
        </p:txBody>
      </p:sp>
      <p:sp>
        <p:nvSpPr>
          <p:cNvPr id="79" name="Text 19">
            <a:extLst>
              <a:ext uri="{FF2B5EF4-FFF2-40B4-BE49-F238E27FC236}">
                <a16:creationId xmlns:a16="http://schemas.microsoft.com/office/drawing/2014/main" id="{CB1BEAC4-EBD0-F404-D1A2-BBC5D0F03983}"/>
              </a:ext>
            </a:extLst>
          </p:cNvPr>
          <p:cNvSpPr/>
          <p:nvPr/>
        </p:nvSpPr>
        <p:spPr>
          <a:xfrm>
            <a:off x="457200" y="3843528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 R² Range Across Seeds: 0.9339 to 0.9467</a:t>
            </a:r>
            <a:endParaRPr lang="en-US" sz="1400" dirty="0"/>
          </a:p>
        </p:txBody>
      </p:sp>
      <p:sp>
        <p:nvSpPr>
          <p:cNvPr id="81" name="Text 20">
            <a:extLst>
              <a:ext uri="{FF2B5EF4-FFF2-40B4-BE49-F238E27FC236}">
                <a16:creationId xmlns:a16="http://schemas.microsoft.com/office/drawing/2014/main" id="{1ED3EFB0-59E6-1645-8CEF-DF1C01064AE1}"/>
              </a:ext>
            </a:extLst>
          </p:cNvPr>
          <p:cNvSpPr/>
          <p:nvPr/>
        </p:nvSpPr>
        <p:spPr>
          <a:xfrm>
            <a:off x="457200" y="4191000"/>
            <a:ext cx="822960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Best single-seed result (0.9403) was somewhat optimistic, as expected from variance</a:t>
            </a:r>
            <a:endParaRPr lang="en-US" sz="1300" dirty="0"/>
          </a:p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Multi-seed mean still clearly outperforms original baseline (0.9148 → 0.9380)</a:t>
            </a:r>
            <a:endParaRPr lang="en-US" sz="1300" dirty="0"/>
          </a:p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Held-out test split is stable across seeds; prediction set shows higher variance (out-of-distribution weakness)</a:t>
            </a:r>
            <a:endParaRPr lang="en-US" sz="1300" dirty="0"/>
          </a:p>
        </p:txBody>
      </p:sp>
    </p:spTree>
    <p:extLst>
      <p:ext uri="{BB962C8B-B14F-4D97-AF65-F5344CB8AC3E}">
        <p14:creationId xmlns:p14="http://schemas.microsoft.com/office/powerpoint/2010/main" val="1898731363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53AC558-6E0B-C04C-4997-AA2E29956FE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E99B2480-E9A3-A64D-FE84-06376B13A54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fld id="{ADF2A186-A842-EB41-93F8-9926F66DBD04}" type="slidenum">
              <a:rPr lang="en-US" smtClean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pPr>
                <a:defRPr/>
              </a:pPr>
              <a:t>8</a:t>
            </a:fld>
            <a:endParaRPr lang="en-US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886D328F-E363-9D7C-6E10-48421305DE4A}"/>
              </a:ext>
            </a:extLst>
          </p:cNvPr>
          <p:cNvSpPr txBox="1"/>
          <p:nvPr/>
        </p:nvSpPr>
        <p:spPr>
          <a:xfrm>
            <a:off x="2209800" y="58271"/>
            <a:ext cx="6173550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700" b="1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Phase 6: Graph-Level Summary Features</a:t>
            </a:r>
            <a:endParaRPr lang="en-US" sz="2700" dirty="0"/>
          </a:p>
        </p:txBody>
      </p:sp>
      <p:sp>
        <p:nvSpPr>
          <p:cNvPr id="4" name="Text 4">
            <a:extLst>
              <a:ext uri="{FF2B5EF4-FFF2-40B4-BE49-F238E27FC236}">
                <a16:creationId xmlns:a16="http://schemas.microsoft.com/office/drawing/2014/main" id="{1388B05A-2FDF-454B-B1C5-0ABF01E9653C}"/>
              </a:ext>
            </a:extLst>
          </p:cNvPr>
          <p:cNvSpPr/>
          <p:nvPr/>
        </p:nvSpPr>
        <p:spPr>
          <a:xfrm>
            <a:off x="457200" y="1219200"/>
            <a:ext cx="82296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Was Added</a:t>
            </a:r>
            <a:endParaRPr lang="en-US" sz="1700" dirty="0"/>
          </a:p>
        </p:txBody>
      </p:sp>
      <p:sp>
        <p:nvSpPr>
          <p:cNvPr id="7" name="Text 5">
            <a:extLst>
              <a:ext uri="{FF2B5EF4-FFF2-40B4-BE49-F238E27FC236}">
                <a16:creationId xmlns:a16="http://schemas.microsoft.com/office/drawing/2014/main" id="{3B62F8F7-A9B8-5EFE-EAA1-9DFA8130498D}"/>
              </a:ext>
            </a:extLst>
          </p:cNvPr>
          <p:cNvSpPr/>
          <p:nvPr/>
        </p:nvSpPr>
        <p:spPr>
          <a:xfrm>
            <a:off x="457200" y="1584960"/>
            <a:ext cx="4206240" cy="1691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350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Node count, edge count, graph density</a:t>
            </a:r>
            <a:endParaRPr lang="en-US" sz="1350" dirty="0"/>
          </a:p>
          <a:p>
            <a:pPr marL="342900" indent="-342900">
              <a:buSzPct val="100000"/>
              <a:buChar char="•"/>
            </a:pPr>
            <a:r>
              <a:rPr lang="en-US" sz="1350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 / mean / std edge weight</a:t>
            </a:r>
            <a:endParaRPr lang="en-US" sz="1350" dirty="0"/>
          </a:p>
          <a:p>
            <a:pPr marL="342900" indent="-342900">
              <a:buSzPct val="100000"/>
              <a:buChar char="•"/>
            </a:pPr>
            <a:r>
              <a:rPr lang="en-US" sz="1350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Degree mean / std</a:t>
            </a:r>
            <a:endParaRPr lang="en-US" sz="1350" dirty="0"/>
          </a:p>
          <a:p>
            <a:pPr marL="342900" indent="-342900">
              <a:buSzPct val="100000"/>
              <a:buChar char="•"/>
            </a:pPr>
            <a:r>
              <a:rPr lang="en-US" sz="1350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Weighted degree mean / std</a:t>
            </a:r>
            <a:endParaRPr lang="en-US" sz="1350" dirty="0"/>
          </a:p>
          <a:p>
            <a:pPr marL="342900" indent="-342900">
              <a:buSzPct val="100000"/>
              <a:buChar char="•"/>
            </a:pPr>
            <a:r>
              <a:rPr lang="en-US" sz="1350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Center-distance mean / std</a:t>
            </a:r>
            <a:endParaRPr lang="en-US" sz="1350" dirty="0"/>
          </a:p>
        </p:txBody>
      </p:sp>
      <p:sp>
        <p:nvSpPr>
          <p:cNvPr id="9" name="Text 6">
            <a:extLst>
              <a:ext uri="{FF2B5EF4-FFF2-40B4-BE49-F238E27FC236}">
                <a16:creationId xmlns:a16="http://schemas.microsoft.com/office/drawing/2014/main" id="{4FB395BA-686A-70FE-D098-CE19BD745D42}"/>
              </a:ext>
            </a:extLst>
          </p:cNvPr>
          <p:cNvSpPr/>
          <p:nvPr/>
        </p:nvSpPr>
        <p:spPr>
          <a:xfrm>
            <a:off x="457200" y="3322320"/>
            <a:ext cx="42062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i="1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Graph-level features are concatenated after pooling, before the output layer. All features normalized using training-split statistics.</a:t>
            </a:r>
            <a:endParaRPr lang="en-US" sz="1200" dirty="0"/>
          </a:p>
        </p:txBody>
      </p:sp>
      <p:sp>
        <p:nvSpPr>
          <p:cNvPr id="11" name="Text 7">
            <a:extLst>
              <a:ext uri="{FF2B5EF4-FFF2-40B4-BE49-F238E27FC236}">
                <a16:creationId xmlns:a16="http://schemas.microsoft.com/office/drawing/2014/main" id="{CAD8B4BD-1D1E-E283-9038-D6E0878EF48D}"/>
              </a:ext>
            </a:extLst>
          </p:cNvPr>
          <p:cNvSpPr/>
          <p:nvPr/>
        </p:nvSpPr>
        <p:spPr>
          <a:xfrm>
            <a:off x="4846320" y="1219200"/>
            <a:ext cx="40233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Multi-Seed Results</a:t>
            </a:r>
            <a:endParaRPr lang="en-US" sz="1700" dirty="0"/>
          </a:p>
        </p:txBody>
      </p:sp>
      <p:sp>
        <p:nvSpPr>
          <p:cNvPr id="13" name="Shape 8">
            <a:extLst>
              <a:ext uri="{FF2B5EF4-FFF2-40B4-BE49-F238E27FC236}">
                <a16:creationId xmlns:a16="http://schemas.microsoft.com/office/drawing/2014/main" id="{E21FE380-ED42-1828-C89D-BAD8CE068023}"/>
              </a:ext>
            </a:extLst>
          </p:cNvPr>
          <p:cNvSpPr/>
          <p:nvPr/>
        </p:nvSpPr>
        <p:spPr>
          <a:xfrm>
            <a:off x="4846320" y="1603248"/>
            <a:ext cx="1828800" cy="1234440"/>
          </a:xfrm>
          <a:prstGeom prst="roundRect">
            <a:avLst>
              <a:gd name="adj" fmla="val 5926"/>
            </a:avLst>
          </a:prstGeom>
          <a:solidFill>
            <a:srgbClr val="EEF2F8"/>
          </a:solidFill>
          <a:ln w="12700">
            <a:solidFill>
              <a:srgbClr val="CCCCCC"/>
            </a:solidFill>
            <a:prstDash val="solid"/>
          </a:ln>
        </p:spPr>
      </p:sp>
      <p:sp>
        <p:nvSpPr>
          <p:cNvPr id="15" name="Text 9">
            <a:extLst>
              <a:ext uri="{FF2B5EF4-FFF2-40B4-BE49-F238E27FC236}">
                <a16:creationId xmlns:a16="http://schemas.microsoft.com/office/drawing/2014/main" id="{F5882C58-E51F-D837-7620-8995BDF712D6}"/>
              </a:ext>
            </a:extLst>
          </p:cNvPr>
          <p:cNvSpPr/>
          <p:nvPr/>
        </p:nvSpPr>
        <p:spPr>
          <a:xfrm>
            <a:off x="4846320" y="1648968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Mean Val R²</a:t>
            </a:r>
            <a:endParaRPr lang="en-US" sz="1100" dirty="0"/>
          </a:p>
        </p:txBody>
      </p:sp>
      <p:sp>
        <p:nvSpPr>
          <p:cNvPr id="17" name="Text 10">
            <a:extLst>
              <a:ext uri="{FF2B5EF4-FFF2-40B4-BE49-F238E27FC236}">
                <a16:creationId xmlns:a16="http://schemas.microsoft.com/office/drawing/2014/main" id="{7E32DD82-B9EC-A901-8422-05218F6E81AD}"/>
              </a:ext>
            </a:extLst>
          </p:cNvPr>
          <p:cNvSpPr/>
          <p:nvPr/>
        </p:nvSpPr>
        <p:spPr>
          <a:xfrm>
            <a:off x="4846320" y="1923288"/>
            <a:ext cx="1828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6666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0.9414 →</a:t>
            </a:r>
            <a:endParaRPr lang="en-US" sz="1100" dirty="0"/>
          </a:p>
        </p:txBody>
      </p:sp>
      <p:sp>
        <p:nvSpPr>
          <p:cNvPr id="19" name="Text 11">
            <a:extLst>
              <a:ext uri="{FF2B5EF4-FFF2-40B4-BE49-F238E27FC236}">
                <a16:creationId xmlns:a16="http://schemas.microsoft.com/office/drawing/2014/main" id="{35D95BFF-D08C-41BB-0EFE-8C5827BC65CF}"/>
              </a:ext>
            </a:extLst>
          </p:cNvPr>
          <p:cNvSpPr/>
          <p:nvPr/>
        </p:nvSpPr>
        <p:spPr>
          <a:xfrm>
            <a:off x="4846320" y="2170176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2F54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0.9410</a:t>
            </a:r>
            <a:endParaRPr lang="en-US" sz="2000" dirty="0"/>
          </a:p>
        </p:txBody>
      </p:sp>
      <p:sp>
        <p:nvSpPr>
          <p:cNvPr id="21" name="Shape 12">
            <a:extLst>
              <a:ext uri="{FF2B5EF4-FFF2-40B4-BE49-F238E27FC236}">
                <a16:creationId xmlns:a16="http://schemas.microsoft.com/office/drawing/2014/main" id="{7A52625F-05A6-8039-182A-1A4A34ECE526}"/>
              </a:ext>
            </a:extLst>
          </p:cNvPr>
          <p:cNvSpPr/>
          <p:nvPr/>
        </p:nvSpPr>
        <p:spPr>
          <a:xfrm>
            <a:off x="6858000" y="1603248"/>
            <a:ext cx="1828800" cy="1234440"/>
          </a:xfrm>
          <a:prstGeom prst="roundRect">
            <a:avLst>
              <a:gd name="adj" fmla="val 5926"/>
            </a:avLst>
          </a:prstGeom>
          <a:solidFill>
            <a:srgbClr val="D4EDDA"/>
          </a:solidFill>
          <a:ln w="12700">
            <a:solidFill>
              <a:srgbClr val="CCCCCC"/>
            </a:solidFill>
            <a:prstDash val="solid"/>
          </a:ln>
        </p:spPr>
      </p:sp>
      <p:sp>
        <p:nvSpPr>
          <p:cNvPr id="23" name="Text 13">
            <a:extLst>
              <a:ext uri="{FF2B5EF4-FFF2-40B4-BE49-F238E27FC236}">
                <a16:creationId xmlns:a16="http://schemas.microsoft.com/office/drawing/2014/main" id="{E44CBC4D-048C-1404-4FAF-F8DA5BC1D4DF}"/>
              </a:ext>
            </a:extLst>
          </p:cNvPr>
          <p:cNvSpPr/>
          <p:nvPr/>
        </p:nvSpPr>
        <p:spPr>
          <a:xfrm>
            <a:off x="6858000" y="1648968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Mean Test R²</a:t>
            </a:r>
            <a:endParaRPr lang="en-US" sz="1100" dirty="0"/>
          </a:p>
        </p:txBody>
      </p:sp>
      <p:sp>
        <p:nvSpPr>
          <p:cNvPr id="25" name="Text 14">
            <a:extLst>
              <a:ext uri="{FF2B5EF4-FFF2-40B4-BE49-F238E27FC236}">
                <a16:creationId xmlns:a16="http://schemas.microsoft.com/office/drawing/2014/main" id="{6DA84CFE-1524-1E72-70AB-A941975FCAE7}"/>
              </a:ext>
            </a:extLst>
          </p:cNvPr>
          <p:cNvSpPr/>
          <p:nvPr/>
        </p:nvSpPr>
        <p:spPr>
          <a:xfrm>
            <a:off x="6858000" y="1923288"/>
            <a:ext cx="1828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6666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0.9380 →</a:t>
            </a:r>
            <a:endParaRPr lang="en-US" sz="1100" dirty="0"/>
          </a:p>
        </p:txBody>
      </p:sp>
      <p:sp>
        <p:nvSpPr>
          <p:cNvPr id="27" name="Text 15">
            <a:extLst>
              <a:ext uri="{FF2B5EF4-FFF2-40B4-BE49-F238E27FC236}">
                <a16:creationId xmlns:a16="http://schemas.microsoft.com/office/drawing/2014/main" id="{A7F6BD1A-5234-3E27-B0CD-CF6B301040D7}"/>
              </a:ext>
            </a:extLst>
          </p:cNvPr>
          <p:cNvSpPr/>
          <p:nvPr/>
        </p:nvSpPr>
        <p:spPr>
          <a:xfrm>
            <a:off x="6858000" y="2170176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1A6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0.9411</a:t>
            </a:r>
            <a:endParaRPr lang="en-US" sz="2000" dirty="0"/>
          </a:p>
        </p:txBody>
      </p:sp>
      <p:sp>
        <p:nvSpPr>
          <p:cNvPr id="29" name="Shape 16">
            <a:extLst>
              <a:ext uri="{FF2B5EF4-FFF2-40B4-BE49-F238E27FC236}">
                <a16:creationId xmlns:a16="http://schemas.microsoft.com/office/drawing/2014/main" id="{23E86128-68B1-4328-0A09-E0000BC41AFC}"/>
              </a:ext>
            </a:extLst>
          </p:cNvPr>
          <p:cNvSpPr/>
          <p:nvPr/>
        </p:nvSpPr>
        <p:spPr>
          <a:xfrm>
            <a:off x="4846320" y="3020568"/>
            <a:ext cx="1828800" cy="1234440"/>
          </a:xfrm>
          <a:prstGeom prst="roundRect">
            <a:avLst>
              <a:gd name="adj" fmla="val 5926"/>
            </a:avLst>
          </a:prstGeom>
          <a:solidFill>
            <a:srgbClr val="D4EDDA"/>
          </a:solidFill>
          <a:ln w="12700">
            <a:solidFill>
              <a:srgbClr val="CCCCCC"/>
            </a:solidFill>
            <a:prstDash val="solid"/>
          </a:ln>
        </p:spPr>
      </p:sp>
      <p:sp>
        <p:nvSpPr>
          <p:cNvPr id="31" name="Text 17">
            <a:extLst>
              <a:ext uri="{FF2B5EF4-FFF2-40B4-BE49-F238E27FC236}">
                <a16:creationId xmlns:a16="http://schemas.microsoft.com/office/drawing/2014/main" id="{AD4FD6A7-381D-E10C-7A58-B96FF600C813}"/>
              </a:ext>
            </a:extLst>
          </p:cNvPr>
          <p:cNvSpPr/>
          <p:nvPr/>
        </p:nvSpPr>
        <p:spPr>
          <a:xfrm>
            <a:off x="4846320" y="3066288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Mean RMSE</a:t>
            </a:r>
            <a:endParaRPr lang="en-US" sz="1100" dirty="0"/>
          </a:p>
        </p:txBody>
      </p:sp>
      <p:sp>
        <p:nvSpPr>
          <p:cNvPr id="33" name="Text 18">
            <a:extLst>
              <a:ext uri="{FF2B5EF4-FFF2-40B4-BE49-F238E27FC236}">
                <a16:creationId xmlns:a16="http://schemas.microsoft.com/office/drawing/2014/main" id="{B012883A-C438-9CFE-596B-17171BCD6BB8}"/>
              </a:ext>
            </a:extLst>
          </p:cNvPr>
          <p:cNvSpPr/>
          <p:nvPr/>
        </p:nvSpPr>
        <p:spPr>
          <a:xfrm>
            <a:off x="4846320" y="3340608"/>
            <a:ext cx="1828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6666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0.003086 →</a:t>
            </a:r>
            <a:endParaRPr lang="en-US" sz="1100" dirty="0"/>
          </a:p>
        </p:txBody>
      </p:sp>
      <p:sp>
        <p:nvSpPr>
          <p:cNvPr id="35" name="Text 19">
            <a:extLst>
              <a:ext uri="{FF2B5EF4-FFF2-40B4-BE49-F238E27FC236}">
                <a16:creationId xmlns:a16="http://schemas.microsoft.com/office/drawing/2014/main" id="{E7212A9D-34BA-A83D-B19E-99E3B362F978}"/>
              </a:ext>
            </a:extLst>
          </p:cNvPr>
          <p:cNvSpPr/>
          <p:nvPr/>
        </p:nvSpPr>
        <p:spPr>
          <a:xfrm>
            <a:off x="4846320" y="3587496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1A6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0.003003</a:t>
            </a:r>
            <a:endParaRPr lang="en-US" sz="2000" dirty="0"/>
          </a:p>
        </p:txBody>
      </p:sp>
      <p:sp>
        <p:nvSpPr>
          <p:cNvPr id="37" name="Shape 20">
            <a:extLst>
              <a:ext uri="{FF2B5EF4-FFF2-40B4-BE49-F238E27FC236}">
                <a16:creationId xmlns:a16="http://schemas.microsoft.com/office/drawing/2014/main" id="{68A499F8-8E0D-65EE-6AD3-51A3E90C66DA}"/>
              </a:ext>
            </a:extLst>
          </p:cNvPr>
          <p:cNvSpPr/>
          <p:nvPr/>
        </p:nvSpPr>
        <p:spPr>
          <a:xfrm>
            <a:off x="6858000" y="3020568"/>
            <a:ext cx="1828800" cy="1234440"/>
          </a:xfrm>
          <a:prstGeom prst="roundRect">
            <a:avLst>
              <a:gd name="adj" fmla="val 5926"/>
            </a:avLst>
          </a:prstGeom>
          <a:solidFill>
            <a:srgbClr val="F8D7DA"/>
          </a:solidFill>
          <a:ln w="12700">
            <a:solidFill>
              <a:srgbClr val="CCCCCC"/>
            </a:solidFill>
            <a:prstDash val="solid"/>
          </a:ln>
        </p:spPr>
      </p:sp>
      <p:sp>
        <p:nvSpPr>
          <p:cNvPr id="39" name="Text 21">
            <a:extLst>
              <a:ext uri="{FF2B5EF4-FFF2-40B4-BE49-F238E27FC236}">
                <a16:creationId xmlns:a16="http://schemas.microsoft.com/office/drawing/2014/main" id="{759B36C2-B112-7CBA-B1C6-B8EF052F709D}"/>
              </a:ext>
            </a:extLst>
          </p:cNvPr>
          <p:cNvSpPr/>
          <p:nvPr/>
        </p:nvSpPr>
        <p:spPr>
          <a:xfrm>
            <a:off x="6858000" y="3066288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Mean Pred-Set R²</a:t>
            </a:r>
            <a:endParaRPr lang="en-US" sz="1100" dirty="0"/>
          </a:p>
        </p:txBody>
      </p:sp>
      <p:sp>
        <p:nvSpPr>
          <p:cNvPr id="41" name="Text 22">
            <a:extLst>
              <a:ext uri="{FF2B5EF4-FFF2-40B4-BE49-F238E27FC236}">
                <a16:creationId xmlns:a16="http://schemas.microsoft.com/office/drawing/2014/main" id="{4EA6DCD6-F623-DEE2-B2E0-BACB8F790961}"/>
              </a:ext>
            </a:extLst>
          </p:cNvPr>
          <p:cNvSpPr/>
          <p:nvPr/>
        </p:nvSpPr>
        <p:spPr>
          <a:xfrm>
            <a:off x="6858000" y="3340608"/>
            <a:ext cx="1828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6666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0.4964 →</a:t>
            </a:r>
            <a:endParaRPr lang="en-US" sz="1100" dirty="0"/>
          </a:p>
        </p:txBody>
      </p:sp>
      <p:sp>
        <p:nvSpPr>
          <p:cNvPr id="43" name="Text 23">
            <a:extLst>
              <a:ext uri="{FF2B5EF4-FFF2-40B4-BE49-F238E27FC236}">
                <a16:creationId xmlns:a16="http://schemas.microsoft.com/office/drawing/2014/main" id="{42886574-8AA9-39A8-8CE7-1AD8B6D848BC}"/>
              </a:ext>
            </a:extLst>
          </p:cNvPr>
          <p:cNvSpPr/>
          <p:nvPr/>
        </p:nvSpPr>
        <p:spPr>
          <a:xfrm>
            <a:off x="6858000" y="3587496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8B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0.4035</a:t>
            </a:r>
            <a:endParaRPr lang="en-US" sz="2000" dirty="0"/>
          </a:p>
        </p:txBody>
      </p:sp>
    </p:spTree>
    <p:extLst>
      <p:ext uri="{BB962C8B-B14F-4D97-AF65-F5344CB8AC3E}">
        <p14:creationId xmlns:p14="http://schemas.microsoft.com/office/powerpoint/2010/main" val="1893264920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42D3A72-DEEC-F3DF-BCBD-43A67EC8712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882445F4-7D74-1F9C-3985-95CE2C62BBA4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fld id="{ADF2A186-A842-EB41-93F8-9926F66DBD04}" type="slidenum">
              <a:rPr lang="en-US" smtClean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pPr>
                <a:defRPr/>
              </a:pPr>
              <a:t>9</a:t>
            </a:fld>
            <a:endParaRPr lang="en-US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04BD7DD1-9589-665D-1B10-2C3534D064FC}"/>
              </a:ext>
            </a:extLst>
          </p:cNvPr>
          <p:cNvSpPr txBox="1"/>
          <p:nvPr/>
        </p:nvSpPr>
        <p:spPr>
          <a:xfrm>
            <a:off x="2209800" y="58271"/>
            <a:ext cx="5840894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200" b="1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Phases 7–8: Target Normalization</a:t>
            </a:r>
            <a:endParaRPr lang="en-US" sz="3200" dirty="0"/>
          </a:p>
        </p:txBody>
      </p:sp>
      <p:sp>
        <p:nvSpPr>
          <p:cNvPr id="39" name="Text 4">
            <a:extLst>
              <a:ext uri="{FF2B5EF4-FFF2-40B4-BE49-F238E27FC236}">
                <a16:creationId xmlns:a16="http://schemas.microsoft.com/office/drawing/2014/main" id="{78EA9D46-12A2-D6EB-64E9-E9F4D9026F61}"/>
              </a:ext>
            </a:extLst>
          </p:cNvPr>
          <p:cNvSpPr/>
          <p:nvPr/>
        </p:nvSpPr>
        <p:spPr>
          <a:xfrm>
            <a:off x="457200" y="1143000"/>
            <a:ext cx="82296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Approach</a:t>
            </a:r>
            <a:endParaRPr lang="en-US" sz="1700" dirty="0"/>
          </a:p>
        </p:txBody>
      </p:sp>
      <p:sp>
        <p:nvSpPr>
          <p:cNvPr id="41" name="Text 5">
            <a:extLst>
              <a:ext uri="{FF2B5EF4-FFF2-40B4-BE49-F238E27FC236}">
                <a16:creationId xmlns:a16="http://schemas.microsoft.com/office/drawing/2014/main" id="{88C26CEE-9088-137E-CB23-208462F18BCA}"/>
              </a:ext>
            </a:extLst>
          </p:cNvPr>
          <p:cNvSpPr/>
          <p:nvPr/>
        </p:nvSpPr>
        <p:spPr>
          <a:xfrm>
            <a:off x="457200" y="150876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Combined all confirmed positive improvements (Adam schedule, weighted edges, richer node features, graph-level summary features) and added target normalization to test whether scaling the regression target improves robustness.</a:t>
            </a:r>
            <a:endParaRPr lang="en-US" sz="1400" dirty="0"/>
          </a:p>
        </p:txBody>
      </p:sp>
      <p:sp>
        <p:nvSpPr>
          <p:cNvPr id="43" name="Text 6">
            <a:extLst>
              <a:ext uri="{FF2B5EF4-FFF2-40B4-BE49-F238E27FC236}">
                <a16:creationId xmlns:a16="http://schemas.microsoft.com/office/drawing/2014/main" id="{1CE0CA8D-A356-C6EA-3DB2-0D7D83D8B381}"/>
              </a:ext>
            </a:extLst>
          </p:cNvPr>
          <p:cNvSpPr/>
          <p:nvPr/>
        </p:nvSpPr>
        <p:spPr>
          <a:xfrm>
            <a:off x="457200" y="2167128"/>
            <a:ext cx="82296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Multi-Seed Results (Target Normalized)</a:t>
            </a:r>
            <a:endParaRPr lang="en-US" sz="1700" dirty="0"/>
          </a:p>
        </p:txBody>
      </p:sp>
      <p:sp>
        <p:nvSpPr>
          <p:cNvPr id="45" name="Shape 7">
            <a:extLst>
              <a:ext uri="{FF2B5EF4-FFF2-40B4-BE49-F238E27FC236}">
                <a16:creationId xmlns:a16="http://schemas.microsoft.com/office/drawing/2014/main" id="{0428DDCE-2092-E69A-4E98-E56D32E10670}"/>
              </a:ext>
            </a:extLst>
          </p:cNvPr>
          <p:cNvSpPr/>
          <p:nvPr/>
        </p:nvSpPr>
        <p:spPr>
          <a:xfrm>
            <a:off x="457200" y="2578608"/>
            <a:ext cx="1920240" cy="1143000"/>
          </a:xfrm>
          <a:prstGeom prst="roundRect">
            <a:avLst>
              <a:gd name="adj" fmla="val 6400"/>
            </a:avLst>
          </a:prstGeom>
          <a:solidFill>
            <a:srgbClr val="D4EDDA"/>
          </a:solidFill>
          <a:ln w="12700">
            <a:solidFill>
              <a:srgbClr val="A8D5B5"/>
            </a:solidFill>
            <a:prstDash val="solid"/>
          </a:ln>
        </p:spPr>
      </p:sp>
      <p:sp>
        <p:nvSpPr>
          <p:cNvPr id="47" name="Text 8">
            <a:extLst>
              <a:ext uri="{FF2B5EF4-FFF2-40B4-BE49-F238E27FC236}">
                <a16:creationId xmlns:a16="http://schemas.microsoft.com/office/drawing/2014/main" id="{4C41EB8A-D43D-A53A-7DF1-6DC9CBCFF892}"/>
              </a:ext>
            </a:extLst>
          </p:cNvPr>
          <p:cNvSpPr/>
          <p:nvPr/>
        </p:nvSpPr>
        <p:spPr>
          <a:xfrm>
            <a:off x="457200" y="2697480"/>
            <a:ext cx="19202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400" b="1" dirty="0">
                <a:solidFill>
                  <a:srgbClr val="1A6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0.9416</a:t>
            </a:r>
            <a:endParaRPr lang="en-US" sz="2400" dirty="0"/>
          </a:p>
        </p:txBody>
      </p:sp>
      <p:sp>
        <p:nvSpPr>
          <p:cNvPr id="49" name="Text 9">
            <a:extLst>
              <a:ext uri="{FF2B5EF4-FFF2-40B4-BE49-F238E27FC236}">
                <a16:creationId xmlns:a16="http://schemas.microsoft.com/office/drawing/2014/main" id="{8603E1D3-24F5-97A9-2782-86FE09DC9492}"/>
              </a:ext>
            </a:extLst>
          </p:cNvPr>
          <p:cNvSpPr/>
          <p:nvPr/>
        </p:nvSpPr>
        <p:spPr>
          <a:xfrm>
            <a:off x="457200" y="3200400"/>
            <a:ext cx="192024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Mean Val R²</a:t>
            </a:r>
            <a:endParaRPr lang="en-US" sz="1200" dirty="0"/>
          </a:p>
        </p:txBody>
      </p:sp>
      <p:sp>
        <p:nvSpPr>
          <p:cNvPr id="51" name="Shape 10">
            <a:extLst>
              <a:ext uri="{FF2B5EF4-FFF2-40B4-BE49-F238E27FC236}">
                <a16:creationId xmlns:a16="http://schemas.microsoft.com/office/drawing/2014/main" id="{E9C9E410-5038-DBF3-044C-BCF1DDCFFC9F}"/>
              </a:ext>
            </a:extLst>
          </p:cNvPr>
          <p:cNvSpPr/>
          <p:nvPr/>
        </p:nvSpPr>
        <p:spPr>
          <a:xfrm>
            <a:off x="2606040" y="2578608"/>
            <a:ext cx="1920240" cy="1143000"/>
          </a:xfrm>
          <a:prstGeom prst="roundRect">
            <a:avLst>
              <a:gd name="adj" fmla="val 6400"/>
            </a:avLst>
          </a:prstGeom>
          <a:solidFill>
            <a:srgbClr val="D4EDDA"/>
          </a:solidFill>
          <a:ln w="12700">
            <a:solidFill>
              <a:srgbClr val="A8D5B5"/>
            </a:solidFill>
            <a:prstDash val="solid"/>
          </a:ln>
        </p:spPr>
      </p:sp>
      <p:sp>
        <p:nvSpPr>
          <p:cNvPr id="53" name="Text 11">
            <a:extLst>
              <a:ext uri="{FF2B5EF4-FFF2-40B4-BE49-F238E27FC236}">
                <a16:creationId xmlns:a16="http://schemas.microsoft.com/office/drawing/2014/main" id="{B3B76534-4A2C-C889-1149-B916A3046F89}"/>
              </a:ext>
            </a:extLst>
          </p:cNvPr>
          <p:cNvSpPr/>
          <p:nvPr/>
        </p:nvSpPr>
        <p:spPr>
          <a:xfrm>
            <a:off x="2606040" y="2697480"/>
            <a:ext cx="19202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400" b="1" dirty="0">
                <a:solidFill>
                  <a:srgbClr val="1A6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0.9447</a:t>
            </a:r>
            <a:endParaRPr lang="en-US" sz="2400" dirty="0"/>
          </a:p>
        </p:txBody>
      </p:sp>
      <p:sp>
        <p:nvSpPr>
          <p:cNvPr id="55" name="Text 12">
            <a:extLst>
              <a:ext uri="{FF2B5EF4-FFF2-40B4-BE49-F238E27FC236}">
                <a16:creationId xmlns:a16="http://schemas.microsoft.com/office/drawing/2014/main" id="{4C7F3F68-35C1-14DC-D585-E2A1D36BFAA2}"/>
              </a:ext>
            </a:extLst>
          </p:cNvPr>
          <p:cNvSpPr/>
          <p:nvPr/>
        </p:nvSpPr>
        <p:spPr>
          <a:xfrm>
            <a:off x="2606040" y="3200400"/>
            <a:ext cx="192024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Mean Test R²</a:t>
            </a:r>
            <a:endParaRPr lang="en-US" sz="1200" dirty="0"/>
          </a:p>
        </p:txBody>
      </p:sp>
      <p:sp>
        <p:nvSpPr>
          <p:cNvPr id="57" name="Shape 13">
            <a:extLst>
              <a:ext uri="{FF2B5EF4-FFF2-40B4-BE49-F238E27FC236}">
                <a16:creationId xmlns:a16="http://schemas.microsoft.com/office/drawing/2014/main" id="{D7EBBF90-A9CE-B7B1-8E4E-2592A16958E8}"/>
              </a:ext>
            </a:extLst>
          </p:cNvPr>
          <p:cNvSpPr/>
          <p:nvPr/>
        </p:nvSpPr>
        <p:spPr>
          <a:xfrm>
            <a:off x="4754880" y="2578608"/>
            <a:ext cx="1920240" cy="1143000"/>
          </a:xfrm>
          <a:prstGeom prst="roundRect">
            <a:avLst>
              <a:gd name="adj" fmla="val 6400"/>
            </a:avLst>
          </a:prstGeom>
          <a:solidFill>
            <a:srgbClr val="D4EDDA"/>
          </a:solidFill>
          <a:ln w="12700">
            <a:solidFill>
              <a:srgbClr val="A8D5B5"/>
            </a:solidFill>
            <a:prstDash val="solid"/>
          </a:ln>
        </p:spPr>
      </p:sp>
      <p:sp>
        <p:nvSpPr>
          <p:cNvPr id="59" name="Text 14">
            <a:extLst>
              <a:ext uri="{FF2B5EF4-FFF2-40B4-BE49-F238E27FC236}">
                <a16:creationId xmlns:a16="http://schemas.microsoft.com/office/drawing/2014/main" id="{FAA9CBAC-A2E0-5468-AC04-48DB17ACC45B}"/>
              </a:ext>
            </a:extLst>
          </p:cNvPr>
          <p:cNvSpPr/>
          <p:nvPr/>
        </p:nvSpPr>
        <p:spPr>
          <a:xfrm>
            <a:off x="4754880" y="2697480"/>
            <a:ext cx="19202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400" b="1" dirty="0">
                <a:solidFill>
                  <a:srgbClr val="1A6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0.002908</a:t>
            </a:r>
            <a:endParaRPr lang="en-US" sz="2400" dirty="0"/>
          </a:p>
        </p:txBody>
      </p:sp>
      <p:sp>
        <p:nvSpPr>
          <p:cNvPr id="61" name="Text 15">
            <a:extLst>
              <a:ext uri="{FF2B5EF4-FFF2-40B4-BE49-F238E27FC236}">
                <a16:creationId xmlns:a16="http://schemas.microsoft.com/office/drawing/2014/main" id="{2149BAD3-87D7-06B0-5757-B1DE528FC60E}"/>
              </a:ext>
            </a:extLst>
          </p:cNvPr>
          <p:cNvSpPr/>
          <p:nvPr/>
        </p:nvSpPr>
        <p:spPr>
          <a:xfrm>
            <a:off x="4754880" y="3200400"/>
            <a:ext cx="192024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Mean Test RMSE</a:t>
            </a:r>
            <a:endParaRPr lang="en-US" sz="1200" dirty="0"/>
          </a:p>
        </p:txBody>
      </p:sp>
      <p:sp>
        <p:nvSpPr>
          <p:cNvPr id="63" name="Shape 16">
            <a:extLst>
              <a:ext uri="{FF2B5EF4-FFF2-40B4-BE49-F238E27FC236}">
                <a16:creationId xmlns:a16="http://schemas.microsoft.com/office/drawing/2014/main" id="{8B67254B-89EB-1A22-7D1A-53576A9A2464}"/>
              </a:ext>
            </a:extLst>
          </p:cNvPr>
          <p:cNvSpPr/>
          <p:nvPr/>
        </p:nvSpPr>
        <p:spPr>
          <a:xfrm>
            <a:off x="6903720" y="2578608"/>
            <a:ext cx="1920240" cy="1143000"/>
          </a:xfrm>
          <a:prstGeom prst="roundRect">
            <a:avLst>
              <a:gd name="adj" fmla="val 6400"/>
            </a:avLst>
          </a:prstGeom>
          <a:solidFill>
            <a:srgbClr val="D4EDDA"/>
          </a:solidFill>
          <a:ln w="12700">
            <a:solidFill>
              <a:srgbClr val="A8D5B5"/>
            </a:solidFill>
            <a:prstDash val="solid"/>
          </a:ln>
        </p:spPr>
      </p:sp>
      <p:sp>
        <p:nvSpPr>
          <p:cNvPr id="65" name="Text 17">
            <a:extLst>
              <a:ext uri="{FF2B5EF4-FFF2-40B4-BE49-F238E27FC236}">
                <a16:creationId xmlns:a16="http://schemas.microsoft.com/office/drawing/2014/main" id="{E99C0F7A-B3FE-7CD7-25B9-FEDDA1F75423}"/>
              </a:ext>
            </a:extLst>
          </p:cNvPr>
          <p:cNvSpPr/>
          <p:nvPr/>
        </p:nvSpPr>
        <p:spPr>
          <a:xfrm>
            <a:off x="6903720" y="2697480"/>
            <a:ext cx="19202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400" b="1" dirty="0">
                <a:solidFill>
                  <a:srgbClr val="1A6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0.4459</a:t>
            </a:r>
            <a:endParaRPr lang="en-US" sz="2400" dirty="0"/>
          </a:p>
        </p:txBody>
      </p:sp>
      <p:sp>
        <p:nvSpPr>
          <p:cNvPr id="67" name="Text 18">
            <a:extLst>
              <a:ext uri="{FF2B5EF4-FFF2-40B4-BE49-F238E27FC236}">
                <a16:creationId xmlns:a16="http://schemas.microsoft.com/office/drawing/2014/main" id="{720F88FF-7879-2982-BA59-FB61ED8FCDE9}"/>
              </a:ext>
            </a:extLst>
          </p:cNvPr>
          <p:cNvSpPr/>
          <p:nvPr/>
        </p:nvSpPr>
        <p:spPr>
          <a:xfrm>
            <a:off x="6903720" y="3200400"/>
            <a:ext cx="192024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Mean Pred-Set R²</a:t>
            </a:r>
            <a:endParaRPr lang="en-US" sz="1200" dirty="0"/>
          </a:p>
        </p:txBody>
      </p:sp>
      <p:sp>
        <p:nvSpPr>
          <p:cNvPr id="69" name="Text 19">
            <a:extLst>
              <a:ext uri="{FF2B5EF4-FFF2-40B4-BE49-F238E27FC236}">
                <a16:creationId xmlns:a16="http://schemas.microsoft.com/office/drawing/2014/main" id="{2A1C0839-E7BF-88DE-1854-C1E5F4A0E475}"/>
              </a:ext>
            </a:extLst>
          </p:cNvPr>
          <p:cNvSpPr/>
          <p:nvPr/>
        </p:nvSpPr>
        <p:spPr>
          <a:xfrm>
            <a:off x="457200" y="3813048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 R² Range Across Seeds: 0.9384 to 0.9549</a:t>
            </a:r>
            <a:endParaRPr lang="en-US" sz="1400" dirty="0"/>
          </a:p>
        </p:txBody>
      </p:sp>
      <p:sp>
        <p:nvSpPr>
          <p:cNvPr id="71" name="Text 20">
            <a:extLst>
              <a:ext uri="{FF2B5EF4-FFF2-40B4-BE49-F238E27FC236}">
                <a16:creationId xmlns:a16="http://schemas.microsoft.com/office/drawing/2014/main" id="{846B8677-3632-C797-3FEB-34AFF100B377}"/>
              </a:ext>
            </a:extLst>
          </p:cNvPr>
          <p:cNvSpPr/>
          <p:nvPr/>
        </p:nvSpPr>
        <p:spPr>
          <a:xfrm>
            <a:off x="457200" y="4178808"/>
            <a:ext cx="822960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Best mean held-out test accuracy to date (0.9411 → 0.9447)</a:t>
            </a:r>
            <a:endParaRPr lang="en-US" sz="1300" dirty="0"/>
          </a:p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Prediction-set R² improved vs. graph-feature run (0.4035 → 0.4459), but still below richer-node-feature run (0.4964)</a:t>
            </a:r>
            <a:endParaRPr lang="en-US" sz="1300" dirty="0"/>
          </a:p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Tradeoff exists: best test accuracy = richer graph + target normalization; best pred-set generalization = richer node features only</a:t>
            </a:r>
            <a:endParaRPr lang="en-US" sz="1300" dirty="0"/>
          </a:p>
        </p:txBody>
      </p:sp>
    </p:spTree>
    <p:extLst>
      <p:ext uri="{BB962C8B-B14F-4D97-AF65-F5344CB8AC3E}">
        <p14:creationId xmlns:p14="http://schemas.microsoft.com/office/powerpoint/2010/main" val="1757406799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007C8D7-9788-A34A-84DE-BBA52919160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2DB87720-B9C4-197F-621B-FDE64F8F1051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fld id="{ADF2A186-A842-EB41-93F8-9926F66DBD04}" type="slidenum">
              <a:rPr lang="en-US" smtClean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pPr>
                <a:defRPr/>
              </a:pPr>
              <a:t>10</a:t>
            </a:fld>
            <a:endParaRPr lang="en-US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724147F8-F511-956B-751A-C321FAA27385}"/>
              </a:ext>
            </a:extLst>
          </p:cNvPr>
          <p:cNvSpPr txBox="1"/>
          <p:nvPr/>
        </p:nvSpPr>
        <p:spPr>
          <a:xfrm>
            <a:off x="2209800" y="58271"/>
            <a:ext cx="4621137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200" b="1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Phase By Phase Summary </a:t>
            </a:r>
          </a:p>
        </p:txBody>
      </p:sp>
      <p:graphicFrame>
        <p:nvGraphicFramePr>
          <p:cNvPr id="4" name="Table 0">
            <a:extLst>
              <a:ext uri="{FF2B5EF4-FFF2-40B4-BE49-F238E27FC236}">
                <a16:creationId xmlns:a16="http://schemas.microsoft.com/office/drawing/2014/main" id="{94835752-A668-0A56-5F84-DEF90E57E67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118599093"/>
              </p:ext>
            </p:extLst>
          </p:nvPr>
        </p:nvGraphicFramePr>
        <p:xfrm>
          <a:off x="365760" y="1203960"/>
          <a:ext cx="8503920" cy="4206240"/>
        </p:xfrm>
        <a:graphic>
          <a:graphicData uri="http://schemas.openxmlformats.org/drawingml/2006/table">
            <a:tbl>
              <a:tblPr/>
              <a:tblGrid>
                <a:gridCol w="9144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93192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8288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8288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70104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Phase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C8D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D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D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D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F5496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Change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C8D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D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D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D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F5496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Mean Test R²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C8D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D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D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D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F5496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Mean Pred-Set R²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C8D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D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D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D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F549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70104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Baseline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C8D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D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D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D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2-layer GCN, x/y features, Adam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C8D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D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D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D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0.9148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C8D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D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D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D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0.3637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C8D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D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D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D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70104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C8D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D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D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D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Weighted edges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C8D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D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D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D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0.9113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C8D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D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D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D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0.4336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C8D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D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D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D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70104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4-5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C8D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D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D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D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Richer node features (multi-seed)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C8D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D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D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D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0.9380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C8D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D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D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D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0.4964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C8D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D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D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D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70104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C8D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D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D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D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 Graph-level summary features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C8D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D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D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D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0.9411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C8D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D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D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D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0.4035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C8D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D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D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D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70104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7-8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C8D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D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D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D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 Target normalization (best test)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C8D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D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D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D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0.9447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C8D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D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D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D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0.4459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C8D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D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D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D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770432766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3881EDB-C391-6724-CE42-6FBB63E00A1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619C222C-951D-11F7-DCCE-9096369B3C5D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fld id="{ADF2A186-A842-EB41-93F8-9926F66DBD04}" type="slidenum">
              <a:rPr lang="en-US" smtClean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pPr>
                <a:defRPr/>
              </a:pPr>
              <a:t>11</a:t>
            </a:fld>
            <a:endParaRPr lang="en-US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D065E872-39A9-F39B-0E9D-C7E4950F042F}"/>
              </a:ext>
            </a:extLst>
          </p:cNvPr>
          <p:cNvSpPr txBox="1"/>
          <p:nvPr/>
        </p:nvSpPr>
        <p:spPr>
          <a:xfrm>
            <a:off x="2209800" y="58271"/>
            <a:ext cx="3575659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200" b="1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Current Assessment</a:t>
            </a:r>
          </a:p>
        </p:txBody>
      </p:sp>
      <p:sp>
        <p:nvSpPr>
          <p:cNvPr id="4" name="Shape 4">
            <a:extLst>
              <a:ext uri="{FF2B5EF4-FFF2-40B4-BE49-F238E27FC236}">
                <a16:creationId xmlns:a16="http://schemas.microsoft.com/office/drawing/2014/main" id="{953E282E-B1B1-070E-506C-2B4FC0F46CC6}"/>
              </a:ext>
            </a:extLst>
          </p:cNvPr>
          <p:cNvSpPr/>
          <p:nvPr/>
        </p:nvSpPr>
        <p:spPr>
          <a:xfrm>
            <a:off x="457200" y="1255776"/>
            <a:ext cx="347472" cy="347472"/>
          </a:xfrm>
          <a:prstGeom prst="ellipse">
            <a:avLst/>
          </a:prstGeom>
          <a:solidFill>
            <a:srgbClr val="2F5496"/>
          </a:solidFill>
          <a:ln w="12700">
            <a:solidFill>
              <a:srgbClr val="2F5496"/>
            </a:solidFill>
            <a:prstDash val="solid"/>
          </a:ln>
        </p:spPr>
      </p:sp>
      <p:sp>
        <p:nvSpPr>
          <p:cNvPr id="7" name="Text 5">
            <a:extLst>
              <a:ext uri="{FF2B5EF4-FFF2-40B4-BE49-F238E27FC236}">
                <a16:creationId xmlns:a16="http://schemas.microsoft.com/office/drawing/2014/main" id="{24A02A3D-9123-8665-6786-60758D6A76D1}"/>
              </a:ext>
            </a:extLst>
          </p:cNvPr>
          <p:cNvSpPr/>
          <p:nvPr/>
        </p:nvSpPr>
        <p:spPr>
          <a:xfrm>
            <a:off x="457200" y="1255776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200" dirty="0"/>
          </a:p>
        </p:txBody>
      </p:sp>
      <p:sp>
        <p:nvSpPr>
          <p:cNvPr id="9" name="Text 6">
            <a:extLst>
              <a:ext uri="{FF2B5EF4-FFF2-40B4-BE49-F238E27FC236}">
                <a16:creationId xmlns:a16="http://schemas.microsoft.com/office/drawing/2014/main" id="{0DFC98D0-3E9E-CEC5-BE23-9CEAB1C57D78}"/>
              </a:ext>
            </a:extLst>
          </p:cNvPr>
          <p:cNvSpPr/>
          <p:nvPr/>
        </p:nvSpPr>
        <p:spPr>
          <a:xfrm>
            <a:off x="914400" y="1219200"/>
            <a:ext cx="795528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Plain Adam with the two-phase schedule is the strongest training setup.</a:t>
            </a:r>
            <a:endParaRPr lang="en-US" sz="1300" dirty="0"/>
          </a:p>
        </p:txBody>
      </p:sp>
      <p:sp>
        <p:nvSpPr>
          <p:cNvPr id="11" name="Shape 7">
            <a:extLst>
              <a:ext uri="{FF2B5EF4-FFF2-40B4-BE49-F238E27FC236}">
                <a16:creationId xmlns:a16="http://schemas.microsoft.com/office/drawing/2014/main" id="{D01D2ACD-2CD0-877C-2543-05C2D4AEE9E8}"/>
              </a:ext>
            </a:extLst>
          </p:cNvPr>
          <p:cNvSpPr/>
          <p:nvPr/>
        </p:nvSpPr>
        <p:spPr>
          <a:xfrm>
            <a:off x="457200" y="1850136"/>
            <a:ext cx="347472" cy="347472"/>
          </a:xfrm>
          <a:prstGeom prst="ellipse">
            <a:avLst/>
          </a:prstGeom>
          <a:solidFill>
            <a:srgbClr val="2F5496"/>
          </a:solidFill>
          <a:ln w="12700">
            <a:solidFill>
              <a:srgbClr val="2F5496"/>
            </a:solidFill>
            <a:prstDash val="solid"/>
          </a:ln>
        </p:spPr>
      </p:sp>
      <p:sp>
        <p:nvSpPr>
          <p:cNvPr id="13" name="Text 8">
            <a:extLst>
              <a:ext uri="{FF2B5EF4-FFF2-40B4-BE49-F238E27FC236}">
                <a16:creationId xmlns:a16="http://schemas.microsoft.com/office/drawing/2014/main" id="{464B1E6E-3097-05EA-13C2-FD0DA5A9BEBC}"/>
              </a:ext>
            </a:extLst>
          </p:cNvPr>
          <p:cNvSpPr/>
          <p:nvPr/>
        </p:nvSpPr>
        <p:spPr>
          <a:xfrm>
            <a:off x="457200" y="1850136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200" dirty="0"/>
          </a:p>
        </p:txBody>
      </p:sp>
      <p:sp>
        <p:nvSpPr>
          <p:cNvPr id="15" name="Text 9">
            <a:extLst>
              <a:ext uri="{FF2B5EF4-FFF2-40B4-BE49-F238E27FC236}">
                <a16:creationId xmlns:a16="http://schemas.microsoft.com/office/drawing/2014/main" id="{E31453BA-AD44-8397-6122-617764D1B528}"/>
              </a:ext>
            </a:extLst>
          </p:cNvPr>
          <p:cNvSpPr/>
          <p:nvPr/>
        </p:nvSpPr>
        <p:spPr>
          <a:xfrm>
            <a:off x="914400" y="1813560"/>
            <a:ext cx="795528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AdamW is consistently worse than Adam; SGD variants are not competitive.</a:t>
            </a:r>
            <a:endParaRPr lang="en-US" sz="1300" dirty="0"/>
          </a:p>
        </p:txBody>
      </p:sp>
      <p:sp>
        <p:nvSpPr>
          <p:cNvPr id="17" name="Shape 10">
            <a:extLst>
              <a:ext uri="{FF2B5EF4-FFF2-40B4-BE49-F238E27FC236}">
                <a16:creationId xmlns:a16="http://schemas.microsoft.com/office/drawing/2014/main" id="{36B867B3-25BE-A0BB-C8EA-2013E41B4B6A}"/>
              </a:ext>
            </a:extLst>
          </p:cNvPr>
          <p:cNvSpPr/>
          <p:nvPr/>
        </p:nvSpPr>
        <p:spPr>
          <a:xfrm>
            <a:off x="457200" y="2444496"/>
            <a:ext cx="347472" cy="347472"/>
          </a:xfrm>
          <a:prstGeom prst="ellipse">
            <a:avLst/>
          </a:prstGeom>
          <a:solidFill>
            <a:srgbClr val="2F5496"/>
          </a:solidFill>
          <a:ln w="12700">
            <a:solidFill>
              <a:srgbClr val="2F5496"/>
            </a:solidFill>
            <a:prstDash val="solid"/>
          </a:ln>
        </p:spPr>
      </p:sp>
      <p:sp>
        <p:nvSpPr>
          <p:cNvPr id="19" name="Text 11">
            <a:extLst>
              <a:ext uri="{FF2B5EF4-FFF2-40B4-BE49-F238E27FC236}">
                <a16:creationId xmlns:a16="http://schemas.microsoft.com/office/drawing/2014/main" id="{F4C6ED19-9667-38B2-F24D-1100310B6098}"/>
              </a:ext>
            </a:extLst>
          </p:cNvPr>
          <p:cNvSpPr/>
          <p:nvPr/>
        </p:nvSpPr>
        <p:spPr>
          <a:xfrm>
            <a:off x="457200" y="2444496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200" dirty="0"/>
          </a:p>
        </p:txBody>
      </p:sp>
      <p:sp>
        <p:nvSpPr>
          <p:cNvPr id="21" name="Text 12">
            <a:extLst>
              <a:ext uri="{FF2B5EF4-FFF2-40B4-BE49-F238E27FC236}">
                <a16:creationId xmlns:a16="http://schemas.microsoft.com/office/drawing/2014/main" id="{5D77B616-EAF9-4E5A-C5BE-2879B30CC35D}"/>
              </a:ext>
            </a:extLst>
          </p:cNvPr>
          <p:cNvSpPr/>
          <p:nvPr/>
        </p:nvSpPr>
        <p:spPr>
          <a:xfrm>
            <a:off x="914400" y="2407920"/>
            <a:ext cx="795528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Weighted edges are worth keeping as they preserve real graph structure.</a:t>
            </a:r>
            <a:endParaRPr lang="en-US" sz="1300" dirty="0"/>
          </a:p>
        </p:txBody>
      </p:sp>
      <p:sp>
        <p:nvSpPr>
          <p:cNvPr id="23" name="Shape 13">
            <a:extLst>
              <a:ext uri="{FF2B5EF4-FFF2-40B4-BE49-F238E27FC236}">
                <a16:creationId xmlns:a16="http://schemas.microsoft.com/office/drawing/2014/main" id="{07212C48-7D17-6F96-76DD-725B4FA07DF4}"/>
              </a:ext>
            </a:extLst>
          </p:cNvPr>
          <p:cNvSpPr/>
          <p:nvPr/>
        </p:nvSpPr>
        <p:spPr>
          <a:xfrm>
            <a:off x="457200" y="3038856"/>
            <a:ext cx="347472" cy="347472"/>
          </a:xfrm>
          <a:prstGeom prst="ellipse">
            <a:avLst/>
          </a:prstGeom>
          <a:solidFill>
            <a:srgbClr val="2F5496"/>
          </a:solidFill>
          <a:ln w="12700">
            <a:solidFill>
              <a:srgbClr val="2F5496"/>
            </a:solidFill>
            <a:prstDash val="solid"/>
          </a:ln>
        </p:spPr>
      </p:sp>
      <p:sp>
        <p:nvSpPr>
          <p:cNvPr id="25" name="Text 14">
            <a:extLst>
              <a:ext uri="{FF2B5EF4-FFF2-40B4-BE49-F238E27FC236}">
                <a16:creationId xmlns:a16="http://schemas.microsoft.com/office/drawing/2014/main" id="{A8B6F1BD-DBE2-6E5F-C2AF-753AA1B2A926}"/>
              </a:ext>
            </a:extLst>
          </p:cNvPr>
          <p:cNvSpPr/>
          <p:nvPr/>
        </p:nvSpPr>
        <p:spPr>
          <a:xfrm>
            <a:off x="457200" y="3038856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200" dirty="0"/>
          </a:p>
        </p:txBody>
      </p:sp>
      <p:sp>
        <p:nvSpPr>
          <p:cNvPr id="27" name="Text 15">
            <a:extLst>
              <a:ext uri="{FF2B5EF4-FFF2-40B4-BE49-F238E27FC236}">
                <a16:creationId xmlns:a16="http://schemas.microsoft.com/office/drawing/2014/main" id="{064A809D-2821-58A8-394C-94EF48A0C3DD}"/>
              </a:ext>
            </a:extLst>
          </p:cNvPr>
          <p:cNvSpPr/>
          <p:nvPr/>
        </p:nvSpPr>
        <p:spPr>
          <a:xfrm>
            <a:off x="914400" y="3002280"/>
            <a:ext cx="795528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Richer node features: largest single improvement; best prediction-set baseline (mean R² 0.4964).</a:t>
            </a:r>
            <a:endParaRPr lang="en-US" sz="1300" dirty="0"/>
          </a:p>
        </p:txBody>
      </p:sp>
      <p:sp>
        <p:nvSpPr>
          <p:cNvPr id="29" name="Shape 16">
            <a:extLst>
              <a:ext uri="{FF2B5EF4-FFF2-40B4-BE49-F238E27FC236}">
                <a16:creationId xmlns:a16="http://schemas.microsoft.com/office/drawing/2014/main" id="{DDC32E12-3756-E738-133E-AEFBF0B8F16B}"/>
              </a:ext>
            </a:extLst>
          </p:cNvPr>
          <p:cNvSpPr/>
          <p:nvPr/>
        </p:nvSpPr>
        <p:spPr>
          <a:xfrm>
            <a:off x="457200" y="3633216"/>
            <a:ext cx="347472" cy="347472"/>
          </a:xfrm>
          <a:prstGeom prst="ellipse">
            <a:avLst/>
          </a:prstGeom>
          <a:solidFill>
            <a:srgbClr val="2F5496"/>
          </a:solidFill>
          <a:ln w="12700">
            <a:solidFill>
              <a:srgbClr val="2F5496"/>
            </a:solidFill>
            <a:prstDash val="solid"/>
          </a:ln>
        </p:spPr>
      </p:sp>
      <p:sp>
        <p:nvSpPr>
          <p:cNvPr id="31" name="Text 17">
            <a:extLst>
              <a:ext uri="{FF2B5EF4-FFF2-40B4-BE49-F238E27FC236}">
                <a16:creationId xmlns:a16="http://schemas.microsoft.com/office/drawing/2014/main" id="{EBDEF248-BC98-0EE5-37E3-A08CF02A2C81}"/>
              </a:ext>
            </a:extLst>
          </p:cNvPr>
          <p:cNvSpPr/>
          <p:nvPr/>
        </p:nvSpPr>
        <p:spPr>
          <a:xfrm>
            <a:off x="457200" y="3633216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200" dirty="0"/>
          </a:p>
        </p:txBody>
      </p:sp>
      <p:sp>
        <p:nvSpPr>
          <p:cNvPr id="33" name="Text 18">
            <a:extLst>
              <a:ext uri="{FF2B5EF4-FFF2-40B4-BE49-F238E27FC236}">
                <a16:creationId xmlns:a16="http://schemas.microsoft.com/office/drawing/2014/main" id="{0CBCB392-8266-52BF-C8B6-1A2DAFCA7837}"/>
              </a:ext>
            </a:extLst>
          </p:cNvPr>
          <p:cNvSpPr/>
          <p:nvPr/>
        </p:nvSpPr>
        <p:spPr>
          <a:xfrm>
            <a:off x="914400" y="3596640"/>
            <a:ext cx="795528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Graph-level features + target normalization: best mean held-out test R² (0.9447) and RMSE (0.002908).</a:t>
            </a:r>
            <a:endParaRPr lang="en-US" sz="1300" dirty="0"/>
          </a:p>
        </p:txBody>
      </p:sp>
      <p:sp>
        <p:nvSpPr>
          <p:cNvPr id="35" name="Shape 19">
            <a:extLst>
              <a:ext uri="{FF2B5EF4-FFF2-40B4-BE49-F238E27FC236}">
                <a16:creationId xmlns:a16="http://schemas.microsoft.com/office/drawing/2014/main" id="{0489D256-3CC4-9F52-21EB-A477DD29E956}"/>
              </a:ext>
            </a:extLst>
          </p:cNvPr>
          <p:cNvSpPr/>
          <p:nvPr/>
        </p:nvSpPr>
        <p:spPr>
          <a:xfrm>
            <a:off x="457200" y="4227576"/>
            <a:ext cx="347472" cy="347472"/>
          </a:xfrm>
          <a:prstGeom prst="ellipse">
            <a:avLst/>
          </a:prstGeom>
          <a:solidFill>
            <a:srgbClr val="2F5496"/>
          </a:solidFill>
          <a:ln w="12700">
            <a:solidFill>
              <a:srgbClr val="2F5496"/>
            </a:solidFill>
            <a:prstDash val="solid"/>
          </a:ln>
        </p:spPr>
      </p:sp>
      <p:sp>
        <p:nvSpPr>
          <p:cNvPr id="37" name="Text 20">
            <a:extLst>
              <a:ext uri="{FF2B5EF4-FFF2-40B4-BE49-F238E27FC236}">
                <a16:creationId xmlns:a16="http://schemas.microsoft.com/office/drawing/2014/main" id="{E9313EF1-63AD-71E0-E55F-27EC103C1760}"/>
              </a:ext>
            </a:extLst>
          </p:cNvPr>
          <p:cNvSpPr/>
          <p:nvPr/>
        </p:nvSpPr>
        <p:spPr>
          <a:xfrm>
            <a:off x="457200" y="4227576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200" dirty="0"/>
          </a:p>
        </p:txBody>
      </p:sp>
      <p:sp>
        <p:nvSpPr>
          <p:cNvPr id="39" name="Text 21">
            <a:extLst>
              <a:ext uri="{FF2B5EF4-FFF2-40B4-BE49-F238E27FC236}">
                <a16:creationId xmlns:a16="http://schemas.microsoft.com/office/drawing/2014/main" id="{D53DDC0F-4741-A5B5-75D1-57E21532EA89}"/>
              </a:ext>
            </a:extLst>
          </p:cNvPr>
          <p:cNvSpPr/>
          <p:nvPr/>
        </p:nvSpPr>
        <p:spPr>
          <a:xfrm>
            <a:off x="914400" y="4191000"/>
            <a:ext cx="795528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measurable tradeoff now exists between in-distribution accuracy and prediction-set generalization.</a:t>
            </a:r>
            <a:endParaRPr lang="en-US" sz="1300" dirty="0"/>
          </a:p>
        </p:txBody>
      </p:sp>
      <p:sp>
        <p:nvSpPr>
          <p:cNvPr id="41" name="Shape 22">
            <a:extLst>
              <a:ext uri="{FF2B5EF4-FFF2-40B4-BE49-F238E27FC236}">
                <a16:creationId xmlns:a16="http://schemas.microsoft.com/office/drawing/2014/main" id="{6DF09D38-D45E-16C0-4B19-54D90BDE9503}"/>
              </a:ext>
            </a:extLst>
          </p:cNvPr>
          <p:cNvSpPr/>
          <p:nvPr/>
        </p:nvSpPr>
        <p:spPr>
          <a:xfrm>
            <a:off x="457200" y="4821936"/>
            <a:ext cx="347472" cy="347472"/>
          </a:xfrm>
          <a:prstGeom prst="ellipse">
            <a:avLst/>
          </a:prstGeom>
          <a:solidFill>
            <a:srgbClr val="2F5496"/>
          </a:solidFill>
          <a:ln w="12700">
            <a:solidFill>
              <a:srgbClr val="2F5496"/>
            </a:solidFill>
            <a:prstDash val="solid"/>
          </a:ln>
        </p:spPr>
      </p:sp>
      <p:sp>
        <p:nvSpPr>
          <p:cNvPr id="43" name="Text 23">
            <a:extLst>
              <a:ext uri="{FF2B5EF4-FFF2-40B4-BE49-F238E27FC236}">
                <a16:creationId xmlns:a16="http://schemas.microsoft.com/office/drawing/2014/main" id="{87991961-1314-5B5C-43C8-491A7C789F62}"/>
              </a:ext>
            </a:extLst>
          </p:cNvPr>
          <p:cNvSpPr/>
          <p:nvPr/>
        </p:nvSpPr>
        <p:spPr>
          <a:xfrm>
            <a:off x="457200" y="4821936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1200" dirty="0"/>
          </a:p>
        </p:txBody>
      </p:sp>
      <p:sp>
        <p:nvSpPr>
          <p:cNvPr id="45" name="Text 24">
            <a:extLst>
              <a:ext uri="{FF2B5EF4-FFF2-40B4-BE49-F238E27FC236}">
                <a16:creationId xmlns:a16="http://schemas.microsoft.com/office/drawing/2014/main" id="{A6DDCD71-1EBA-B872-56DF-0B6D1ADC7AFD}"/>
              </a:ext>
            </a:extLst>
          </p:cNvPr>
          <p:cNvSpPr/>
          <p:nvPr/>
        </p:nvSpPr>
        <p:spPr>
          <a:xfrm>
            <a:off x="914400" y="4785360"/>
            <a:ext cx="795528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Further gains are more likely from architecture or objective changes than from additional optimizer sweeps.</a:t>
            </a:r>
            <a:endParaRPr lang="en-US" sz="1300" dirty="0"/>
          </a:p>
        </p:txBody>
      </p:sp>
    </p:spTree>
    <p:extLst>
      <p:ext uri="{BB962C8B-B14F-4D97-AF65-F5344CB8AC3E}">
        <p14:creationId xmlns:p14="http://schemas.microsoft.com/office/powerpoint/2010/main" val="3942353100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3D6260D-A772-FEA2-8397-C785BB71F3A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0EF379A9-32AE-3933-4095-3D072AD8917C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fld id="{ADF2A186-A842-EB41-93F8-9926F66DBD04}" type="slidenum">
              <a:rPr lang="en-US" smtClean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pPr>
                <a:defRPr/>
              </a:pPr>
              <a:t>12</a:t>
            </a:fld>
            <a:endParaRPr lang="en-US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D0F39E32-6720-2DAA-9EC5-265F0E56AC1E}"/>
              </a:ext>
            </a:extLst>
          </p:cNvPr>
          <p:cNvSpPr txBox="1"/>
          <p:nvPr/>
        </p:nvSpPr>
        <p:spPr>
          <a:xfrm>
            <a:off x="2209800" y="58271"/>
            <a:ext cx="2000291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200" b="1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Next Steps</a:t>
            </a:r>
          </a:p>
        </p:txBody>
      </p:sp>
      <p:sp>
        <p:nvSpPr>
          <p:cNvPr id="4" name="Text 4">
            <a:extLst>
              <a:ext uri="{FF2B5EF4-FFF2-40B4-BE49-F238E27FC236}">
                <a16:creationId xmlns:a16="http://schemas.microsoft.com/office/drawing/2014/main" id="{82CD028E-B004-0557-50AC-E523FC233E52}"/>
              </a:ext>
            </a:extLst>
          </p:cNvPr>
          <p:cNvSpPr/>
          <p:nvPr/>
        </p:nvSpPr>
        <p:spPr>
          <a:xfrm>
            <a:off x="457200" y="1066800"/>
            <a:ext cx="41148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to Keep</a:t>
            </a:r>
            <a:endParaRPr lang="en-US" sz="1700" dirty="0"/>
          </a:p>
        </p:txBody>
      </p:sp>
      <p:sp>
        <p:nvSpPr>
          <p:cNvPr id="7" name="Text 5">
            <a:extLst>
              <a:ext uri="{FF2B5EF4-FFF2-40B4-BE49-F238E27FC236}">
                <a16:creationId xmlns:a16="http://schemas.microsoft.com/office/drawing/2014/main" id="{C4D5F9C9-0BE4-BDCB-FC6B-787D6B448F4A}"/>
              </a:ext>
            </a:extLst>
          </p:cNvPr>
          <p:cNvSpPr/>
          <p:nvPr/>
        </p:nvSpPr>
        <p:spPr>
          <a:xfrm>
            <a:off x="457200" y="1459992"/>
            <a:ext cx="4114800" cy="2560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Weighted edges enabled</a:t>
            </a:r>
            <a:endParaRPr lang="en-US" sz="1300" dirty="0"/>
          </a:p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Richer node features as the default representation baseline</a:t>
            </a:r>
            <a:endParaRPr lang="en-US" sz="1300" dirty="0"/>
          </a:p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Graph-level features + target normalization as the strongest test-accuracy config</a:t>
            </a:r>
            <a:endParaRPr lang="en-US" sz="1300" dirty="0"/>
          </a:p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Adam with two-phase schedule as the primary optimizer</a:t>
            </a:r>
            <a:endParaRPr lang="en-US" sz="1300" dirty="0"/>
          </a:p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Multi-seed repeats for all serious promotion decisions</a:t>
            </a:r>
            <a:endParaRPr lang="en-US" sz="1300" dirty="0"/>
          </a:p>
        </p:txBody>
      </p:sp>
      <p:sp>
        <p:nvSpPr>
          <p:cNvPr id="9" name="Text 6">
            <a:extLst>
              <a:ext uri="{FF2B5EF4-FFF2-40B4-BE49-F238E27FC236}">
                <a16:creationId xmlns:a16="http://schemas.microsoft.com/office/drawing/2014/main" id="{EF043A7D-27CD-B4FF-9927-F07CF23DF1FA}"/>
              </a:ext>
            </a:extLst>
          </p:cNvPr>
          <p:cNvSpPr/>
          <p:nvPr/>
        </p:nvSpPr>
        <p:spPr>
          <a:xfrm>
            <a:off x="457200" y="4056888"/>
            <a:ext cx="41148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to Abandon</a:t>
            </a:r>
            <a:endParaRPr lang="en-US" sz="1700" dirty="0"/>
          </a:p>
        </p:txBody>
      </p:sp>
      <p:sp>
        <p:nvSpPr>
          <p:cNvPr id="11" name="Text 7">
            <a:extLst>
              <a:ext uri="{FF2B5EF4-FFF2-40B4-BE49-F238E27FC236}">
                <a16:creationId xmlns:a16="http://schemas.microsoft.com/office/drawing/2014/main" id="{FA4B437E-510A-20EF-627A-0E8C43472EFC}"/>
              </a:ext>
            </a:extLst>
          </p:cNvPr>
          <p:cNvSpPr/>
          <p:nvPr/>
        </p:nvSpPr>
        <p:spPr>
          <a:xfrm>
            <a:off x="457200" y="4422648"/>
            <a:ext cx="41148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Broad SGD + momentum / Nesterov sweeps</a:t>
            </a:r>
            <a:endParaRPr lang="en-US" sz="1300" dirty="0"/>
          </a:p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AdamW as a primary focus (keep only as low-priority sanity check)</a:t>
            </a:r>
            <a:endParaRPr lang="en-US" sz="1300" dirty="0"/>
          </a:p>
        </p:txBody>
      </p:sp>
      <p:sp>
        <p:nvSpPr>
          <p:cNvPr id="13" name="Text 8">
            <a:extLst>
              <a:ext uri="{FF2B5EF4-FFF2-40B4-BE49-F238E27FC236}">
                <a16:creationId xmlns:a16="http://schemas.microsoft.com/office/drawing/2014/main" id="{FE4A9F4F-D665-BBDB-C7DC-F614D4F0CC79}"/>
              </a:ext>
            </a:extLst>
          </p:cNvPr>
          <p:cNvSpPr/>
          <p:nvPr/>
        </p:nvSpPr>
        <p:spPr>
          <a:xfrm>
            <a:off x="4846320" y="1066800"/>
            <a:ext cx="40233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Architecture Directions to Explore</a:t>
            </a:r>
            <a:endParaRPr lang="en-US" sz="1700" dirty="0"/>
          </a:p>
        </p:txBody>
      </p:sp>
      <p:sp>
        <p:nvSpPr>
          <p:cNvPr id="15" name="Shape 9">
            <a:extLst>
              <a:ext uri="{FF2B5EF4-FFF2-40B4-BE49-F238E27FC236}">
                <a16:creationId xmlns:a16="http://schemas.microsoft.com/office/drawing/2014/main" id="{3808A5B1-166C-4B84-2C32-A3CBEBB101D1}"/>
              </a:ext>
            </a:extLst>
          </p:cNvPr>
          <p:cNvSpPr/>
          <p:nvPr/>
        </p:nvSpPr>
        <p:spPr>
          <a:xfrm>
            <a:off x="4846320" y="1459992"/>
            <a:ext cx="3931920" cy="960120"/>
          </a:xfrm>
          <a:prstGeom prst="roundRect">
            <a:avLst>
              <a:gd name="adj" fmla="val 7619"/>
            </a:avLst>
          </a:prstGeom>
          <a:solidFill>
            <a:srgbClr val="EEF2F8"/>
          </a:solidFill>
          <a:ln w="12700">
            <a:solidFill>
              <a:srgbClr val="C8D6EA"/>
            </a:solidFill>
            <a:prstDash val="solid"/>
          </a:ln>
        </p:spPr>
      </p:sp>
      <p:sp>
        <p:nvSpPr>
          <p:cNvPr id="17" name="Text 10">
            <a:extLst>
              <a:ext uri="{FF2B5EF4-FFF2-40B4-BE49-F238E27FC236}">
                <a16:creationId xmlns:a16="http://schemas.microsoft.com/office/drawing/2014/main" id="{4BE9C508-BABF-152A-D662-7274F65C5B59}"/>
              </a:ext>
            </a:extLst>
          </p:cNvPr>
          <p:cNvSpPr/>
          <p:nvPr/>
        </p:nvSpPr>
        <p:spPr>
          <a:xfrm>
            <a:off x="4983480" y="1533144"/>
            <a:ext cx="3657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2F54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GIN</a:t>
            </a:r>
            <a:endParaRPr lang="en-US" sz="1500" dirty="0"/>
          </a:p>
        </p:txBody>
      </p:sp>
      <p:sp>
        <p:nvSpPr>
          <p:cNvPr id="19" name="Text 11">
            <a:extLst>
              <a:ext uri="{FF2B5EF4-FFF2-40B4-BE49-F238E27FC236}">
                <a16:creationId xmlns:a16="http://schemas.microsoft.com/office/drawing/2014/main" id="{4FCC5229-A23B-2CBD-2BD4-DE7BBD280907}"/>
              </a:ext>
            </a:extLst>
          </p:cNvPr>
          <p:cNvSpPr/>
          <p:nvPr/>
        </p:nvSpPr>
        <p:spPr>
          <a:xfrm>
            <a:off x="4983480" y="1871472"/>
            <a:ext cx="3657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Graph Isomorphism Network, more expressive message passing</a:t>
            </a:r>
            <a:endParaRPr lang="en-US" sz="1200" dirty="0"/>
          </a:p>
        </p:txBody>
      </p:sp>
      <p:sp>
        <p:nvSpPr>
          <p:cNvPr id="21" name="Shape 12">
            <a:extLst>
              <a:ext uri="{FF2B5EF4-FFF2-40B4-BE49-F238E27FC236}">
                <a16:creationId xmlns:a16="http://schemas.microsoft.com/office/drawing/2014/main" id="{F2E87974-F7F8-1365-9835-2E04C17D7B1E}"/>
              </a:ext>
            </a:extLst>
          </p:cNvPr>
          <p:cNvSpPr/>
          <p:nvPr/>
        </p:nvSpPr>
        <p:spPr>
          <a:xfrm>
            <a:off x="4846320" y="2557272"/>
            <a:ext cx="3931920" cy="960120"/>
          </a:xfrm>
          <a:prstGeom prst="roundRect">
            <a:avLst>
              <a:gd name="adj" fmla="val 7619"/>
            </a:avLst>
          </a:prstGeom>
          <a:solidFill>
            <a:srgbClr val="EEF2F8"/>
          </a:solidFill>
          <a:ln w="12700">
            <a:solidFill>
              <a:srgbClr val="C8D6EA"/>
            </a:solidFill>
            <a:prstDash val="solid"/>
          </a:ln>
        </p:spPr>
      </p:sp>
      <p:sp>
        <p:nvSpPr>
          <p:cNvPr id="23" name="Text 13">
            <a:extLst>
              <a:ext uri="{FF2B5EF4-FFF2-40B4-BE49-F238E27FC236}">
                <a16:creationId xmlns:a16="http://schemas.microsoft.com/office/drawing/2014/main" id="{FBF1901A-D80A-9548-B6CB-A40171D54B8E}"/>
              </a:ext>
            </a:extLst>
          </p:cNvPr>
          <p:cNvSpPr/>
          <p:nvPr/>
        </p:nvSpPr>
        <p:spPr>
          <a:xfrm>
            <a:off x="4983480" y="2630424"/>
            <a:ext cx="3657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2F54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GraphSAGE</a:t>
            </a:r>
            <a:endParaRPr lang="en-US" sz="1500" dirty="0"/>
          </a:p>
        </p:txBody>
      </p:sp>
      <p:sp>
        <p:nvSpPr>
          <p:cNvPr id="25" name="Text 14">
            <a:extLst>
              <a:ext uri="{FF2B5EF4-FFF2-40B4-BE49-F238E27FC236}">
                <a16:creationId xmlns:a16="http://schemas.microsoft.com/office/drawing/2014/main" id="{91EAC72E-31D6-CA31-A788-855AC55A9FCC}"/>
              </a:ext>
            </a:extLst>
          </p:cNvPr>
          <p:cNvSpPr/>
          <p:nvPr/>
        </p:nvSpPr>
        <p:spPr>
          <a:xfrm>
            <a:off x="4983480" y="2968752"/>
            <a:ext cx="3657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Inductive learning via neighborhood sampling</a:t>
            </a:r>
            <a:endParaRPr lang="en-US" sz="1200" dirty="0"/>
          </a:p>
        </p:txBody>
      </p:sp>
      <p:sp>
        <p:nvSpPr>
          <p:cNvPr id="27" name="Shape 15">
            <a:extLst>
              <a:ext uri="{FF2B5EF4-FFF2-40B4-BE49-F238E27FC236}">
                <a16:creationId xmlns:a16="http://schemas.microsoft.com/office/drawing/2014/main" id="{E1D6A68E-0AE4-988E-9A2E-F8B5E2A56449}"/>
              </a:ext>
            </a:extLst>
          </p:cNvPr>
          <p:cNvSpPr/>
          <p:nvPr/>
        </p:nvSpPr>
        <p:spPr>
          <a:xfrm>
            <a:off x="4846320" y="3654552"/>
            <a:ext cx="3931920" cy="960120"/>
          </a:xfrm>
          <a:prstGeom prst="roundRect">
            <a:avLst>
              <a:gd name="adj" fmla="val 7619"/>
            </a:avLst>
          </a:prstGeom>
          <a:solidFill>
            <a:srgbClr val="EEF2F8"/>
          </a:solidFill>
          <a:ln w="12700">
            <a:solidFill>
              <a:srgbClr val="C8D6EA"/>
            </a:solidFill>
            <a:prstDash val="solid"/>
          </a:ln>
        </p:spPr>
      </p:sp>
      <p:sp>
        <p:nvSpPr>
          <p:cNvPr id="29" name="Text 16">
            <a:extLst>
              <a:ext uri="{FF2B5EF4-FFF2-40B4-BE49-F238E27FC236}">
                <a16:creationId xmlns:a16="http://schemas.microsoft.com/office/drawing/2014/main" id="{71C91912-5C8A-A040-FCA7-6CE78CFE3DDB}"/>
              </a:ext>
            </a:extLst>
          </p:cNvPr>
          <p:cNvSpPr/>
          <p:nvPr/>
        </p:nvSpPr>
        <p:spPr>
          <a:xfrm>
            <a:off x="4983480" y="3727704"/>
            <a:ext cx="3657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2F54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3-Layer Residual GCN</a:t>
            </a:r>
            <a:endParaRPr lang="en-US" sz="1500" dirty="0"/>
          </a:p>
        </p:txBody>
      </p:sp>
      <p:sp>
        <p:nvSpPr>
          <p:cNvPr id="31" name="Text 17">
            <a:extLst>
              <a:ext uri="{FF2B5EF4-FFF2-40B4-BE49-F238E27FC236}">
                <a16:creationId xmlns:a16="http://schemas.microsoft.com/office/drawing/2014/main" id="{55E18E21-7AD9-CFE2-AF07-9E1471CFD153}"/>
              </a:ext>
            </a:extLst>
          </p:cNvPr>
          <p:cNvSpPr/>
          <p:nvPr/>
        </p:nvSpPr>
        <p:spPr>
          <a:xfrm>
            <a:off x="4983480" y="4066032"/>
            <a:ext cx="3657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Deeper architecture with skip connections</a:t>
            </a:r>
            <a:endParaRPr lang="en-US" sz="1200" dirty="0"/>
          </a:p>
        </p:txBody>
      </p:sp>
    </p:spTree>
    <p:extLst>
      <p:ext uri="{BB962C8B-B14F-4D97-AF65-F5344CB8AC3E}">
        <p14:creationId xmlns:p14="http://schemas.microsoft.com/office/powerpoint/2010/main" val="1636867523"/>
      </p:ext>
    </p:extLst>
  </p:cSld>
  <p:clrMapOvr>
    <a:masterClrMapping/>
  </p:clrMapOvr>
</p:sld>
</file>

<file path=ppt/theme/theme1.xml><?xml version="1.0" encoding="utf-8"?>
<a:theme xmlns:a="http://schemas.openxmlformats.org/drawingml/2006/main" name="Body Slides">
  <a:themeElements>
    <a:clrScheme name="Default Design 1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BBE0E3"/>
      </a:accent1>
      <a:accent2>
        <a:srgbClr val="333399"/>
      </a:accent2>
      <a:accent3>
        <a:srgbClr val="FFFFFF"/>
      </a:accent3>
      <a:accent4>
        <a:srgbClr val="000000"/>
      </a:accent4>
      <a:accent5>
        <a:srgbClr val="DAEDEF"/>
      </a:accent5>
      <a:accent6>
        <a:srgbClr val="2D2D8A"/>
      </a:accent6>
      <a:hlink>
        <a:srgbClr val="009999"/>
      </a:hlink>
      <a:folHlink>
        <a:srgbClr val="99CC00"/>
      </a:folHlink>
    </a:clrScheme>
    <a:fontScheme name="Default Design">
      <a:majorFont>
        <a:latin typeface="Arial"/>
        <a:ea typeface=""/>
        <a:cs typeface=""/>
      </a:majorFont>
      <a:minorFont>
        <a:latin typeface="Myriad Pro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>
        <a:solidFill>
          <a:schemeClr val="bg2"/>
        </a:solidFill>
        <a:ln>
          <a:solidFill>
            <a:schemeClr val="tx1"/>
          </a:solidFill>
        </a:ln>
      </a:spPr>
      <a:bodyPr rtlCol="0" anchor="ctr"/>
      <a:lstStyle>
        <a:defPPr algn="ctr">
          <a:defRPr/>
        </a:defPPr>
      </a:lstStyle>
    </a:spDef>
    <a:lnDef>
      <a:spPr bwMode="auto">
        <a:noFill/>
        <a:ln w="9525" cap="flat" cmpd="sng" algn="ctr">
          <a:solidFill>
            <a:schemeClr val="tx1"/>
          </a:solidFill>
          <a:prstDash val="solid"/>
          <a:round/>
          <a:headEnd type="none" w="med" len="med"/>
          <a:tailEnd type="none" w="med" len="med"/>
        </a:ln>
        <a:effectLst/>
      </a:spPr>
      <a:bodyPr/>
      <a:lstStyle/>
    </a:lnDef>
  </a:objectDefaults>
  <a:extraClrSchemeLst>
    <a:extraClrScheme>
      <a:clrScheme name="Default Design 1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BBE0E3"/>
        </a:accent1>
        <a:accent2>
          <a:srgbClr val="333399"/>
        </a:accent2>
        <a:accent3>
          <a:srgbClr val="FFFFFF"/>
        </a:accent3>
        <a:accent4>
          <a:srgbClr val="000000"/>
        </a:accent4>
        <a:accent5>
          <a:srgbClr val="DAEDEF"/>
        </a:accent5>
        <a:accent6>
          <a:srgbClr val="2D2D8A"/>
        </a:accent6>
        <a:hlink>
          <a:srgbClr val="009999"/>
        </a:hlink>
        <a:folHlink>
          <a:srgbClr val="99CC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Default Design 2">
        <a:dk1>
          <a:srgbClr val="000000"/>
        </a:dk1>
        <a:lt1>
          <a:srgbClr val="FFFFFF"/>
        </a:lt1>
        <a:dk2>
          <a:srgbClr val="000000"/>
        </a:dk2>
        <a:lt2>
          <a:srgbClr val="969696"/>
        </a:lt2>
        <a:accent1>
          <a:srgbClr val="FBDF53"/>
        </a:accent1>
        <a:accent2>
          <a:srgbClr val="FF9966"/>
        </a:accent2>
        <a:accent3>
          <a:srgbClr val="FFFFFF"/>
        </a:accent3>
        <a:accent4>
          <a:srgbClr val="000000"/>
        </a:accent4>
        <a:accent5>
          <a:srgbClr val="FDECB3"/>
        </a:accent5>
        <a:accent6>
          <a:srgbClr val="E78A5C"/>
        </a:accent6>
        <a:hlink>
          <a:srgbClr val="CC3300"/>
        </a:hlink>
        <a:folHlink>
          <a:srgbClr val="9966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Default Design 3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99CCFF"/>
        </a:accent1>
        <a:accent2>
          <a:srgbClr val="CCCCFF"/>
        </a:accent2>
        <a:accent3>
          <a:srgbClr val="FFFFFF"/>
        </a:accent3>
        <a:accent4>
          <a:srgbClr val="000000"/>
        </a:accent4>
        <a:accent5>
          <a:srgbClr val="CAE2FF"/>
        </a:accent5>
        <a:accent6>
          <a:srgbClr val="B9B9E7"/>
        </a:accent6>
        <a:hlink>
          <a:srgbClr val="3333CC"/>
        </a:hlink>
        <a:folHlink>
          <a:srgbClr val="AF67FF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Default Design 4">
        <a:dk1>
          <a:srgbClr val="000000"/>
        </a:dk1>
        <a:lt1>
          <a:srgbClr val="DEF6F1"/>
        </a:lt1>
        <a:dk2>
          <a:srgbClr val="000000"/>
        </a:dk2>
        <a:lt2>
          <a:srgbClr val="969696"/>
        </a:lt2>
        <a:accent1>
          <a:srgbClr val="FFFFFF"/>
        </a:accent1>
        <a:accent2>
          <a:srgbClr val="8DC6FF"/>
        </a:accent2>
        <a:accent3>
          <a:srgbClr val="ECFAF7"/>
        </a:accent3>
        <a:accent4>
          <a:srgbClr val="000000"/>
        </a:accent4>
        <a:accent5>
          <a:srgbClr val="FFFFFF"/>
        </a:accent5>
        <a:accent6>
          <a:srgbClr val="7FB3E7"/>
        </a:accent6>
        <a:hlink>
          <a:srgbClr val="0066CC"/>
        </a:hlink>
        <a:folHlink>
          <a:srgbClr val="00A8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Default Design 5">
        <a:dk1>
          <a:srgbClr val="000000"/>
        </a:dk1>
        <a:lt1>
          <a:srgbClr val="FFFFD9"/>
        </a:lt1>
        <a:dk2>
          <a:srgbClr val="000000"/>
        </a:dk2>
        <a:lt2>
          <a:srgbClr val="777777"/>
        </a:lt2>
        <a:accent1>
          <a:srgbClr val="FFFFF7"/>
        </a:accent1>
        <a:accent2>
          <a:srgbClr val="33CCCC"/>
        </a:accent2>
        <a:accent3>
          <a:srgbClr val="FFFFE9"/>
        </a:accent3>
        <a:accent4>
          <a:srgbClr val="000000"/>
        </a:accent4>
        <a:accent5>
          <a:srgbClr val="FFFFFA"/>
        </a:accent5>
        <a:accent6>
          <a:srgbClr val="2DB9B9"/>
        </a:accent6>
        <a:hlink>
          <a:srgbClr val="FF5050"/>
        </a:hlink>
        <a:folHlink>
          <a:srgbClr val="FF99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Default Design 6">
        <a:dk1>
          <a:srgbClr val="005A58"/>
        </a:dk1>
        <a:lt1>
          <a:srgbClr val="FFFFFF"/>
        </a:lt1>
        <a:dk2>
          <a:srgbClr val="008080"/>
        </a:dk2>
        <a:lt2>
          <a:srgbClr val="FFFF99"/>
        </a:lt2>
        <a:accent1>
          <a:srgbClr val="006462"/>
        </a:accent1>
        <a:accent2>
          <a:srgbClr val="6D6FC7"/>
        </a:accent2>
        <a:accent3>
          <a:srgbClr val="AAC0C0"/>
        </a:accent3>
        <a:accent4>
          <a:srgbClr val="DADADA"/>
        </a:accent4>
        <a:accent5>
          <a:srgbClr val="AAB8B7"/>
        </a:accent5>
        <a:accent6>
          <a:srgbClr val="6264B4"/>
        </a:accent6>
        <a:hlink>
          <a:srgbClr val="00FFFF"/>
        </a:hlink>
        <a:folHlink>
          <a:srgbClr val="00FF00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Default Design 7">
        <a:dk1>
          <a:srgbClr val="5C1F00"/>
        </a:dk1>
        <a:lt1>
          <a:srgbClr val="FFFFFF"/>
        </a:lt1>
        <a:dk2>
          <a:srgbClr val="800000"/>
        </a:dk2>
        <a:lt2>
          <a:srgbClr val="DFD293"/>
        </a:lt2>
        <a:accent1>
          <a:srgbClr val="CC3300"/>
        </a:accent1>
        <a:accent2>
          <a:srgbClr val="BE7960"/>
        </a:accent2>
        <a:accent3>
          <a:srgbClr val="C0AAAA"/>
        </a:accent3>
        <a:accent4>
          <a:srgbClr val="DADADA"/>
        </a:accent4>
        <a:accent5>
          <a:srgbClr val="E2ADAA"/>
        </a:accent5>
        <a:accent6>
          <a:srgbClr val="AC6D56"/>
        </a:accent6>
        <a:hlink>
          <a:srgbClr val="FFFF99"/>
        </a:hlink>
        <a:folHlink>
          <a:srgbClr val="D3A219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Default Design 8">
        <a:dk1>
          <a:srgbClr val="003366"/>
        </a:dk1>
        <a:lt1>
          <a:srgbClr val="FFFFFF"/>
        </a:lt1>
        <a:dk2>
          <a:srgbClr val="000099"/>
        </a:dk2>
        <a:lt2>
          <a:srgbClr val="CCFFFF"/>
        </a:lt2>
        <a:accent1>
          <a:srgbClr val="3366CC"/>
        </a:accent1>
        <a:accent2>
          <a:srgbClr val="00B000"/>
        </a:accent2>
        <a:accent3>
          <a:srgbClr val="AAAACA"/>
        </a:accent3>
        <a:accent4>
          <a:srgbClr val="DADADA"/>
        </a:accent4>
        <a:accent5>
          <a:srgbClr val="ADB8E2"/>
        </a:accent5>
        <a:accent6>
          <a:srgbClr val="009F00"/>
        </a:accent6>
        <a:hlink>
          <a:srgbClr val="66CCFF"/>
        </a:hlink>
        <a:folHlink>
          <a:srgbClr val="FFE701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Default Design 9">
        <a:dk1>
          <a:srgbClr val="336699"/>
        </a:dk1>
        <a:lt1>
          <a:srgbClr val="FFFFFF"/>
        </a:lt1>
        <a:dk2>
          <a:srgbClr val="000000"/>
        </a:dk2>
        <a:lt2>
          <a:srgbClr val="E3EBF1"/>
        </a:lt2>
        <a:accent1>
          <a:srgbClr val="003399"/>
        </a:accent1>
        <a:accent2>
          <a:srgbClr val="468A4B"/>
        </a:accent2>
        <a:accent3>
          <a:srgbClr val="AAAAAA"/>
        </a:accent3>
        <a:accent4>
          <a:srgbClr val="DADADA"/>
        </a:accent4>
        <a:accent5>
          <a:srgbClr val="AAADCA"/>
        </a:accent5>
        <a:accent6>
          <a:srgbClr val="3F7D43"/>
        </a:accent6>
        <a:hlink>
          <a:srgbClr val="66CCFF"/>
        </a:hlink>
        <a:folHlink>
          <a:srgbClr val="F0E500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Default Design 10">
        <a:dk1>
          <a:srgbClr val="777777"/>
        </a:dk1>
        <a:lt1>
          <a:srgbClr val="FFFFFF"/>
        </a:lt1>
        <a:dk2>
          <a:srgbClr val="686B5D"/>
        </a:dk2>
        <a:lt2>
          <a:srgbClr val="D1D1CB"/>
        </a:lt2>
        <a:accent1>
          <a:srgbClr val="909082"/>
        </a:accent1>
        <a:accent2>
          <a:srgbClr val="809EA8"/>
        </a:accent2>
        <a:accent3>
          <a:srgbClr val="B9BAB6"/>
        </a:accent3>
        <a:accent4>
          <a:srgbClr val="DADADA"/>
        </a:accent4>
        <a:accent5>
          <a:srgbClr val="C6C6C1"/>
        </a:accent5>
        <a:accent6>
          <a:srgbClr val="738F98"/>
        </a:accent6>
        <a:hlink>
          <a:srgbClr val="FFCC66"/>
        </a:hlink>
        <a:folHlink>
          <a:srgbClr val="E9DCB9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Default Design 11">
        <a:dk1>
          <a:srgbClr val="3E3E5C"/>
        </a:dk1>
        <a:lt1>
          <a:srgbClr val="FFFFFF"/>
        </a:lt1>
        <a:dk2>
          <a:srgbClr val="666699"/>
        </a:dk2>
        <a:lt2>
          <a:srgbClr val="FFFFFF"/>
        </a:lt2>
        <a:accent1>
          <a:srgbClr val="60597B"/>
        </a:accent1>
        <a:accent2>
          <a:srgbClr val="6666FF"/>
        </a:accent2>
        <a:accent3>
          <a:srgbClr val="B8B8CA"/>
        </a:accent3>
        <a:accent4>
          <a:srgbClr val="DADADA"/>
        </a:accent4>
        <a:accent5>
          <a:srgbClr val="B6B5BF"/>
        </a:accent5>
        <a:accent6>
          <a:srgbClr val="5C5CE7"/>
        </a:accent6>
        <a:hlink>
          <a:srgbClr val="99CCFF"/>
        </a:hlink>
        <a:folHlink>
          <a:srgbClr val="FFFF99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Default Design 12">
        <a:dk1>
          <a:srgbClr val="2D2015"/>
        </a:dk1>
        <a:lt1>
          <a:srgbClr val="FFFFFF"/>
        </a:lt1>
        <a:dk2>
          <a:srgbClr val="523E26"/>
        </a:dk2>
        <a:lt2>
          <a:srgbClr val="DFC08D"/>
        </a:lt2>
        <a:accent1>
          <a:srgbClr val="8C7B70"/>
        </a:accent1>
        <a:accent2>
          <a:srgbClr val="8F5F2F"/>
        </a:accent2>
        <a:accent3>
          <a:srgbClr val="B3AFAC"/>
        </a:accent3>
        <a:accent4>
          <a:srgbClr val="DADADA"/>
        </a:accent4>
        <a:accent5>
          <a:srgbClr val="C5BFBB"/>
        </a:accent5>
        <a:accent6>
          <a:srgbClr val="81552A"/>
        </a:accent6>
        <a:hlink>
          <a:srgbClr val="CCB400"/>
        </a:hlink>
        <a:folHlink>
          <a:srgbClr val="8C9EA0"/>
        </a:folHlink>
      </a:clrScheme>
      <a:clrMap bg1="dk2" tx1="lt1" bg2="dk1" tx2="lt2" accent1="accent1" accent2="accent2" accent3="accent3" accent4="accent4" accent5="accent5" accent6="accent6" hlink="hlink" folHlink="folHlink"/>
    </a:extraClrScheme>
  </a:extraClrSchemeLst>
  <a:extLst>
    <a:ext uri="{05A4C25C-085E-4340-85A3-A5531E510DB2}">
      <thm15:themeFamily xmlns:thm15="http://schemas.microsoft.com/office/thememl/2012/main" name="ABmechbpresentation" id="{69F95A6D-80FB-42CF-9430-49B8985042DD}" vid="{8DAACE04-E927-497C-BE7F-C965F736CC2D}"/>
    </a:ext>
  </a:extLst>
</a:theme>
</file>

<file path=ppt/theme/theme2.xml><?xml version="1.0" encoding="utf-8"?>
<a:theme xmlns:a="http://schemas.openxmlformats.org/drawingml/2006/main" name="Office Theme">
  <a:themeElements>
    <a:clrScheme name="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BBE0E3"/>
      </a:accent1>
      <a:accent2>
        <a:srgbClr val="333399"/>
      </a:accent2>
      <a:accent3>
        <a:srgbClr val="FFFFFF"/>
      </a:accent3>
      <a:accent4>
        <a:srgbClr val="000000"/>
      </a:accent4>
      <a:accent5>
        <a:srgbClr val="DAEDEF"/>
      </a:accent5>
      <a:accent6>
        <a:srgbClr val="2D2D8A"/>
      </a:accent6>
      <a:hlink>
        <a:srgbClr val="009999"/>
      </a:hlink>
      <a:folHlink>
        <a:srgbClr val="99CC0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3.xml><?xml version="1.0" encoding="utf-8"?>
<a:theme xmlns:a="http://schemas.openxmlformats.org/drawingml/2006/main" name="Office Theme">
  <a:themeElements>
    <a:clrScheme name="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BBE0E3"/>
      </a:accent1>
      <a:accent2>
        <a:srgbClr val="333399"/>
      </a:accent2>
      <a:accent3>
        <a:srgbClr val="FFFFFF"/>
      </a:accent3>
      <a:accent4>
        <a:srgbClr val="000000"/>
      </a:accent4>
      <a:accent5>
        <a:srgbClr val="DAEDEF"/>
      </a:accent5>
      <a:accent6>
        <a:srgbClr val="2D2D8A"/>
      </a:accent6>
      <a:hlink>
        <a:srgbClr val="009999"/>
      </a:hlink>
      <a:folHlink>
        <a:srgbClr val="99CC0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CE759F7608B13A4D86BCC979C54BBCCB" ma:contentTypeVersion="3" ma:contentTypeDescription="Create a new document." ma:contentTypeScope="" ma:versionID="562f52eeba954e953f3dbe994cae5a50">
  <xsd:schema xmlns:xsd="http://www.w3.org/2001/XMLSchema" xmlns:xs="http://www.w3.org/2001/XMLSchema" xmlns:p="http://schemas.microsoft.com/office/2006/metadata/properties" xmlns:ns2="08677264-7440-49ce-928a-9917bd2fc905" targetNamespace="http://schemas.microsoft.com/office/2006/metadata/properties" ma:root="true" ma:fieldsID="cfe0b1e2cc427cbe41c2a2bde47cd0a9" ns2:_="">
    <xsd:import namespace="08677264-7440-49ce-928a-9917bd2fc905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MediaServiceDateTaken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08677264-7440-49ce-928a-9917bd2fc905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DateTaken" ma:index="10" nillable="true" ma:displayName="MediaServiceDateTaken" ma:hidden="true" ma:internalName="MediaServiceDateTaken" ma:readOnly="true">
      <xsd:simpleType>
        <xsd:restriction base="dms:Text"/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2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3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/>
</p:properties>
</file>

<file path=customXml/itemProps1.xml><?xml version="1.0" encoding="utf-8"?>
<ds:datastoreItem xmlns:ds="http://schemas.openxmlformats.org/officeDocument/2006/customXml" ds:itemID="{131EAF09-CD46-4973-8E3F-6CB46C90CA5E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08677264-7440-49ce-928a-9917bd2fc905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customXml/itemProps2.xml><?xml version="1.0" encoding="utf-8"?>
<ds:datastoreItem xmlns:ds="http://schemas.openxmlformats.org/officeDocument/2006/customXml" ds:itemID="{46C02176-421E-4469-B6C2-6437A9690DAF}">
  <ds:schemaRefs>
    <ds:schemaRef ds:uri="http://schemas.microsoft.com/sharepoint/v3/contenttype/forms"/>
  </ds:schemaRefs>
</ds:datastoreItem>
</file>

<file path=customXml/itemProps3.xml><?xml version="1.0" encoding="utf-8"?>
<ds:datastoreItem xmlns:ds="http://schemas.openxmlformats.org/officeDocument/2006/customXml" ds:itemID="{D74ED9B8-9FE6-4BEC-B456-79D1D6C96D7E}">
  <ds:schemaRefs>
    <ds:schemaRef ds:uri="http://schemas.microsoft.com/office/2006/metadata/properties"/>
    <ds:schemaRef ds:uri="http://schemas.microsoft.com/office/infopath/2007/PartnerControls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emplate>6-3-REU</Template>
  <TotalTime>184</TotalTime>
  <Words>1719</Words>
  <Application>Microsoft Office PowerPoint</Application>
  <PresentationFormat>On-screen Show (4:3)</PresentationFormat>
  <Paragraphs>248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6" baseType="lpstr">
      <vt:lpstr>Arial</vt:lpstr>
      <vt:lpstr>Calibri</vt:lpstr>
      <vt:lpstr>Myriad Pro</vt:lpstr>
      <vt:lpstr>Body Slides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>Adams, Alex</dc:creator>
  <cp:keywords/>
  <dc:description/>
  <cp:lastModifiedBy>Adams, Alex</cp:lastModifiedBy>
  <cp:revision>9</cp:revision>
  <cp:lastPrinted>2016-03-29T19:22:42Z</cp:lastPrinted>
  <dcterms:created xsi:type="dcterms:W3CDTF">2026-06-29T22:58:28Z</dcterms:created>
  <dcterms:modified xsi:type="dcterms:W3CDTF">2026-06-30T18:37:14Z</dcterms:modified>
  <cp:category/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0x010100CE759F7608B13A4D86BCC979C54BBCCB</vt:lpwstr>
  </property>
</Properties>
</file>