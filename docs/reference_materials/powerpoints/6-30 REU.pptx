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2pPr>
    <a:lvl3pPr marL="9144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3pPr>
    <a:lvl4pPr marL="13716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4pPr>
    <a:lvl5pPr marL="18288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5pPr>
    <a:lvl6pPr marL="22860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6pPr>
    <a:lvl7pPr marL="27432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7pPr>
    <a:lvl8pPr marL="32004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8pPr>
    <a:lvl9pPr marL="36576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Tevis Jacobs" initials="T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4686"/>
    <a:srgbClr val="0F3E7B"/>
    <a:srgbClr val="014F9E"/>
    <a:srgbClr val="FCB61C"/>
    <a:srgbClr val="001F5B"/>
    <a:srgbClr val="A7D2E0"/>
    <a:srgbClr val="0432FF"/>
    <a:srgbClr val="FF0000"/>
    <a:srgbClr val="FF25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3505" autoAdjust="0"/>
  </p:normalViewPr>
  <p:slideViewPr>
    <p:cSldViewPr>
      <p:cViewPr varScale="1">
        <p:scale>
          <a:sx n="98" d="100"/>
          <a:sy n="98" d="100"/>
        </p:scale>
        <p:origin x="907" y="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11152"/>
    </p:cViewPr>
  </p:sorterViewPr>
  <p:notesViewPr>
    <p:cSldViewPr>
      <p:cViewPr varScale="1">
        <p:scale>
          <a:sx n="86" d="100"/>
          <a:sy n="86" d="100"/>
        </p:scale>
        <p:origin x="-3042" y="-7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401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77948F-8F14-D741-A91D-17DAA1A33C3C}" type="datetime1">
              <a:rPr lang="en-US"/>
              <a:pPr>
                <a:defRPr/>
              </a:pPr>
              <a:t>6/30/2026</a:t>
            </a:fld>
            <a:endParaRPr lang="en-US"/>
          </a:p>
        </p:txBody>
      </p:sp>
      <p:sp>
        <p:nvSpPr>
          <p:cNvPr id="21402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402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9EFBD60-ED00-9F49-9C44-185C37AA92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12322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0"/>
              </a:spcBef>
              <a:defRPr sz="1200">
                <a:solidFill>
                  <a:schemeClr val="tx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0"/>
              </a:spcBef>
              <a:defRPr sz="1200">
                <a:solidFill>
                  <a:schemeClr val="tx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0"/>
              </a:spcBef>
              <a:defRPr sz="1200">
                <a:solidFill>
                  <a:schemeClr val="tx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0"/>
              </a:spcBef>
              <a:defRPr sz="1200"/>
            </a:lvl1pPr>
          </a:lstStyle>
          <a:p>
            <a:pPr>
              <a:defRPr/>
            </a:pPr>
            <a:fld id="{17E32B26-EEC0-9247-A56A-A050A540A0C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11623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Predicting the Mechanical Properties of Complex Lattice Metamaterials Using Graph Neural Networks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61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0195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C90E4-543F-6977-38E0-4B49F88B8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D2E7A-C0D1-BED7-E78C-16019C69C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C250B-F1F7-1E4E-7A59-2D6E6100D1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F3C640-6A87-490C-047B-DBE41FA0C7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8047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92956-8B87-72D6-A3FF-467A15C3A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F1E2E4-70AF-27D2-6D76-6F133D8B3F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085FDA-6366-1008-2B3E-2BCC14BA6D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E58D84-47E1-575C-7BC7-8B0B2D3AEE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0994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8635A-5984-4FEB-2812-407380159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F523C-2361-4DF0-D478-FA4B98D08F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3E21A-7E8E-AE5A-C908-44C0E2CBCF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Weighted edges preserve real graph information and improve out-of-distribution behavior somewhat, but do not move the held-out test ceiling. Retained for all future runs.</a:t>
            </a:r>
            <a:endParaRPr lang="en-US" sz="1200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844897-8A05-654E-05DB-95CD06ECF9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302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17DD5-0BDD-54B5-F9FC-EB01C7D41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2CEFC2-B088-2FC2-D51D-017015ABB6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9BD481-2D9E-A8B2-1F63-00D05372FA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single improvement. Confirmed stable across multiple seeds (mean test R²: 0.9380). Best prediction-set generalization baseline.</a:t>
            </a:r>
            <a:endParaRPr lang="en-US" sz="1200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4FB8BA-83CA-E449-4D4D-7F5187DCD2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798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E5110-AF89-CB30-34DE-73DDDBDD5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485BD5-C677-A524-B69B-5A8D5452AA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1E01CD-E4FC-1EE9-7C38-309C8684C3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CC451A-25EC-04CF-C5D6-4974A50962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1604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85B7C-4285-78F3-D490-D10AF2637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E99F37-8540-2813-47B4-7C041AB8AF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68D144-466B-A79A-E339-F1A949D02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DCCC15-6D2B-61B6-2CC7-4D6F9B25FC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0018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61986-4181-A64E-01F8-4FB76C4AE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27EF1F-2609-292F-F0D2-E870023D77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487EEF-E436-E304-23A3-9CA0F72A71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19C8B6-7250-F93D-7D30-C48E9BAF26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2604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C7BBD-3B3D-2BDE-3DF7-DB0BF377D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157269-2556-D805-D6A2-044E521E2C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0E0FF2-C546-421F-DA45-7E47AF362F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017B9-801A-84DA-80BC-D41093882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6865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21F86-C282-A499-A187-E206A868B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87F3C-9E47-34C4-CB33-36E326FFF2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FD4E47-F15B-3E93-D22C-1F7BDEE55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8B3B4C-6439-07B5-1554-6B3A38B120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516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D9FC-A83E-D592-3D21-784B2B5A0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73F38C-0B46-1A50-24CA-5478A85C4C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DF9009-073B-3FE6-4BB6-21FEED022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59C30-EF8F-44F2-5E7E-2EF3022F59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925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Slide (1 Title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eal 2color 2 line.png">
            <a:extLst>
              <a:ext uri="{FF2B5EF4-FFF2-40B4-BE49-F238E27FC236}">
                <a16:creationId xmlns:a16="http://schemas.microsoft.com/office/drawing/2014/main" id="{5DFF146A-4BCE-6F95-2D4C-A6F7B2A0D7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288" y="0"/>
            <a:ext cx="640597" cy="64059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A4FB9F8-A929-64F9-8452-DF5F52C12C2C}"/>
              </a:ext>
            </a:extLst>
          </p:cNvPr>
          <p:cNvSpPr/>
          <p:nvPr userDrawn="1"/>
        </p:nvSpPr>
        <p:spPr>
          <a:xfrm>
            <a:off x="8220730" y="0"/>
            <a:ext cx="923270" cy="640080"/>
          </a:xfrm>
          <a:prstGeom prst="rect">
            <a:avLst/>
          </a:prstGeom>
          <a:solidFill>
            <a:srgbClr val="B9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3D2B8474-1DC1-B492-A83D-2535C61CCD2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8229600" y="0"/>
            <a:ext cx="914400" cy="639763"/>
          </a:xfrm>
          <a:prstGeom prst="rect">
            <a:avLst/>
          </a:prstGeom>
          <a:ln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28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EE2FDD7-C825-9743-96D4-4DD964AE6A9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70A84B-3904-6B95-68EB-E37CE90A157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r="47333"/>
          <a:stretch>
            <a:fillRect/>
          </a:stretch>
        </p:blipFill>
        <p:spPr>
          <a:xfrm>
            <a:off x="705173" y="-42908"/>
            <a:ext cx="678055" cy="7252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F9C7C03-25AE-60C0-E0C6-14C3DA9A563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415516" y="-1151"/>
            <a:ext cx="640080" cy="640080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65BC5DFF-661D-7A87-98CC-549BC731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9800" y="19572"/>
            <a:ext cx="6010930" cy="6397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C041DF6-60C1-D18C-A84F-4C23DF4CAED5}"/>
              </a:ext>
            </a:extLst>
          </p:cNvPr>
          <p:cNvSpPr/>
          <p:nvPr userDrawn="1"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7E6410E-FFA5-6012-8204-8E02583113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729076" cy="975487"/>
          </a:xfrm>
          <a:prstGeom prst="rect">
            <a:avLst/>
          </a:prstGeom>
        </p:spPr>
      </p:pic>
      <p:pic>
        <p:nvPicPr>
          <p:cNvPr id="11" name="Picture 10" descr="University of Pittsburgh, Mechanical Engineering and Materials Science">
            <a:extLst>
              <a:ext uri="{FF2B5EF4-FFF2-40B4-BE49-F238E27FC236}">
                <a16:creationId xmlns:a16="http://schemas.microsoft.com/office/drawing/2014/main" id="{18DF627C-11E2-B857-0B20-57F581D4A1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34000" y="6159660"/>
            <a:ext cx="2311580" cy="707743"/>
          </a:xfrm>
          <a:prstGeom prst="rect">
            <a:avLst/>
          </a:prstGeom>
        </p:spPr>
      </p:pic>
      <p:pic>
        <p:nvPicPr>
          <p:cNvPr id="12" name="Picture 11" descr="NJIT Launches a Campus Chapter of the National Academy of Inventors | David  A. Bader">
            <a:extLst>
              <a:ext uri="{FF2B5EF4-FFF2-40B4-BE49-F238E27FC236}">
                <a16:creationId xmlns:a16="http://schemas.microsoft.com/office/drawing/2014/main" id="{6B28D72E-749C-EBC3-22F6-A19174E6E21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924800" y="6284380"/>
            <a:ext cx="1112280" cy="4583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Slide (2 Title Lin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0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DF2A186-A842-EB41-93F8-9926F66DBD0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-317"/>
            <a:ext cx="9144000" cy="640080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1" name="Picture 10" descr="Seal 2color 2 line.png"/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288" y="0"/>
            <a:ext cx="640597" cy="640597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8220730" y="0"/>
            <a:ext cx="923270" cy="640080"/>
          </a:xfrm>
          <a:prstGeom prst="rect">
            <a:avLst/>
          </a:prstGeom>
          <a:solidFill>
            <a:srgbClr val="B9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0"/>
          <p:cNvSpPr>
            <a:spLocks noGrp="1" noChangeArrowheads="1"/>
          </p:cNvSpPr>
          <p:nvPr>
            <p:ph type="sldNum" sz="quarter" idx="4"/>
          </p:nvPr>
        </p:nvSpPr>
        <p:spPr>
          <a:xfrm>
            <a:off x="8229600" y="0"/>
            <a:ext cx="914400" cy="639763"/>
          </a:xfrm>
          <a:prstGeom prst="rect">
            <a:avLst/>
          </a:prstGeom>
          <a:ln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2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defRPr/>
            </a:pPr>
            <a:fld id="{DEE2FDD7-C825-9743-96D4-4DD964AE6A99}" type="slidenum">
              <a:rPr lang="en-US" smtClean="0"/>
              <a:pPr>
                <a:defRPr/>
              </a:pPr>
              <a:t>‹#›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FFD572-9420-AD18-8C3B-3529F2BF12E8}"/>
              </a:ext>
            </a:extLst>
          </p:cNvPr>
          <p:cNvSpPr txBox="1"/>
          <p:nvPr userDrawn="1"/>
        </p:nvSpPr>
        <p:spPr>
          <a:xfrm>
            <a:off x="2305373" y="3159641"/>
            <a:ext cx="46107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9C9725D-A2D6-16FE-6F5D-47EE05BF272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r="47333"/>
          <a:stretch>
            <a:fillRect/>
          </a:stretch>
        </p:blipFill>
        <p:spPr>
          <a:xfrm>
            <a:off x="705173" y="-42908"/>
            <a:ext cx="678055" cy="72526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E3E585B-2E8A-DEF3-CD0F-C20D13904D3B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415516" y="-1151"/>
            <a:ext cx="640080" cy="64008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0" r:id="rId2"/>
    <p:sldLayoutId id="2147483689" r:id="rId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+mj-lt"/>
          <a:ea typeface="ＭＳ Ｐゴシック" charset="-128"/>
          <a:cs typeface="ＭＳ Ｐゴシック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ＭＳ Ｐゴシック" charset="-128"/>
          <a:cs typeface="ＭＳ Ｐゴシック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ＭＳ Ｐゴシック" charset="-128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ＭＳ Ｐゴシック" charset="-128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ＭＳ Ｐゴシック" charset="-128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ＭＳ Ｐゴシック" charset="-128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14">
            <a:extLst>
              <a:ext uri="{FF2B5EF4-FFF2-40B4-BE49-F238E27FC236}">
                <a16:creationId xmlns:a16="http://schemas.microsoft.com/office/drawing/2014/main" id="{EC73BF8B-9074-FEFA-90EF-69C858B96F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8700" y="2667000"/>
            <a:ext cx="7086600" cy="14612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83472" tIns="83472" rIns="83472" bIns="83472">
            <a:spAutoFit/>
          </a:bodyPr>
          <a:lstStyle>
            <a:lvl1pPr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1pPr>
            <a:lvl2pPr marL="742950" indent="-28575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2pPr>
            <a:lvl3pPr marL="11430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3pPr>
            <a:lvl4pPr marL="16002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4pPr>
            <a:lvl5pPr marL="20574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5pPr>
            <a:lvl6pPr marL="25146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6pPr>
            <a:lvl7pPr marL="29718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7pPr>
            <a:lvl8pPr marL="34290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8pPr>
            <a:lvl9pPr marL="38862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en-US" sz="2800" b="1" dirty="0"/>
              <a:t>Graph Convolution Network (GCN) Voronoi Lattice Stiffness Optimization Progress Report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9E37CF-52DF-9FCE-ABD6-CA0AF5BD4CA2}"/>
              </a:ext>
            </a:extLst>
          </p:cNvPr>
          <p:cNvSpPr txBox="1"/>
          <p:nvPr/>
        </p:nvSpPr>
        <p:spPr>
          <a:xfrm>
            <a:off x="1333500" y="4442936"/>
            <a:ext cx="6477000" cy="496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en-US" sz="1050" b="1" dirty="0"/>
              <a:t>Alexander Adams </a:t>
            </a:r>
            <a:r>
              <a:rPr lang="en-US" altLang="en-US" sz="1050" b="1" baseline="30000" dirty="0"/>
              <a:t> </a:t>
            </a:r>
            <a:r>
              <a:rPr lang="en-US" altLang="en-US" sz="1050" b="1" dirty="0"/>
              <a:t> </a:t>
            </a:r>
          </a:p>
          <a:p>
            <a:pPr algn="ctr"/>
            <a:r>
              <a:rPr lang="en-US" altLang="en-US" sz="1050" baseline="30000" dirty="0">
                <a:latin typeface="Calibri" pitchFamily="34" charset="0"/>
                <a:ea typeface="Calibri" pitchFamily="34" charset="0"/>
                <a:cs typeface="Calibri" pitchFamily="34" charset="0"/>
              </a:rPr>
              <a:t> </a:t>
            </a:r>
            <a:r>
              <a:rPr lang="en-US" altLang="en-US" sz="1050" dirty="0">
                <a:latin typeface="Calibri" pitchFamily="34" charset="0"/>
                <a:ea typeface="Calibri" pitchFamily="34" charset="0"/>
                <a:cs typeface="Calibri" pitchFamily="34" charset="0"/>
              </a:rPr>
              <a:t>Department of Mechanical Engineering and Materials Science, University of Pittsburgh, Pittsburgh, PA 15260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D81BF-565F-7FF3-7CB6-6F9B243F885D}"/>
              </a:ext>
            </a:extLst>
          </p:cNvPr>
          <p:cNvSpPr txBox="1"/>
          <p:nvPr/>
        </p:nvSpPr>
        <p:spPr>
          <a:xfrm>
            <a:off x="1333500" y="4128236"/>
            <a:ext cx="6477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sz="1050" b="1" dirty="0"/>
              <a:t>June 9</a:t>
            </a:r>
            <a:r>
              <a:rPr lang="en-US" sz="1050" b="1" baseline="30000" dirty="0"/>
              <a:t>th</a:t>
            </a:r>
            <a:r>
              <a:rPr lang="en-US" sz="1050" b="1" dirty="0"/>
              <a:t> 2026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949509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C37E8E-DC5A-2D7E-941E-9988B75C86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2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FACA65-382A-B590-11F9-3C130CA0629C}"/>
              </a:ext>
            </a:extLst>
          </p:cNvPr>
          <p:cNvSpPr txBox="1"/>
          <p:nvPr/>
        </p:nvSpPr>
        <p:spPr>
          <a:xfrm>
            <a:off x="2209800" y="58271"/>
            <a:ext cx="18143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Overview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E392C27B-946D-E8EF-895F-B44763B1C17E}"/>
              </a:ext>
            </a:extLst>
          </p:cNvPr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stiffness of Voronoi lattice structures from graph topology using a Graph Convolutional Network (GCN), trained on 3,000 synthetic FEA simulations (Abaqus). Experiments span 8 phases of optimizer, representation, and objective improvements.</a:t>
            </a:r>
            <a:endParaRPr lang="en-US" sz="1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1BA6DBF-D815-B0C6-C9D3-2B26D68C46DC}"/>
              </a:ext>
            </a:extLst>
          </p:cNvPr>
          <p:cNvSpPr/>
          <p:nvPr/>
        </p:nvSpPr>
        <p:spPr>
          <a:xfrm>
            <a:off x="457200" y="1874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Summary</a:t>
            </a:r>
            <a:endParaRPr lang="en-US" sz="1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C840E15-12F8-5D3B-1F49-308CA0E01721}"/>
              </a:ext>
            </a:extLst>
          </p:cNvPr>
          <p:cNvSpPr/>
          <p:nvPr/>
        </p:nvSpPr>
        <p:spPr>
          <a:xfrm>
            <a:off x="457200" y="2286000"/>
            <a:ext cx="82296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2-layer GCN, Adam optimizer  |  Test R²: 0.9148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1-2: Optimizer comparison (AdamW, SGD)  —  Adam remains best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Weighted edges  |  Prediction-set R²: 0.3637 → 0.4336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Richer node features  |  Test R²: 0.9148 → 0.9403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5: Multi-seed validation  |  Confirms improvement is real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6: Graph-level summary features  |  Mean test R²: 0.9411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7-8: Target normalization  |  Best mean test R²: 0.9447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842392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1EDC-9169-D578-FBA4-4309787C8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7DD621-2C16-38E8-21BB-03E7E04D5A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3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D9F8C-0292-FF88-B8C7-DA8479EBF1EB}"/>
              </a:ext>
            </a:extLst>
          </p:cNvPr>
          <p:cNvSpPr txBox="1"/>
          <p:nvPr/>
        </p:nvSpPr>
        <p:spPr>
          <a:xfrm>
            <a:off x="2209800" y="58271"/>
            <a:ext cx="40296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Configuration</a:t>
            </a: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7400E8B7-0C8A-BE76-68CE-68C3A3261B9A}"/>
              </a:ext>
            </a:extLst>
          </p:cNvPr>
          <p:cNvSpPr/>
          <p:nvPr/>
        </p:nvSpPr>
        <p:spPr>
          <a:xfrm>
            <a:off x="457200" y="1295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B705E4A-EA14-30D3-7A2A-9A0197183719}"/>
              </a:ext>
            </a:extLst>
          </p:cNvPr>
          <p:cNvSpPr/>
          <p:nvPr/>
        </p:nvSpPr>
        <p:spPr>
          <a:xfrm>
            <a:off x="457200" y="1661160"/>
            <a:ext cx="4114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2-layer GCN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dimension: 24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features: x, y coordinates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Optimizer: Adam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decay: 1e-5</a:t>
            </a:r>
            <a:endParaRPr lang="en-US" sz="1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8CB587ED-CCB4-A5BC-87FF-07CCC1610AEA}"/>
              </a:ext>
            </a:extLst>
          </p:cNvPr>
          <p:cNvSpPr/>
          <p:nvPr/>
        </p:nvSpPr>
        <p:spPr>
          <a:xfrm>
            <a:off x="457200" y="33070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Schedule</a:t>
            </a:r>
            <a:endParaRPr lang="en-US" sz="17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EF847E36-2290-EB8B-DF74-18220A7CFA95}"/>
              </a:ext>
            </a:extLst>
          </p:cNvPr>
          <p:cNvSpPr/>
          <p:nvPr/>
        </p:nvSpPr>
        <p:spPr>
          <a:xfrm>
            <a:off x="457200" y="367284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lr = 0.003 for 200 epochs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lr = 0.0005 for 700 epochs</a:t>
            </a:r>
            <a:endParaRPr lang="en-US" sz="14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09C788F-016F-D19E-B092-894B5B56EA40}"/>
              </a:ext>
            </a:extLst>
          </p:cNvPr>
          <p:cNvSpPr/>
          <p:nvPr/>
        </p:nvSpPr>
        <p:spPr>
          <a:xfrm>
            <a:off x="4846320" y="129540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Metrics</a:t>
            </a:r>
            <a:endParaRPr lang="en-US" sz="17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52994B52-F850-9CFD-B709-04B47A3A87AF}"/>
              </a:ext>
            </a:extLst>
          </p:cNvPr>
          <p:cNvSpPr/>
          <p:nvPr/>
        </p:nvSpPr>
        <p:spPr>
          <a:xfrm>
            <a:off x="4846320" y="170688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5DCDD9C8-F1CF-AC98-C846-B3F3487D6264}"/>
              </a:ext>
            </a:extLst>
          </p:cNvPr>
          <p:cNvSpPr/>
          <p:nvPr/>
        </p:nvSpPr>
        <p:spPr>
          <a:xfrm>
            <a:off x="4846320" y="1844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0.8424</a:t>
            </a:r>
            <a:endParaRPr lang="en-US" sz="28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16F3E758-DB50-3BE4-15AA-CCCEB0288328}"/>
              </a:ext>
            </a:extLst>
          </p:cNvPr>
          <p:cNvSpPr/>
          <p:nvPr/>
        </p:nvSpPr>
        <p:spPr>
          <a:xfrm>
            <a:off x="4846320" y="2456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R²</a:t>
            </a:r>
            <a:endParaRPr lang="en-US" sz="1300" dirty="0"/>
          </a:p>
        </p:txBody>
      </p:sp>
      <p:sp>
        <p:nvSpPr>
          <p:cNvPr id="21" name="Shape 12">
            <a:extLst>
              <a:ext uri="{FF2B5EF4-FFF2-40B4-BE49-F238E27FC236}">
                <a16:creationId xmlns:a16="http://schemas.microsoft.com/office/drawing/2014/main" id="{8ADAC03F-EA38-4FDD-014D-A4120442C720}"/>
              </a:ext>
            </a:extLst>
          </p:cNvPr>
          <p:cNvSpPr/>
          <p:nvPr/>
        </p:nvSpPr>
        <p:spPr>
          <a:xfrm>
            <a:off x="6858000" y="170688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7C250057-F43C-D50B-EF20-0C146BC5B644}"/>
              </a:ext>
            </a:extLst>
          </p:cNvPr>
          <p:cNvSpPr/>
          <p:nvPr/>
        </p:nvSpPr>
        <p:spPr>
          <a:xfrm>
            <a:off x="6858000" y="1844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0.9148</a:t>
            </a:r>
            <a:endParaRPr lang="en-US" sz="28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DB5FB70C-BC80-BCA9-2B4A-D93ED0F16DC5}"/>
              </a:ext>
            </a:extLst>
          </p:cNvPr>
          <p:cNvSpPr/>
          <p:nvPr/>
        </p:nvSpPr>
        <p:spPr>
          <a:xfrm>
            <a:off x="6858000" y="2456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</a:t>
            </a:r>
            <a:endParaRPr lang="en-US" sz="1300" dirty="0"/>
          </a:p>
        </p:txBody>
      </p:sp>
      <p:sp>
        <p:nvSpPr>
          <p:cNvPr id="27" name="Shape 15">
            <a:extLst>
              <a:ext uri="{FF2B5EF4-FFF2-40B4-BE49-F238E27FC236}">
                <a16:creationId xmlns:a16="http://schemas.microsoft.com/office/drawing/2014/main" id="{D096C102-F855-0561-870D-AC0AE2F74FFA}"/>
              </a:ext>
            </a:extLst>
          </p:cNvPr>
          <p:cNvSpPr/>
          <p:nvPr/>
        </p:nvSpPr>
        <p:spPr>
          <a:xfrm>
            <a:off x="4846320" y="312420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DD477914-13D0-0D75-81FB-69793DB7B91B}"/>
              </a:ext>
            </a:extLst>
          </p:cNvPr>
          <p:cNvSpPr/>
          <p:nvPr/>
        </p:nvSpPr>
        <p:spPr>
          <a:xfrm>
            <a:off x="4846320" y="32613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0.003818</a:t>
            </a:r>
            <a:endParaRPr lang="en-US" sz="2800" dirty="0"/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E52DB479-7ECB-A957-9AEC-74A6D347F304}"/>
              </a:ext>
            </a:extLst>
          </p:cNvPr>
          <p:cNvSpPr/>
          <p:nvPr/>
        </p:nvSpPr>
        <p:spPr>
          <a:xfrm>
            <a:off x="4846320" y="387400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RMSE</a:t>
            </a:r>
            <a:endParaRPr lang="en-US" sz="1300" dirty="0"/>
          </a:p>
        </p:txBody>
      </p:sp>
      <p:sp>
        <p:nvSpPr>
          <p:cNvPr id="33" name="Shape 18">
            <a:extLst>
              <a:ext uri="{FF2B5EF4-FFF2-40B4-BE49-F238E27FC236}">
                <a16:creationId xmlns:a16="http://schemas.microsoft.com/office/drawing/2014/main" id="{F984F012-8217-9252-A24C-3C3F7BEEB478}"/>
              </a:ext>
            </a:extLst>
          </p:cNvPr>
          <p:cNvSpPr/>
          <p:nvPr/>
        </p:nvSpPr>
        <p:spPr>
          <a:xfrm>
            <a:off x="6858000" y="312420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B3563D17-13D8-4FEE-43F3-6A08B7377ECB}"/>
              </a:ext>
            </a:extLst>
          </p:cNvPr>
          <p:cNvSpPr/>
          <p:nvPr/>
        </p:nvSpPr>
        <p:spPr>
          <a:xfrm>
            <a:off x="6858000" y="32613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0.003003</a:t>
            </a:r>
            <a:endParaRPr lang="en-US" sz="2800" dirty="0"/>
          </a:p>
        </p:txBody>
      </p:sp>
      <p:sp>
        <p:nvSpPr>
          <p:cNvPr id="37" name="Text 20">
            <a:extLst>
              <a:ext uri="{FF2B5EF4-FFF2-40B4-BE49-F238E27FC236}">
                <a16:creationId xmlns:a16="http://schemas.microsoft.com/office/drawing/2014/main" id="{302FE6D8-C5FD-8516-6B77-1442D8880ECB}"/>
              </a:ext>
            </a:extLst>
          </p:cNvPr>
          <p:cNvSpPr/>
          <p:nvPr/>
        </p:nvSpPr>
        <p:spPr>
          <a:xfrm>
            <a:off x="6858000" y="387400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MAE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974416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535C9-7D34-E4FB-2CA5-183FF9843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8F3D51E-55C0-83D2-3209-DB26DD6348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4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D7A5BE-B43F-57C3-3AA0-E5A4AECD9BF8}"/>
              </a:ext>
            </a:extLst>
          </p:cNvPr>
          <p:cNvSpPr txBox="1"/>
          <p:nvPr/>
        </p:nvSpPr>
        <p:spPr>
          <a:xfrm>
            <a:off x="2057400" y="58271"/>
            <a:ext cx="62427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Comparison (Phases 1–2)</a:t>
            </a:r>
            <a:endParaRPr lang="en-US" sz="3200" dirty="0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95A3675C-F4D7-03FC-8FBE-03220FB2DE4D}"/>
              </a:ext>
            </a:extLst>
          </p:cNvPr>
          <p:cNvSpPr/>
          <p:nvPr/>
        </p:nvSpPr>
        <p:spPr>
          <a:xfrm>
            <a:off x="457200" y="11277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Initial Comparison (Flawed)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BF93B27-FA31-43C7-EA50-18D864D41301}"/>
              </a:ext>
            </a:extLst>
          </p:cNvPr>
          <p:cNvSpPr/>
          <p:nvPr/>
        </p:nvSpPr>
        <p:spPr>
          <a:xfrm>
            <a:off x="457200" y="149352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AdamW, SGD + momentum, SGD + Nesterov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Issue: changed hidden_dim, regularization, schedule, and early stopping simultaneously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optimizers performed much worse than</a:t>
            </a:r>
            <a:endParaRPr lang="en-US" sz="1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F10603F-3B4D-4D79-DE53-EB526392862E}"/>
              </a:ext>
            </a:extLst>
          </p:cNvPr>
          <p:cNvSpPr/>
          <p:nvPr/>
        </p:nvSpPr>
        <p:spPr>
          <a:xfrm>
            <a:off x="457200" y="252679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Fair Optimizer Comparison</a:t>
            </a:r>
            <a:endParaRPr lang="en-US" sz="1700" dirty="0"/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C3785040-C22D-44FA-D3F1-D0673DC20B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2875647"/>
              </p:ext>
            </p:extLst>
          </p:nvPr>
        </p:nvGraphicFramePr>
        <p:xfrm>
          <a:off x="457200" y="2910840"/>
          <a:ext cx="8229600" cy="21945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 (control)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— matches baseline exactly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Substantially worse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SGD + Momentum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 below 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SGD + Nesterov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 below 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16301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6AA50-A08F-B629-B096-CC6998309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D16FB0-11E8-8D6C-F34C-C6D623FBBE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5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48C71C-2D6D-233F-FA85-C83F4D5BB414}"/>
              </a:ext>
            </a:extLst>
          </p:cNvPr>
          <p:cNvSpPr txBox="1"/>
          <p:nvPr/>
        </p:nvSpPr>
        <p:spPr>
          <a:xfrm>
            <a:off x="2209800" y="58271"/>
            <a:ext cx="45157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Phase 3 (Weighted Edges)</a:t>
            </a: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4AA2592A-C0F6-64F9-26EA-3B0F0F9DE927}"/>
              </a:ext>
            </a:extLst>
          </p:cNvPr>
          <p:cNvSpPr/>
          <p:nvPr/>
        </p:nvSpPr>
        <p:spPr>
          <a:xfrm>
            <a:off x="457200" y="10637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5EBCFFC-8B81-C90E-BFBE-7F3651539539}"/>
              </a:ext>
            </a:extLst>
          </p:cNvPr>
          <p:cNvSpPr/>
          <p:nvPr/>
        </p:nvSpPr>
        <p:spPr>
          <a:xfrm>
            <a:off x="457200" y="1429512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adjacency_area.csv used as weighted connectivity instead of binary edges only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edge_weight passed into both GCNConv layers</a:t>
            </a:r>
            <a:endParaRPr lang="en-US" sz="1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3B4EA1ED-9708-C6C6-4ECD-2F96FCCE1E22}"/>
              </a:ext>
            </a:extLst>
          </p:cNvPr>
          <p:cNvSpPr/>
          <p:nvPr/>
        </p:nvSpPr>
        <p:spPr>
          <a:xfrm>
            <a:off x="457200" y="229819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Impact</a:t>
            </a:r>
            <a:endParaRPr lang="en-US" sz="17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3FB1631B-BF77-3644-FA85-1D0B6DDD88AC}"/>
              </a:ext>
            </a:extLst>
          </p:cNvPr>
          <p:cNvSpPr/>
          <p:nvPr/>
        </p:nvSpPr>
        <p:spPr>
          <a:xfrm>
            <a:off x="457200" y="275539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Test R²</a:t>
            </a:r>
            <a:endParaRPr lang="en-US" sz="140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C574721F-260B-E472-6432-0119C435AFD1}"/>
              </a:ext>
            </a:extLst>
          </p:cNvPr>
          <p:cNvSpPr/>
          <p:nvPr/>
        </p:nvSpPr>
        <p:spPr>
          <a:xfrm>
            <a:off x="3291840" y="2828544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0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5FB7385C-EE9D-4436-AB78-FE252C5BB07C}"/>
              </a:ext>
            </a:extLst>
          </p:cNvPr>
          <p:cNvSpPr/>
          <p:nvPr/>
        </p:nvSpPr>
        <p:spPr>
          <a:xfrm>
            <a:off x="3291840" y="28285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0.9148</a:t>
            </a:r>
            <a:endParaRPr lang="en-US" sz="160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1013A7C6-8953-BE42-1ABA-D37177C9CFFF}"/>
              </a:ext>
            </a:extLst>
          </p:cNvPr>
          <p:cNvSpPr/>
          <p:nvPr/>
        </p:nvSpPr>
        <p:spPr>
          <a:xfrm>
            <a:off x="4663440" y="2828544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1">
            <a:extLst>
              <a:ext uri="{FF2B5EF4-FFF2-40B4-BE49-F238E27FC236}">
                <a16:creationId xmlns:a16="http://schemas.microsoft.com/office/drawing/2014/main" id="{A0E7B111-DBC9-3248-50A0-E5ABCC03142C}"/>
              </a:ext>
            </a:extLst>
          </p:cNvPr>
          <p:cNvSpPr/>
          <p:nvPr/>
        </p:nvSpPr>
        <p:spPr>
          <a:xfrm>
            <a:off x="5212080" y="2828544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0F0F0"/>
          </a:solidFill>
          <a:ln w="12700">
            <a:solidFill>
              <a:srgbClr val="F0F0F0"/>
            </a:solidFill>
            <a:prstDash val="solid"/>
          </a:ln>
        </p:spPr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3A594312-2954-4E67-D6A2-9548EAE8E0D7}"/>
              </a:ext>
            </a:extLst>
          </p:cNvPr>
          <p:cNvSpPr/>
          <p:nvPr/>
        </p:nvSpPr>
        <p:spPr>
          <a:xfrm>
            <a:off x="5212080" y="28285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0.9113</a:t>
            </a:r>
            <a:endParaRPr lang="en-US" sz="1600" dirty="0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9BAF896E-6050-BA83-64CB-50C996FB348B}"/>
              </a:ext>
            </a:extLst>
          </p:cNvPr>
          <p:cNvSpPr/>
          <p:nvPr/>
        </p:nvSpPr>
        <p:spPr>
          <a:xfrm>
            <a:off x="457200" y="3560064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Pred-Set R²</a:t>
            </a:r>
            <a:endParaRPr lang="en-US" sz="1400" dirty="0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9EB4D642-FA9F-30E4-FC41-451BFCD9A64B}"/>
              </a:ext>
            </a:extLst>
          </p:cNvPr>
          <p:cNvSpPr/>
          <p:nvPr/>
        </p:nvSpPr>
        <p:spPr>
          <a:xfrm>
            <a:off x="3291840" y="3633216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0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3FC3B20B-C3FF-8946-6A53-DD164779D312}"/>
              </a:ext>
            </a:extLst>
          </p:cNvPr>
          <p:cNvSpPr/>
          <p:nvPr/>
        </p:nvSpPr>
        <p:spPr>
          <a:xfrm>
            <a:off x="3291840" y="3633216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0.3637</a:t>
            </a:r>
            <a:endParaRPr lang="en-US" sz="1600" dirty="0"/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D5C5D2D1-53F3-470D-589B-C0D503892BA6}"/>
              </a:ext>
            </a:extLst>
          </p:cNvPr>
          <p:cNvSpPr/>
          <p:nvPr/>
        </p:nvSpPr>
        <p:spPr>
          <a:xfrm>
            <a:off x="4663440" y="3633216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31" name="Shape 17">
            <a:extLst>
              <a:ext uri="{FF2B5EF4-FFF2-40B4-BE49-F238E27FC236}">
                <a16:creationId xmlns:a16="http://schemas.microsoft.com/office/drawing/2014/main" id="{44373610-48C6-F9DE-E6E2-554ECFF95BE7}"/>
              </a:ext>
            </a:extLst>
          </p:cNvPr>
          <p:cNvSpPr/>
          <p:nvPr/>
        </p:nvSpPr>
        <p:spPr>
          <a:xfrm>
            <a:off x="5212080" y="3633216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D4EDDA"/>
          </a:solidFill>
          <a:ln w="12700">
            <a:solidFill>
              <a:srgbClr val="D4EDDA"/>
            </a:solidFill>
            <a:prstDash val="solid"/>
          </a:ln>
        </p:spPr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E54B7133-ECF8-0CCD-933F-411FCD59B619}"/>
              </a:ext>
            </a:extLst>
          </p:cNvPr>
          <p:cNvSpPr/>
          <p:nvPr/>
        </p:nvSpPr>
        <p:spPr>
          <a:xfrm>
            <a:off x="5212080" y="3633216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0.4336</a:t>
            </a:r>
            <a:endParaRPr lang="en-US" sz="160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DBD86AFB-D74D-AA30-5036-6B53C4C32BE5}"/>
              </a:ext>
            </a:extLst>
          </p:cNvPr>
          <p:cNvSpPr/>
          <p:nvPr/>
        </p:nvSpPr>
        <p:spPr>
          <a:xfrm>
            <a:off x="457200" y="4364736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Test R²</a:t>
            </a:r>
            <a:endParaRPr lang="en-US" sz="1400" dirty="0"/>
          </a:p>
        </p:txBody>
      </p:sp>
      <p:sp>
        <p:nvSpPr>
          <p:cNvPr id="37" name="Shape 20">
            <a:extLst>
              <a:ext uri="{FF2B5EF4-FFF2-40B4-BE49-F238E27FC236}">
                <a16:creationId xmlns:a16="http://schemas.microsoft.com/office/drawing/2014/main" id="{268FC36B-61A8-259A-AB59-EF5DB50413E9}"/>
              </a:ext>
            </a:extLst>
          </p:cNvPr>
          <p:cNvSpPr/>
          <p:nvPr/>
        </p:nvSpPr>
        <p:spPr>
          <a:xfrm>
            <a:off x="3291840" y="4437888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0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9" name="Text 21">
            <a:extLst>
              <a:ext uri="{FF2B5EF4-FFF2-40B4-BE49-F238E27FC236}">
                <a16:creationId xmlns:a16="http://schemas.microsoft.com/office/drawing/2014/main" id="{34B710E1-0CDF-6686-C2C0-C8D1F106357C}"/>
              </a:ext>
            </a:extLst>
          </p:cNvPr>
          <p:cNvSpPr/>
          <p:nvPr/>
        </p:nvSpPr>
        <p:spPr>
          <a:xfrm>
            <a:off x="3291840" y="4437888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0.5101</a:t>
            </a:r>
            <a:endParaRPr lang="en-US" sz="1600" dirty="0"/>
          </a:p>
        </p:txBody>
      </p:sp>
      <p:sp>
        <p:nvSpPr>
          <p:cNvPr id="41" name="Text 22">
            <a:extLst>
              <a:ext uri="{FF2B5EF4-FFF2-40B4-BE49-F238E27FC236}">
                <a16:creationId xmlns:a16="http://schemas.microsoft.com/office/drawing/2014/main" id="{02492A80-A2BA-5CCE-4A34-43A3CFDFE5E0}"/>
              </a:ext>
            </a:extLst>
          </p:cNvPr>
          <p:cNvSpPr/>
          <p:nvPr/>
        </p:nvSpPr>
        <p:spPr>
          <a:xfrm>
            <a:off x="4663440" y="4437888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43" name="Shape 23">
            <a:extLst>
              <a:ext uri="{FF2B5EF4-FFF2-40B4-BE49-F238E27FC236}">
                <a16:creationId xmlns:a16="http://schemas.microsoft.com/office/drawing/2014/main" id="{9A1C64A0-96EC-1701-4A22-602983C77D6F}"/>
              </a:ext>
            </a:extLst>
          </p:cNvPr>
          <p:cNvSpPr/>
          <p:nvPr/>
        </p:nvSpPr>
        <p:spPr>
          <a:xfrm>
            <a:off x="5212080" y="4437888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D4EDDA"/>
          </a:solidFill>
          <a:ln w="12700">
            <a:solidFill>
              <a:srgbClr val="D4EDDA"/>
            </a:solidFill>
            <a:prstDash val="solid"/>
          </a:ln>
        </p:spPr>
      </p:sp>
      <p:sp>
        <p:nvSpPr>
          <p:cNvPr id="45" name="Text 24">
            <a:extLst>
              <a:ext uri="{FF2B5EF4-FFF2-40B4-BE49-F238E27FC236}">
                <a16:creationId xmlns:a16="http://schemas.microsoft.com/office/drawing/2014/main" id="{D2888E62-4DEF-FE36-90FB-9AFB19D9A442}"/>
              </a:ext>
            </a:extLst>
          </p:cNvPr>
          <p:cNvSpPr/>
          <p:nvPr/>
        </p:nvSpPr>
        <p:spPr>
          <a:xfrm>
            <a:off x="5212080" y="4437888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0.5560</a:t>
            </a:r>
            <a:endParaRPr lang="en-US" sz="1600" dirty="0"/>
          </a:p>
        </p:txBody>
      </p:sp>
      <p:sp>
        <p:nvSpPr>
          <p:cNvPr id="47" name="Text 25">
            <a:extLst>
              <a:ext uri="{FF2B5EF4-FFF2-40B4-BE49-F238E27FC236}">
                <a16:creationId xmlns:a16="http://schemas.microsoft.com/office/drawing/2014/main" id="{3C4332ED-BD0C-46CB-47E8-179CBA9B1BF8}"/>
              </a:ext>
            </a:extLst>
          </p:cNvPr>
          <p:cNvSpPr/>
          <p:nvPr/>
        </p:nvSpPr>
        <p:spPr>
          <a:xfrm>
            <a:off x="457200" y="4949952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Weighted edges preserve real graph information and improve out-of-distribution behavior somewhat, but do not move the held-out test ceiling. Retained for all future runs.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935934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D3858-0E44-2A04-8BCD-A524B965F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4E5217-2E6A-9F70-988A-6B578895AE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6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13A8D8-7835-1A3E-591D-70DBB15E7F82}"/>
              </a:ext>
            </a:extLst>
          </p:cNvPr>
          <p:cNvSpPr txBox="1"/>
          <p:nvPr/>
        </p:nvSpPr>
        <p:spPr>
          <a:xfrm>
            <a:off x="2209800" y="58271"/>
            <a:ext cx="53447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Richer Node Features</a:t>
            </a:r>
            <a:endParaRPr lang="en-US" sz="3200" dirty="0"/>
          </a:p>
        </p:txBody>
      </p:sp>
      <p:sp>
        <p:nvSpPr>
          <p:cNvPr id="49" name="Text 4">
            <a:extLst>
              <a:ext uri="{FF2B5EF4-FFF2-40B4-BE49-F238E27FC236}">
                <a16:creationId xmlns:a16="http://schemas.microsoft.com/office/drawing/2014/main" id="{B28E784E-87DC-C54C-22BD-682CB25A3137}"/>
              </a:ext>
            </a:extLst>
          </p:cNvPr>
          <p:cNvSpPr/>
          <p:nvPr/>
        </p:nvSpPr>
        <p:spPr>
          <a:xfrm>
            <a:off x="457200" y="16764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Features Added</a:t>
            </a:r>
            <a:endParaRPr lang="en-US" sz="1700" dirty="0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8D65B4E3-5E10-D69C-7324-68C65E706B26}"/>
              </a:ext>
            </a:extLst>
          </p:cNvPr>
          <p:cNvSpPr/>
          <p:nvPr/>
        </p:nvSpPr>
        <p:spPr>
          <a:xfrm>
            <a:off x="457200" y="2060448"/>
            <a:ext cx="4206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x, y coordinates (original)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degree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degree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from specimen center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indicator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incident edge length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incident edge length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incident edge weight</a:t>
            </a:r>
            <a:endParaRPr lang="en-US" sz="1300" dirty="0"/>
          </a:p>
        </p:txBody>
      </p:sp>
      <p:sp>
        <p:nvSpPr>
          <p:cNvPr id="53" name="Text 6">
            <a:extLst>
              <a:ext uri="{FF2B5EF4-FFF2-40B4-BE49-F238E27FC236}">
                <a16:creationId xmlns:a16="http://schemas.microsoft.com/office/drawing/2014/main" id="{BEA4F048-9FE1-58A2-1C08-FCAAECD48B86}"/>
              </a:ext>
            </a:extLst>
          </p:cNvPr>
          <p:cNvSpPr/>
          <p:nvPr/>
        </p:nvSpPr>
        <p:spPr>
          <a:xfrm>
            <a:off x="4846320" y="167640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vs. Baseline</a:t>
            </a:r>
            <a:endParaRPr lang="en-US" sz="1700" dirty="0"/>
          </a:p>
        </p:txBody>
      </p:sp>
      <p:sp>
        <p:nvSpPr>
          <p:cNvPr id="55" name="Shape 7">
            <a:extLst>
              <a:ext uri="{FF2B5EF4-FFF2-40B4-BE49-F238E27FC236}">
                <a16:creationId xmlns:a16="http://schemas.microsoft.com/office/drawing/2014/main" id="{8400BE05-4D3D-4263-27F7-099276D4948C}"/>
              </a:ext>
            </a:extLst>
          </p:cNvPr>
          <p:cNvSpPr/>
          <p:nvPr/>
        </p:nvSpPr>
        <p:spPr>
          <a:xfrm>
            <a:off x="4846320" y="206044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DF18F43C-966A-73E5-DC91-19FE447801ED}"/>
              </a:ext>
            </a:extLst>
          </p:cNvPr>
          <p:cNvSpPr/>
          <p:nvPr/>
        </p:nvSpPr>
        <p:spPr>
          <a:xfrm>
            <a:off x="4846320" y="2133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R²</a:t>
            </a:r>
            <a:endParaRPr lang="en-US" sz="1200" dirty="0"/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17A80E6A-F9FE-0C16-96B9-DF5A3E76939E}"/>
              </a:ext>
            </a:extLst>
          </p:cNvPr>
          <p:cNvSpPr/>
          <p:nvPr/>
        </p:nvSpPr>
        <p:spPr>
          <a:xfrm>
            <a:off x="4846320" y="2407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0.8424 →</a:t>
            </a:r>
            <a:endParaRPr lang="en-US" sz="1100" dirty="0"/>
          </a:p>
        </p:txBody>
      </p:sp>
      <p:sp>
        <p:nvSpPr>
          <p:cNvPr id="61" name="Text 10">
            <a:extLst>
              <a:ext uri="{FF2B5EF4-FFF2-40B4-BE49-F238E27FC236}">
                <a16:creationId xmlns:a16="http://schemas.microsoft.com/office/drawing/2014/main" id="{A924E58D-9CD4-4AAB-4F71-6AAD23D5B5DF}"/>
              </a:ext>
            </a:extLst>
          </p:cNvPr>
          <p:cNvSpPr/>
          <p:nvPr/>
        </p:nvSpPr>
        <p:spPr>
          <a:xfrm>
            <a:off x="4846320" y="266395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0.9386</a:t>
            </a:r>
            <a:endParaRPr lang="en-US" sz="2200" dirty="0"/>
          </a:p>
        </p:txBody>
      </p:sp>
      <p:sp>
        <p:nvSpPr>
          <p:cNvPr id="63" name="Shape 11">
            <a:extLst>
              <a:ext uri="{FF2B5EF4-FFF2-40B4-BE49-F238E27FC236}">
                <a16:creationId xmlns:a16="http://schemas.microsoft.com/office/drawing/2014/main" id="{85F72764-6A79-F0A5-8D08-8E55D53F0C13}"/>
              </a:ext>
            </a:extLst>
          </p:cNvPr>
          <p:cNvSpPr/>
          <p:nvPr/>
        </p:nvSpPr>
        <p:spPr>
          <a:xfrm>
            <a:off x="6858000" y="206044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65" name="Text 12">
            <a:extLst>
              <a:ext uri="{FF2B5EF4-FFF2-40B4-BE49-F238E27FC236}">
                <a16:creationId xmlns:a16="http://schemas.microsoft.com/office/drawing/2014/main" id="{406FDFF2-A1A2-931F-23D1-EFBFA192D4AC}"/>
              </a:ext>
            </a:extLst>
          </p:cNvPr>
          <p:cNvSpPr/>
          <p:nvPr/>
        </p:nvSpPr>
        <p:spPr>
          <a:xfrm>
            <a:off x="6858000" y="2133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</a:t>
            </a:r>
            <a:endParaRPr lang="en-US" sz="1200" dirty="0"/>
          </a:p>
        </p:txBody>
      </p:sp>
      <p:sp>
        <p:nvSpPr>
          <p:cNvPr id="67" name="Text 13">
            <a:extLst>
              <a:ext uri="{FF2B5EF4-FFF2-40B4-BE49-F238E27FC236}">
                <a16:creationId xmlns:a16="http://schemas.microsoft.com/office/drawing/2014/main" id="{4CEA08FC-DB70-C024-B01D-BACE21834B69}"/>
              </a:ext>
            </a:extLst>
          </p:cNvPr>
          <p:cNvSpPr/>
          <p:nvPr/>
        </p:nvSpPr>
        <p:spPr>
          <a:xfrm>
            <a:off x="6858000" y="2407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0.9148 →</a:t>
            </a:r>
            <a:endParaRPr lang="en-US" sz="1100" dirty="0"/>
          </a:p>
        </p:txBody>
      </p:sp>
      <p:sp>
        <p:nvSpPr>
          <p:cNvPr id="69" name="Text 14">
            <a:extLst>
              <a:ext uri="{FF2B5EF4-FFF2-40B4-BE49-F238E27FC236}">
                <a16:creationId xmlns:a16="http://schemas.microsoft.com/office/drawing/2014/main" id="{AA6E15E0-70BE-133F-B720-D27EBD6CCDF6}"/>
              </a:ext>
            </a:extLst>
          </p:cNvPr>
          <p:cNvSpPr/>
          <p:nvPr/>
        </p:nvSpPr>
        <p:spPr>
          <a:xfrm>
            <a:off x="6858000" y="266395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0.9403</a:t>
            </a:r>
            <a:endParaRPr lang="en-US" sz="2200" dirty="0"/>
          </a:p>
        </p:txBody>
      </p:sp>
      <p:sp>
        <p:nvSpPr>
          <p:cNvPr id="71" name="Shape 15">
            <a:extLst>
              <a:ext uri="{FF2B5EF4-FFF2-40B4-BE49-F238E27FC236}">
                <a16:creationId xmlns:a16="http://schemas.microsoft.com/office/drawing/2014/main" id="{63BBD743-FCF4-C317-B84A-531ABD5BE8C6}"/>
              </a:ext>
            </a:extLst>
          </p:cNvPr>
          <p:cNvSpPr/>
          <p:nvPr/>
        </p:nvSpPr>
        <p:spPr>
          <a:xfrm>
            <a:off x="4846320" y="347776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73" name="Text 16">
            <a:extLst>
              <a:ext uri="{FF2B5EF4-FFF2-40B4-BE49-F238E27FC236}">
                <a16:creationId xmlns:a16="http://schemas.microsoft.com/office/drawing/2014/main" id="{28E0E545-D32A-9131-647C-E06812B8140A}"/>
              </a:ext>
            </a:extLst>
          </p:cNvPr>
          <p:cNvSpPr/>
          <p:nvPr/>
        </p:nvSpPr>
        <p:spPr>
          <a:xfrm>
            <a:off x="4846320" y="3550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RMSE</a:t>
            </a:r>
            <a:endParaRPr lang="en-US" sz="1200" dirty="0"/>
          </a:p>
        </p:txBody>
      </p:sp>
      <p:sp>
        <p:nvSpPr>
          <p:cNvPr id="75" name="Text 17">
            <a:extLst>
              <a:ext uri="{FF2B5EF4-FFF2-40B4-BE49-F238E27FC236}">
                <a16:creationId xmlns:a16="http://schemas.microsoft.com/office/drawing/2014/main" id="{A341B0E1-17E7-4054-5C45-BEB0A93CAC24}"/>
              </a:ext>
            </a:extLst>
          </p:cNvPr>
          <p:cNvSpPr/>
          <p:nvPr/>
        </p:nvSpPr>
        <p:spPr>
          <a:xfrm>
            <a:off x="4846320" y="3825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0.003818 →</a:t>
            </a:r>
            <a:endParaRPr lang="en-US" sz="1100" dirty="0"/>
          </a:p>
        </p:txBody>
      </p:sp>
      <p:sp>
        <p:nvSpPr>
          <p:cNvPr id="77" name="Text 18">
            <a:extLst>
              <a:ext uri="{FF2B5EF4-FFF2-40B4-BE49-F238E27FC236}">
                <a16:creationId xmlns:a16="http://schemas.microsoft.com/office/drawing/2014/main" id="{9E67E319-22B4-AC7E-F2A3-72BBAE50CF50}"/>
              </a:ext>
            </a:extLst>
          </p:cNvPr>
          <p:cNvSpPr/>
          <p:nvPr/>
        </p:nvSpPr>
        <p:spPr>
          <a:xfrm>
            <a:off x="4846320" y="40812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0.003197</a:t>
            </a:r>
            <a:endParaRPr lang="en-US" sz="2200" dirty="0"/>
          </a:p>
        </p:txBody>
      </p:sp>
      <p:sp>
        <p:nvSpPr>
          <p:cNvPr id="79" name="Shape 19">
            <a:extLst>
              <a:ext uri="{FF2B5EF4-FFF2-40B4-BE49-F238E27FC236}">
                <a16:creationId xmlns:a16="http://schemas.microsoft.com/office/drawing/2014/main" id="{E9910FBA-3DBE-2608-1AA0-11B9BA027327}"/>
              </a:ext>
            </a:extLst>
          </p:cNvPr>
          <p:cNvSpPr/>
          <p:nvPr/>
        </p:nvSpPr>
        <p:spPr>
          <a:xfrm>
            <a:off x="6858000" y="347776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81" name="Text 20">
            <a:extLst>
              <a:ext uri="{FF2B5EF4-FFF2-40B4-BE49-F238E27FC236}">
                <a16:creationId xmlns:a16="http://schemas.microsoft.com/office/drawing/2014/main" id="{4E5F4108-39AC-7865-8526-60E6FB4A4BA2}"/>
              </a:ext>
            </a:extLst>
          </p:cNvPr>
          <p:cNvSpPr/>
          <p:nvPr/>
        </p:nvSpPr>
        <p:spPr>
          <a:xfrm>
            <a:off x="6858000" y="3550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MAE</a:t>
            </a:r>
            <a:endParaRPr lang="en-US" sz="1200" dirty="0"/>
          </a:p>
        </p:txBody>
      </p:sp>
      <p:sp>
        <p:nvSpPr>
          <p:cNvPr id="83" name="Text 21">
            <a:extLst>
              <a:ext uri="{FF2B5EF4-FFF2-40B4-BE49-F238E27FC236}">
                <a16:creationId xmlns:a16="http://schemas.microsoft.com/office/drawing/2014/main" id="{183C820D-427A-089F-EE08-4B59ED1B238A}"/>
              </a:ext>
            </a:extLst>
          </p:cNvPr>
          <p:cNvSpPr/>
          <p:nvPr/>
        </p:nvSpPr>
        <p:spPr>
          <a:xfrm>
            <a:off x="6858000" y="3825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0.003003 →</a:t>
            </a:r>
            <a:endParaRPr lang="en-US" sz="1100" dirty="0"/>
          </a:p>
        </p:txBody>
      </p:sp>
      <p:sp>
        <p:nvSpPr>
          <p:cNvPr id="85" name="Text 22">
            <a:extLst>
              <a:ext uri="{FF2B5EF4-FFF2-40B4-BE49-F238E27FC236}">
                <a16:creationId xmlns:a16="http://schemas.microsoft.com/office/drawing/2014/main" id="{A57B46C2-2481-E0D4-E42E-B34412A877DB}"/>
              </a:ext>
            </a:extLst>
          </p:cNvPr>
          <p:cNvSpPr/>
          <p:nvPr/>
        </p:nvSpPr>
        <p:spPr>
          <a:xfrm>
            <a:off x="6858000" y="40812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0.002448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7225529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96E8E-2597-2AB8-8430-C69211BEB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63A027-57F0-3E0A-D252-59995832A7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7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98A40F-E2B1-FEC3-469F-F86B8EBA44C2}"/>
              </a:ext>
            </a:extLst>
          </p:cNvPr>
          <p:cNvSpPr txBox="1"/>
          <p:nvPr/>
        </p:nvSpPr>
        <p:spPr>
          <a:xfrm>
            <a:off x="2209800" y="58271"/>
            <a:ext cx="53968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5: Multi-Seed Validation</a:t>
            </a:r>
            <a:endParaRPr lang="en-US" sz="3200" dirty="0"/>
          </a:p>
        </p:txBody>
      </p:sp>
      <p:sp>
        <p:nvSpPr>
          <p:cNvPr id="49" name="Text 4">
            <a:extLst>
              <a:ext uri="{FF2B5EF4-FFF2-40B4-BE49-F238E27FC236}">
                <a16:creationId xmlns:a16="http://schemas.microsoft.com/office/drawing/2014/main" id="{6FA9E2C2-698E-3D80-1ABA-80937606FEFF}"/>
              </a:ext>
            </a:extLst>
          </p:cNvPr>
          <p:cNvSpPr/>
          <p:nvPr/>
        </p:nvSpPr>
        <p:spPr>
          <a:xfrm>
            <a:off x="457200" y="12192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700" dirty="0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C267B7BE-A8CE-D46D-A7EB-D40299B48D89}"/>
              </a:ext>
            </a:extLst>
          </p:cNvPr>
          <p:cNvSpPr/>
          <p:nvPr/>
        </p:nvSpPr>
        <p:spPr>
          <a:xfrm>
            <a:off x="457200" y="158496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richer-feature Adam baseline across multiple random seeds to confirm the improvement is stable and not a lucky split.</a:t>
            </a:r>
            <a:endParaRPr lang="en-US" sz="1400" dirty="0"/>
          </a:p>
        </p:txBody>
      </p:sp>
      <p:sp>
        <p:nvSpPr>
          <p:cNvPr id="53" name="Text 6">
            <a:extLst>
              <a:ext uri="{FF2B5EF4-FFF2-40B4-BE49-F238E27FC236}">
                <a16:creationId xmlns:a16="http://schemas.microsoft.com/office/drawing/2014/main" id="{6CE2C47A-0677-BD40-0D4A-6F9F2C6EE910}"/>
              </a:ext>
            </a:extLst>
          </p:cNvPr>
          <p:cNvSpPr/>
          <p:nvPr/>
        </p:nvSpPr>
        <p:spPr>
          <a:xfrm>
            <a:off x="457200" y="21336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Results (Richer Node Features)</a:t>
            </a:r>
            <a:endParaRPr lang="en-US" sz="1700" dirty="0"/>
          </a:p>
        </p:txBody>
      </p:sp>
      <p:sp>
        <p:nvSpPr>
          <p:cNvPr id="55" name="Shape 7">
            <a:extLst>
              <a:ext uri="{FF2B5EF4-FFF2-40B4-BE49-F238E27FC236}">
                <a16:creationId xmlns:a16="http://schemas.microsoft.com/office/drawing/2014/main" id="{B81B0911-D593-DA4E-6775-D3FB3275D422}"/>
              </a:ext>
            </a:extLst>
          </p:cNvPr>
          <p:cNvSpPr/>
          <p:nvPr/>
        </p:nvSpPr>
        <p:spPr>
          <a:xfrm>
            <a:off x="457200" y="254508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27D64D81-C0CD-E2CA-F41F-125759D4BD8C}"/>
              </a:ext>
            </a:extLst>
          </p:cNvPr>
          <p:cNvSpPr/>
          <p:nvPr/>
        </p:nvSpPr>
        <p:spPr>
          <a:xfrm>
            <a:off x="457200" y="26822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0.9414</a:t>
            </a:r>
            <a:endParaRPr lang="en-US" sz="2600" dirty="0"/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4EAFB59D-F891-6E1D-EAB6-FBCDAB289CC7}"/>
              </a:ext>
            </a:extLst>
          </p:cNvPr>
          <p:cNvSpPr/>
          <p:nvPr/>
        </p:nvSpPr>
        <p:spPr>
          <a:xfrm>
            <a:off x="457200" y="320344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Val R²</a:t>
            </a:r>
            <a:endParaRPr lang="en-US" sz="1200" dirty="0"/>
          </a:p>
        </p:txBody>
      </p:sp>
      <p:sp>
        <p:nvSpPr>
          <p:cNvPr id="61" name="Shape 10">
            <a:extLst>
              <a:ext uri="{FF2B5EF4-FFF2-40B4-BE49-F238E27FC236}">
                <a16:creationId xmlns:a16="http://schemas.microsoft.com/office/drawing/2014/main" id="{34D451EB-6844-978E-AB56-D55CBA9DE785}"/>
              </a:ext>
            </a:extLst>
          </p:cNvPr>
          <p:cNvSpPr/>
          <p:nvPr/>
        </p:nvSpPr>
        <p:spPr>
          <a:xfrm>
            <a:off x="2606040" y="254508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63" name="Text 11">
            <a:extLst>
              <a:ext uri="{FF2B5EF4-FFF2-40B4-BE49-F238E27FC236}">
                <a16:creationId xmlns:a16="http://schemas.microsoft.com/office/drawing/2014/main" id="{F3E93B24-469B-17CD-0AD7-4DBD2400F36C}"/>
              </a:ext>
            </a:extLst>
          </p:cNvPr>
          <p:cNvSpPr/>
          <p:nvPr/>
        </p:nvSpPr>
        <p:spPr>
          <a:xfrm>
            <a:off x="2606040" y="26822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0.9380</a:t>
            </a:r>
            <a:endParaRPr lang="en-US" sz="2600" dirty="0"/>
          </a:p>
        </p:txBody>
      </p:sp>
      <p:sp>
        <p:nvSpPr>
          <p:cNvPr id="65" name="Text 12">
            <a:extLst>
              <a:ext uri="{FF2B5EF4-FFF2-40B4-BE49-F238E27FC236}">
                <a16:creationId xmlns:a16="http://schemas.microsoft.com/office/drawing/2014/main" id="{49836524-B627-0805-FEDB-B722DC04CBBE}"/>
              </a:ext>
            </a:extLst>
          </p:cNvPr>
          <p:cNvSpPr/>
          <p:nvPr/>
        </p:nvSpPr>
        <p:spPr>
          <a:xfrm>
            <a:off x="2606040" y="320344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Test R²</a:t>
            </a:r>
            <a:endParaRPr lang="en-US" sz="1200" dirty="0"/>
          </a:p>
        </p:txBody>
      </p:sp>
      <p:sp>
        <p:nvSpPr>
          <p:cNvPr id="67" name="Shape 13">
            <a:extLst>
              <a:ext uri="{FF2B5EF4-FFF2-40B4-BE49-F238E27FC236}">
                <a16:creationId xmlns:a16="http://schemas.microsoft.com/office/drawing/2014/main" id="{0D80B18F-060E-A286-ABD3-A5A73A55AA06}"/>
              </a:ext>
            </a:extLst>
          </p:cNvPr>
          <p:cNvSpPr/>
          <p:nvPr/>
        </p:nvSpPr>
        <p:spPr>
          <a:xfrm>
            <a:off x="4754880" y="254508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69" name="Text 14">
            <a:extLst>
              <a:ext uri="{FF2B5EF4-FFF2-40B4-BE49-F238E27FC236}">
                <a16:creationId xmlns:a16="http://schemas.microsoft.com/office/drawing/2014/main" id="{C698B445-CF9C-1E2F-6C55-5EED9710D835}"/>
              </a:ext>
            </a:extLst>
          </p:cNvPr>
          <p:cNvSpPr/>
          <p:nvPr/>
        </p:nvSpPr>
        <p:spPr>
          <a:xfrm>
            <a:off x="4754880" y="26822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0.003086</a:t>
            </a:r>
            <a:endParaRPr lang="en-US" sz="2600" dirty="0"/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16F4EC46-722E-CBA3-62A7-F72E132DA8C2}"/>
              </a:ext>
            </a:extLst>
          </p:cNvPr>
          <p:cNvSpPr/>
          <p:nvPr/>
        </p:nvSpPr>
        <p:spPr>
          <a:xfrm>
            <a:off x="4754880" y="320344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Test RMSE</a:t>
            </a:r>
            <a:endParaRPr lang="en-US" sz="1200" dirty="0"/>
          </a:p>
        </p:txBody>
      </p:sp>
      <p:sp>
        <p:nvSpPr>
          <p:cNvPr id="73" name="Shape 16">
            <a:extLst>
              <a:ext uri="{FF2B5EF4-FFF2-40B4-BE49-F238E27FC236}">
                <a16:creationId xmlns:a16="http://schemas.microsoft.com/office/drawing/2014/main" id="{55C14C85-A838-4680-3664-78E5BC8E6350}"/>
              </a:ext>
            </a:extLst>
          </p:cNvPr>
          <p:cNvSpPr/>
          <p:nvPr/>
        </p:nvSpPr>
        <p:spPr>
          <a:xfrm>
            <a:off x="6903720" y="254508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75" name="Text 17">
            <a:extLst>
              <a:ext uri="{FF2B5EF4-FFF2-40B4-BE49-F238E27FC236}">
                <a16:creationId xmlns:a16="http://schemas.microsoft.com/office/drawing/2014/main" id="{0C417708-7E08-7AED-1742-D7860D9CAEAB}"/>
              </a:ext>
            </a:extLst>
          </p:cNvPr>
          <p:cNvSpPr/>
          <p:nvPr/>
        </p:nvSpPr>
        <p:spPr>
          <a:xfrm>
            <a:off x="6903720" y="26822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0.4964</a:t>
            </a:r>
            <a:endParaRPr lang="en-US" sz="2600" dirty="0"/>
          </a:p>
        </p:txBody>
      </p:sp>
      <p:sp>
        <p:nvSpPr>
          <p:cNvPr id="77" name="Text 18">
            <a:extLst>
              <a:ext uri="{FF2B5EF4-FFF2-40B4-BE49-F238E27FC236}">
                <a16:creationId xmlns:a16="http://schemas.microsoft.com/office/drawing/2014/main" id="{91890ADB-763E-F581-6A4D-50CF9EEAF3EC}"/>
              </a:ext>
            </a:extLst>
          </p:cNvPr>
          <p:cNvSpPr/>
          <p:nvPr/>
        </p:nvSpPr>
        <p:spPr>
          <a:xfrm>
            <a:off x="6903720" y="320344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Pred-Set R²</a:t>
            </a:r>
            <a:endParaRPr lang="en-US" sz="1200" dirty="0"/>
          </a:p>
        </p:txBody>
      </p:sp>
      <p:sp>
        <p:nvSpPr>
          <p:cNvPr id="79" name="Text 19">
            <a:extLst>
              <a:ext uri="{FF2B5EF4-FFF2-40B4-BE49-F238E27FC236}">
                <a16:creationId xmlns:a16="http://schemas.microsoft.com/office/drawing/2014/main" id="{CB1BEAC4-EBD0-F404-D1A2-BBC5D0F03983}"/>
              </a:ext>
            </a:extLst>
          </p:cNvPr>
          <p:cNvSpPr/>
          <p:nvPr/>
        </p:nvSpPr>
        <p:spPr>
          <a:xfrm>
            <a:off x="457200" y="38435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 Range Across Seeds: 0.9339 to 0.9467</a:t>
            </a:r>
            <a:endParaRPr lang="en-US" sz="1400" dirty="0"/>
          </a:p>
        </p:txBody>
      </p:sp>
      <p:sp>
        <p:nvSpPr>
          <p:cNvPr id="81" name="Text 20">
            <a:extLst>
              <a:ext uri="{FF2B5EF4-FFF2-40B4-BE49-F238E27FC236}">
                <a16:creationId xmlns:a16="http://schemas.microsoft.com/office/drawing/2014/main" id="{1ED3EFB0-59E6-1645-8CEF-DF1C01064AE1}"/>
              </a:ext>
            </a:extLst>
          </p:cNvPr>
          <p:cNvSpPr/>
          <p:nvPr/>
        </p:nvSpPr>
        <p:spPr>
          <a:xfrm>
            <a:off x="457200" y="41910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single-seed result (0.9403) was somewhat optimistic, as expected from variance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mean still clearly outperforms original baseline (0.9148 → 0.9380)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split is stable across seeds; prediction set shows higher variance (out-of-distribution weakness)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8987313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AC558-6E0B-C04C-4997-AA2E29956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9B2480-E9A3-A64D-FE84-06376B13A5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8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6D328F-E363-9D7C-6E10-48421305DE4A}"/>
              </a:ext>
            </a:extLst>
          </p:cNvPr>
          <p:cNvSpPr txBox="1"/>
          <p:nvPr/>
        </p:nvSpPr>
        <p:spPr>
          <a:xfrm>
            <a:off x="2209800" y="58271"/>
            <a:ext cx="61735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6: Graph-Level Summary Features</a:t>
            </a:r>
            <a:endParaRPr lang="en-US" sz="2700" dirty="0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1388B05A-2FDF-454B-B1C5-0ABF01E9653C}"/>
              </a:ext>
            </a:extLst>
          </p:cNvPr>
          <p:cNvSpPr/>
          <p:nvPr/>
        </p:nvSpPr>
        <p:spPr>
          <a:xfrm>
            <a:off x="457200" y="12192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Added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B62F8F7-A9B8-5EFE-EAA1-9DFA8130498D}"/>
              </a:ext>
            </a:extLst>
          </p:cNvPr>
          <p:cNvSpPr/>
          <p:nvPr/>
        </p:nvSpPr>
        <p:spPr>
          <a:xfrm>
            <a:off x="457200" y="1584960"/>
            <a:ext cx="42062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count, edge count, graph density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/ mean / std edge weight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mean / std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degree mean / std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Center-distance mean / std</a:t>
            </a:r>
            <a:endParaRPr lang="en-US" sz="135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FB395BA-686A-70FE-D098-CE19BD745D42}"/>
              </a:ext>
            </a:extLst>
          </p:cNvPr>
          <p:cNvSpPr/>
          <p:nvPr/>
        </p:nvSpPr>
        <p:spPr>
          <a:xfrm>
            <a:off x="457200" y="33223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Graph-level features are concatenated after pooling, before the output layer. All features normalized using training-split statistics.</a:t>
            </a:r>
            <a:endParaRPr lang="en-US" sz="12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CAD8B4BD-1D1E-E283-9038-D6E0878EF48D}"/>
              </a:ext>
            </a:extLst>
          </p:cNvPr>
          <p:cNvSpPr/>
          <p:nvPr/>
        </p:nvSpPr>
        <p:spPr>
          <a:xfrm>
            <a:off x="4846320" y="121920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Results</a:t>
            </a:r>
            <a:endParaRPr lang="en-US" sz="170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E21FE380-ED42-1828-C89D-BAD8CE068023}"/>
              </a:ext>
            </a:extLst>
          </p:cNvPr>
          <p:cNvSpPr/>
          <p:nvPr/>
        </p:nvSpPr>
        <p:spPr>
          <a:xfrm>
            <a:off x="4846320" y="160324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EEF2F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F5882C58-E51F-D837-7620-8995BDF712D6}"/>
              </a:ext>
            </a:extLst>
          </p:cNvPr>
          <p:cNvSpPr/>
          <p:nvPr/>
        </p:nvSpPr>
        <p:spPr>
          <a:xfrm>
            <a:off x="4846320" y="1648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Val R²</a:t>
            </a:r>
            <a:endParaRPr lang="en-US" sz="110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7E32DD82-B9EC-A901-8422-05218F6E81AD}"/>
              </a:ext>
            </a:extLst>
          </p:cNvPr>
          <p:cNvSpPr/>
          <p:nvPr/>
        </p:nvSpPr>
        <p:spPr>
          <a:xfrm>
            <a:off x="4846320" y="19232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0.9414 →</a:t>
            </a:r>
            <a:endParaRPr lang="en-US" sz="11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35D95BFF-D08C-41BB-0EFE-8C5827BC65CF}"/>
              </a:ext>
            </a:extLst>
          </p:cNvPr>
          <p:cNvSpPr/>
          <p:nvPr/>
        </p:nvSpPr>
        <p:spPr>
          <a:xfrm>
            <a:off x="4846320" y="217017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0.9410</a:t>
            </a:r>
            <a:endParaRPr lang="en-US" sz="2000" dirty="0"/>
          </a:p>
        </p:txBody>
      </p:sp>
      <p:sp>
        <p:nvSpPr>
          <p:cNvPr id="21" name="Shape 12">
            <a:extLst>
              <a:ext uri="{FF2B5EF4-FFF2-40B4-BE49-F238E27FC236}">
                <a16:creationId xmlns:a16="http://schemas.microsoft.com/office/drawing/2014/main" id="{7A52625F-05A6-8039-182A-1A4A34ECE526}"/>
              </a:ext>
            </a:extLst>
          </p:cNvPr>
          <p:cNvSpPr/>
          <p:nvPr/>
        </p:nvSpPr>
        <p:spPr>
          <a:xfrm>
            <a:off x="6858000" y="160324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D4EDD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E44CBC4D-048C-1404-4FAF-F8DA5BC1D4DF}"/>
              </a:ext>
            </a:extLst>
          </p:cNvPr>
          <p:cNvSpPr/>
          <p:nvPr/>
        </p:nvSpPr>
        <p:spPr>
          <a:xfrm>
            <a:off x="6858000" y="1648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Test R²</a:t>
            </a:r>
            <a:endParaRPr lang="en-US" sz="11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6DA84CFE-1524-1E72-70AB-A941975FCAE7}"/>
              </a:ext>
            </a:extLst>
          </p:cNvPr>
          <p:cNvSpPr/>
          <p:nvPr/>
        </p:nvSpPr>
        <p:spPr>
          <a:xfrm>
            <a:off x="6858000" y="19232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0.9380 →</a:t>
            </a:r>
            <a:endParaRPr lang="en-US" sz="1100" dirty="0"/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A7F6BD1A-5234-3E27-B0CD-CF6B301040D7}"/>
              </a:ext>
            </a:extLst>
          </p:cNvPr>
          <p:cNvSpPr/>
          <p:nvPr/>
        </p:nvSpPr>
        <p:spPr>
          <a:xfrm>
            <a:off x="6858000" y="217017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0.9411</a:t>
            </a:r>
            <a:endParaRPr lang="en-US" sz="2000" dirty="0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23E86128-68B1-4328-0A09-E0000BC41AFC}"/>
              </a:ext>
            </a:extLst>
          </p:cNvPr>
          <p:cNvSpPr/>
          <p:nvPr/>
        </p:nvSpPr>
        <p:spPr>
          <a:xfrm>
            <a:off x="4846320" y="302056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D4EDD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AD4FD6A7-381D-E10C-7A58-B96FF600C813}"/>
              </a:ext>
            </a:extLst>
          </p:cNvPr>
          <p:cNvSpPr/>
          <p:nvPr/>
        </p:nvSpPr>
        <p:spPr>
          <a:xfrm>
            <a:off x="4846320" y="30662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RMSE</a:t>
            </a:r>
            <a:endParaRPr lang="en-US" sz="1100" dirty="0"/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B012883A-C438-9CFE-596B-17171BCD6BB8}"/>
              </a:ext>
            </a:extLst>
          </p:cNvPr>
          <p:cNvSpPr/>
          <p:nvPr/>
        </p:nvSpPr>
        <p:spPr>
          <a:xfrm>
            <a:off x="4846320" y="334060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0.003086 →</a:t>
            </a:r>
            <a:endParaRPr lang="en-US" sz="110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E7212A9D-34BA-A83D-B19E-99E3B362F978}"/>
              </a:ext>
            </a:extLst>
          </p:cNvPr>
          <p:cNvSpPr/>
          <p:nvPr/>
        </p:nvSpPr>
        <p:spPr>
          <a:xfrm>
            <a:off x="4846320" y="358749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0.003003</a:t>
            </a:r>
            <a:endParaRPr lang="en-US" sz="2000" dirty="0"/>
          </a:p>
        </p:txBody>
      </p:sp>
      <p:sp>
        <p:nvSpPr>
          <p:cNvPr id="37" name="Shape 20">
            <a:extLst>
              <a:ext uri="{FF2B5EF4-FFF2-40B4-BE49-F238E27FC236}">
                <a16:creationId xmlns:a16="http://schemas.microsoft.com/office/drawing/2014/main" id="{68A499F8-8E0D-65EE-6AD3-51A3E90C66DA}"/>
              </a:ext>
            </a:extLst>
          </p:cNvPr>
          <p:cNvSpPr/>
          <p:nvPr/>
        </p:nvSpPr>
        <p:spPr>
          <a:xfrm>
            <a:off x="6858000" y="302056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8D7D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9" name="Text 21">
            <a:extLst>
              <a:ext uri="{FF2B5EF4-FFF2-40B4-BE49-F238E27FC236}">
                <a16:creationId xmlns:a16="http://schemas.microsoft.com/office/drawing/2014/main" id="{759B36C2-B112-7CBA-B1C6-B8EF052F709D}"/>
              </a:ext>
            </a:extLst>
          </p:cNvPr>
          <p:cNvSpPr/>
          <p:nvPr/>
        </p:nvSpPr>
        <p:spPr>
          <a:xfrm>
            <a:off x="6858000" y="30662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Pred-Set R²</a:t>
            </a:r>
            <a:endParaRPr lang="en-US" sz="1100" dirty="0"/>
          </a:p>
        </p:txBody>
      </p:sp>
      <p:sp>
        <p:nvSpPr>
          <p:cNvPr id="41" name="Text 22">
            <a:extLst>
              <a:ext uri="{FF2B5EF4-FFF2-40B4-BE49-F238E27FC236}">
                <a16:creationId xmlns:a16="http://schemas.microsoft.com/office/drawing/2014/main" id="{4EA6DCD6-F623-DEE2-B2E0-BACB8F790961}"/>
              </a:ext>
            </a:extLst>
          </p:cNvPr>
          <p:cNvSpPr/>
          <p:nvPr/>
        </p:nvSpPr>
        <p:spPr>
          <a:xfrm>
            <a:off x="6858000" y="334060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0.4964 →</a:t>
            </a:r>
            <a:endParaRPr lang="en-US" sz="1100" dirty="0"/>
          </a:p>
        </p:txBody>
      </p:sp>
      <p:sp>
        <p:nvSpPr>
          <p:cNvPr id="43" name="Text 23">
            <a:extLst>
              <a:ext uri="{FF2B5EF4-FFF2-40B4-BE49-F238E27FC236}">
                <a16:creationId xmlns:a16="http://schemas.microsoft.com/office/drawing/2014/main" id="{42886574-8AA9-39A8-8CE7-1AD8B6D848BC}"/>
              </a:ext>
            </a:extLst>
          </p:cNvPr>
          <p:cNvSpPr/>
          <p:nvPr/>
        </p:nvSpPr>
        <p:spPr>
          <a:xfrm>
            <a:off x="6858000" y="358749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0.4035</a:t>
            </a:r>
            <a:endParaRPr lang="en-US" sz="2000" dirty="0"/>
          </a:p>
        </p:txBody>
      </p:sp>
      <p:sp>
        <p:nvSpPr>
          <p:cNvPr id="45" name="Text 24">
            <a:extLst>
              <a:ext uri="{FF2B5EF4-FFF2-40B4-BE49-F238E27FC236}">
                <a16:creationId xmlns:a16="http://schemas.microsoft.com/office/drawing/2014/main" id="{06E2D60D-6977-0180-D106-47CF9D35CE4A}"/>
              </a:ext>
            </a:extLst>
          </p:cNvPr>
          <p:cNvSpPr/>
          <p:nvPr/>
        </p:nvSpPr>
        <p:spPr>
          <a:xfrm>
            <a:off x="457200" y="510540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improvement on held-out test; prediction-set R² declined. Graph features help in-distribution fit but do not yet resolve out-of-distribution robustness.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893264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D3A72-DEEC-F3DF-BCBD-43A67EC87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2445F4-7D74-1F9C-3985-95CE2C62BB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9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BD7DD1-9589-665D-1B10-2C3534D064FC}"/>
              </a:ext>
            </a:extLst>
          </p:cNvPr>
          <p:cNvSpPr txBox="1"/>
          <p:nvPr/>
        </p:nvSpPr>
        <p:spPr>
          <a:xfrm>
            <a:off x="2209800" y="58271"/>
            <a:ext cx="58408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7–8: Target Normalization</a:t>
            </a:r>
            <a:endParaRPr lang="en-US" sz="3200" dirty="0"/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78EA9D46-12A2-D6EB-64E9-E9F4D9026F61}"/>
              </a:ext>
            </a:extLst>
          </p:cNvPr>
          <p:cNvSpPr/>
          <p:nvPr/>
        </p:nvSpPr>
        <p:spPr>
          <a:xfrm>
            <a:off x="457200" y="11430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700" dirty="0"/>
          </a:p>
        </p:txBody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88C26CEE-9088-137E-CB23-208462F18BCA}"/>
              </a:ext>
            </a:extLst>
          </p:cNvPr>
          <p:cNvSpPr/>
          <p:nvPr/>
        </p:nvSpPr>
        <p:spPr>
          <a:xfrm>
            <a:off x="457200" y="1508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all confirmed positive improvements (Adam schedule, weighted edges, richer node features, graph-level summary features) and added target normalization to test whether scaling the regression target improves robustness.</a:t>
            </a:r>
            <a:endParaRPr lang="en-US" sz="1400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1CE0CA8D-A356-C6EA-3DB2-0D7D83D8B381}"/>
              </a:ext>
            </a:extLst>
          </p:cNvPr>
          <p:cNvSpPr/>
          <p:nvPr/>
        </p:nvSpPr>
        <p:spPr>
          <a:xfrm>
            <a:off x="457200" y="216712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Results (Target Normalized)</a:t>
            </a:r>
            <a:endParaRPr lang="en-US" sz="1700" dirty="0"/>
          </a:p>
        </p:txBody>
      </p:sp>
      <p:sp>
        <p:nvSpPr>
          <p:cNvPr id="45" name="Shape 7">
            <a:extLst>
              <a:ext uri="{FF2B5EF4-FFF2-40B4-BE49-F238E27FC236}">
                <a16:creationId xmlns:a16="http://schemas.microsoft.com/office/drawing/2014/main" id="{0428DDCE-2092-E69A-4E98-E56D32E10670}"/>
              </a:ext>
            </a:extLst>
          </p:cNvPr>
          <p:cNvSpPr/>
          <p:nvPr/>
        </p:nvSpPr>
        <p:spPr>
          <a:xfrm>
            <a:off x="457200" y="2578608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4C41EB8A-D43D-A53A-7DF1-6DC9CBCFF892}"/>
              </a:ext>
            </a:extLst>
          </p:cNvPr>
          <p:cNvSpPr/>
          <p:nvPr/>
        </p:nvSpPr>
        <p:spPr>
          <a:xfrm>
            <a:off x="457200" y="2697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0.9416</a:t>
            </a:r>
            <a:endParaRPr lang="en-US" sz="2400" dirty="0"/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8603E1D3-24F5-97A9-2782-86FE09DC9492}"/>
              </a:ext>
            </a:extLst>
          </p:cNvPr>
          <p:cNvSpPr/>
          <p:nvPr/>
        </p:nvSpPr>
        <p:spPr>
          <a:xfrm>
            <a:off x="457200" y="320040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Val R²</a:t>
            </a:r>
            <a:endParaRPr lang="en-US" sz="1200" dirty="0"/>
          </a:p>
        </p:txBody>
      </p:sp>
      <p:sp>
        <p:nvSpPr>
          <p:cNvPr id="51" name="Shape 10">
            <a:extLst>
              <a:ext uri="{FF2B5EF4-FFF2-40B4-BE49-F238E27FC236}">
                <a16:creationId xmlns:a16="http://schemas.microsoft.com/office/drawing/2014/main" id="{E9C9E410-5038-DBF3-044C-BCF1DDCFFC9F}"/>
              </a:ext>
            </a:extLst>
          </p:cNvPr>
          <p:cNvSpPr/>
          <p:nvPr/>
        </p:nvSpPr>
        <p:spPr>
          <a:xfrm>
            <a:off x="2606040" y="2578608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53" name="Text 11">
            <a:extLst>
              <a:ext uri="{FF2B5EF4-FFF2-40B4-BE49-F238E27FC236}">
                <a16:creationId xmlns:a16="http://schemas.microsoft.com/office/drawing/2014/main" id="{B3B76534-4A2C-C889-1149-B916A3046F89}"/>
              </a:ext>
            </a:extLst>
          </p:cNvPr>
          <p:cNvSpPr/>
          <p:nvPr/>
        </p:nvSpPr>
        <p:spPr>
          <a:xfrm>
            <a:off x="2606040" y="2697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0.9447</a:t>
            </a:r>
            <a:endParaRPr lang="en-US" sz="2400" dirty="0"/>
          </a:p>
        </p:txBody>
      </p:sp>
      <p:sp>
        <p:nvSpPr>
          <p:cNvPr id="55" name="Text 12">
            <a:extLst>
              <a:ext uri="{FF2B5EF4-FFF2-40B4-BE49-F238E27FC236}">
                <a16:creationId xmlns:a16="http://schemas.microsoft.com/office/drawing/2014/main" id="{4C7F3F68-35C1-14DC-D585-E2A1D36BFAA2}"/>
              </a:ext>
            </a:extLst>
          </p:cNvPr>
          <p:cNvSpPr/>
          <p:nvPr/>
        </p:nvSpPr>
        <p:spPr>
          <a:xfrm>
            <a:off x="2606040" y="320040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Test R²</a:t>
            </a:r>
            <a:endParaRPr lang="en-US" sz="1200" dirty="0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D7EBBF90-A9CE-B7B1-8E4E-2592A16958E8}"/>
              </a:ext>
            </a:extLst>
          </p:cNvPr>
          <p:cNvSpPr/>
          <p:nvPr/>
        </p:nvSpPr>
        <p:spPr>
          <a:xfrm>
            <a:off x="4754880" y="2578608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59" name="Text 14">
            <a:extLst>
              <a:ext uri="{FF2B5EF4-FFF2-40B4-BE49-F238E27FC236}">
                <a16:creationId xmlns:a16="http://schemas.microsoft.com/office/drawing/2014/main" id="{FAA9CBAC-A2E0-5468-AC04-48DB17ACC45B}"/>
              </a:ext>
            </a:extLst>
          </p:cNvPr>
          <p:cNvSpPr/>
          <p:nvPr/>
        </p:nvSpPr>
        <p:spPr>
          <a:xfrm>
            <a:off x="4754880" y="2697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0.002908</a:t>
            </a:r>
            <a:endParaRPr lang="en-US" sz="2400" dirty="0"/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2149BAD3-87D7-06B0-5757-B1DE528FC60E}"/>
              </a:ext>
            </a:extLst>
          </p:cNvPr>
          <p:cNvSpPr/>
          <p:nvPr/>
        </p:nvSpPr>
        <p:spPr>
          <a:xfrm>
            <a:off x="4754880" y="320040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Test RMSE</a:t>
            </a:r>
            <a:endParaRPr lang="en-US" sz="1200" dirty="0"/>
          </a:p>
        </p:txBody>
      </p:sp>
      <p:sp>
        <p:nvSpPr>
          <p:cNvPr id="63" name="Shape 16">
            <a:extLst>
              <a:ext uri="{FF2B5EF4-FFF2-40B4-BE49-F238E27FC236}">
                <a16:creationId xmlns:a16="http://schemas.microsoft.com/office/drawing/2014/main" id="{8B67254B-89EB-1A22-7D1A-53576A9A2464}"/>
              </a:ext>
            </a:extLst>
          </p:cNvPr>
          <p:cNvSpPr/>
          <p:nvPr/>
        </p:nvSpPr>
        <p:spPr>
          <a:xfrm>
            <a:off x="6903720" y="2578608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65" name="Text 17">
            <a:extLst>
              <a:ext uri="{FF2B5EF4-FFF2-40B4-BE49-F238E27FC236}">
                <a16:creationId xmlns:a16="http://schemas.microsoft.com/office/drawing/2014/main" id="{E99C0F7A-B3FE-7CD7-25B9-FEDDA1F75423}"/>
              </a:ext>
            </a:extLst>
          </p:cNvPr>
          <p:cNvSpPr/>
          <p:nvPr/>
        </p:nvSpPr>
        <p:spPr>
          <a:xfrm>
            <a:off x="6903720" y="2697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0.4459</a:t>
            </a:r>
            <a:endParaRPr lang="en-US" sz="2400" dirty="0"/>
          </a:p>
        </p:txBody>
      </p:sp>
      <p:sp>
        <p:nvSpPr>
          <p:cNvPr id="67" name="Text 18">
            <a:extLst>
              <a:ext uri="{FF2B5EF4-FFF2-40B4-BE49-F238E27FC236}">
                <a16:creationId xmlns:a16="http://schemas.microsoft.com/office/drawing/2014/main" id="{720F88FF-7879-2982-BA59-FB61ED8FCDE9}"/>
              </a:ext>
            </a:extLst>
          </p:cNvPr>
          <p:cNvSpPr/>
          <p:nvPr/>
        </p:nvSpPr>
        <p:spPr>
          <a:xfrm>
            <a:off x="6903720" y="320040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Pred-Set R²</a:t>
            </a:r>
            <a:endParaRPr lang="en-US" sz="1200" dirty="0"/>
          </a:p>
        </p:txBody>
      </p:sp>
      <p:sp>
        <p:nvSpPr>
          <p:cNvPr id="69" name="Text 19">
            <a:extLst>
              <a:ext uri="{FF2B5EF4-FFF2-40B4-BE49-F238E27FC236}">
                <a16:creationId xmlns:a16="http://schemas.microsoft.com/office/drawing/2014/main" id="{2A1C0839-E7BF-88DE-1854-C1E5F4A0E475}"/>
              </a:ext>
            </a:extLst>
          </p:cNvPr>
          <p:cNvSpPr/>
          <p:nvPr/>
        </p:nvSpPr>
        <p:spPr>
          <a:xfrm>
            <a:off x="457200" y="38130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 Range Across Seeds: 0.9384 to 0.9549</a:t>
            </a:r>
            <a:endParaRPr lang="en-US" sz="1400" dirty="0"/>
          </a:p>
        </p:txBody>
      </p:sp>
      <p:sp>
        <p:nvSpPr>
          <p:cNvPr id="71" name="Text 20">
            <a:extLst>
              <a:ext uri="{FF2B5EF4-FFF2-40B4-BE49-F238E27FC236}">
                <a16:creationId xmlns:a16="http://schemas.microsoft.com/office/drawing/2014/main" id="{846B8677-3632-C797-3FEB-34AFF100B377}"/>
              </a:ext>
            </a:extLst>
          </p:cNvPr>
          <p:cNvSpPr/>
          <p:nvPr/>
        </p:nvSpPr>
        <p:spPr>
          <a:xfrm>
            <a:off x="457200" y="4178808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mean held-out test accuracy to date (0.9411 → 0.9447)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Prediction-set R² improved vs. graph-feature run (0.4035 → 0.4459), but still below richer-node-feature run (0.4964)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Tradeoff exists: best test accuracy = richer graph + target normalization; best pred-set generalization = richer node features only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757406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7C8D7-9788-A34A-84DE-BBA529191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B87720-B9C4-197F-621B-FDE64F8F10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10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4147F8-F511-956B-751A-C321FAA27385}"/>
              </a:ext>
            </a:extLst>
          </p:cNvPr>
          <p:cNvSpPr txBox="1"/>
          <p:nvPr/>
        </p:nvSpPr>
        <p:spPr>
          <a:xfrm>
            <a:off x="2209800" y="58271"/>
            <a:ext cx="46211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Phase By Phase Summary </a:t>
            </a:r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94835752-A668-0A56-5F84-DEF90E57E6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599093"/>
              </p:ext>
            </p:extLst>
          </p:nvPr>
        </p:nvGraphicFramePr>
        <p:xfrm>
          <a:off x="365760" y="1203960"/>
          <a:ext cx="8503920" cy="420624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Test 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Pred-Set 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2-layer GCN, x/y features, Adam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edges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Richer node features (multi-seed)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Graph-level summary features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Target normalization (best test)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432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81EDB-C391-6724-CE42-6FBB63E00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9C222C-951D-11F7-DCCE-9096369B3C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11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65E872-39A9-F39B-0E9D-C7E4950F042F}"/>
              </a:ext>
            </a:extLst>
          </p:cNvPr>
          <p:cNvSpPr txBox="1"/>
          <p:nvPr/>
        </p:nvSpPr>
        <p:spPr>
          <a:xfrm>
            <a:off x="2209800" y="58271"/>
            <a:ext cx="35756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Current Assessment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953E282E-B1B1-070E-506C-2B4FC0F46CC6}"/>
              </a:ext>
            </a:extLst>
          </p:cNvPr>
          <p:cNvSpPr/>
          <p:nvPr/>
        </p:nvSpPr>
        <p:spPr>
          <a:xfrm>
            <a:off x="457200" y="125577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4A02A3D-9123-8665-6786-60758D6A76D1}"/>
              </a:ext>
            </a:extLst>
          </p:cNvPr>
          <p:cNvSpPr/>
          <p:nvPr/>
        </p:nvSpPr>
        <p:spPr>
          <a:xfrm>
            <a:off x="457200" y="1255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DFC98D0-3E9E-CEC5-BE23-9CEAB1C57D78}"/>
              </a:ext>
            </a:extLst>
          </p:cNvPr>
          <p:cNvSpPr/>
          <p:nvPr/>
        </p:nvSpPr>
        <p:spPr>
          <a:xfrm>
            <a:off x="914400" y="121920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Adam with the two-phase schedule is the strongest training setup.</a:t>
            </a:r>
            <a:endParaRPr lang="en-US" sz="13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D01D2ACD-2CD0-877C-2543-05C2D4AEE9E8}"/>
              </a:ext>
            </a:extLst>
          </p:cNvPr>
          <p:cNvSpPr/>
          <p:nvPr/>
        </p:nvSpPr>
        <p:spPr>
          <a:xfrm>
            <a:off x="457200" y="185013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464B1E6E-3097-05EA-13C2-FD0DA5A9BEBC}"/>
              </a:ext>
            </a:extLst>
          </p:cNvPr>
          <p:cNvSpPr/>
          <p:nvPr/>
        </p:nvSpPr>
        <p:spPr>
          <a:xfrm>
            <a:off x="457200" y="1850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E31453BA-AD44-8397-6122-617764D1B528}"/>
              </a:ext>
            </a:extLst>
          </p:cNvPr>
          <p:cNvSpPr/>
          <p:nvPr/>
        </p:nvSpPr>
        <p:spPr>
          <a:xfrm>
            <a:off x="914400" y="181356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is consistently worse than Adam; SGD variants are not competitive.</a:t>
            </a:r>
            <a:endParaRPr lang="en-US" sz="1300" dirty="0"/>
          </a:p>
        </p:txBody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36B867B3-25BE-A0BB-C8EA-2013E41B4B6A}"/>
              </a:ext>
            </a:extLst>
          </p:cNvPr>
          <p:cNvSpPr/>
          <p:nvPr/>
        </p:nvSpPr>
        <p:spPr>
          <a:xfrm>
            <a:off x="457200" y="244449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F4C6ED19-9667-38B2-F24D-1100310B6098}"/>
              </a:ext>
            </a:extLst>
          </p:cNvPr>
          <p:cNvSpPr/>
          <p:nvPr/>
        </p:nvSpPr>
        <p:spPr>
          <a:xfrm>
            <a:off x="457200" y="24444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5D77B616-EAF9-4E5A-C5BE-2879B30CC35D}"/>
              </a:ext>
            </a:extLst>
          </p:cNvPr>
          <p:cNvSpPr/>
          <p:nvPr/>
        </p:nvSpPr>
        <p:spPr>
          <a:xfrm>
            <a:off x="914400" y="240792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edges are worth keeping as they preserve real graph structure.</a:t>
            </a:r>
            <a:endParaRPr lang="en-US" sz="1300" dirty="0"/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07212C48-7D17-6F96-76DD-725B4FA07DF4}"/>
              </a:ext>
            </a:extLst>
          </p:cNvPr>
          <p:cNvSpPr/>
          <p:nvPr/>
        </p:nvSpPr>
        <p:spPr>
          <a:xfrm>
            <a:off x="457200" y="303885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A8B6F1BD-DBE2-6E5F-C2AF-753AA1B2A926}"/>
              </a:ext>
            </a:extLst>
          </p:cNvPr>
          <p:cNvSpPr/>
          <p:nvPr/>
        </p:nvSpPr>
        <p:spPr>
          <a:xfrm>
            <a:off x="457200" y="3038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064A809D-2821-58A8-394C-94EF48A0C3DD}"/>
              </a:ext>
            </a:extLst>
          </p:cNvPr>
          <p:cNvSpPr/>
          <p:nvPr/>
        </p:nvSpPr>
        <p:spPr>
          <a:xfrm>
            <a:off x="914400" y="300228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node features: largest single improvement; best prediction-set baseline (mean R² 0.4964).</a:t>
            </a:r>
            <a:endParaRPr lang="en-US" sz="1300" dirty="0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DDC32E12-3756-E738-133E-AEFBF0B8F16B}"/>
              </a:ext>
            </a:extLst>
          </p:cNvPr>
          <p:cNvSpPr/>
          <p:nvPr/>
        </p:nvSpPr>
        <p:spPr>
          <a:xfrm>
            <a:off x="457200" y="363321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EBDEF248-BC98-0EE5-37E3-A08CF02A2C81}"/>
              </a:ext>
            </a:extLst>
          </p:cNvPr>
          <p:cNvSpPr/>
          <p:nvPr/>
        </p:nvSpPr>
        <p:spPr>
          <a:xfrm>
            <a:off x="457200" y="3633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0CBCB392-8266-52BF-C8B6-1A2DAFCA7837}"/>
              </a:ext>
            </a:extLst>
          </p:cNvPr>
          <p:cNvSpPr/>
          <p:nvPr/>
        </p:nvSpPr>
        <p:spPr>
          <a:xfrm>
            <a:off x="914400" y="359664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Graph-level features + target normalization: best mean held-out test R² (0.9447) and RMSE (0.002908).</a:t>
            </a:r>
            <a:endParaRPr lang="en-US" sz="1300" dirty="0"/>
          </a:p>
        </p:txBody>
      </p:sp>
      <p:sp>
        <p:nvSpPr>
          <p:cNvPr id="35" name="Shape 19">
            <a:extLst>
              <a:ext uri="{FF2B5EF4-FFF2-40B4-BE49-F238E27FC236}">
                <a16:creationId xmlns:a16="http://schemas.microsoft.com/office/drawing/2014/main" id="{0489D256-3CC4-9F52-21EB-A477DD29E956}"/>
              </a:ext>
            </a:extLst>
          </p:cNvPr>
          <p:cNvSpPr/>
          <p:nvPr/>
        </p:nvSpPr>
        <p:spPr>
          <a:xfrm>
            <a:off x="457200" y="422757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37" name="Text 20">
            <a:extLst>
              <a:ext uri="{FF2B5EF4-FFF2-40B4-BE49-F238E27FC236}">
                <a16:creationId xmlns:a16="http://schemas.microsoft.com/office/drawing/2014/main" id="{E9313EF1-63AD-71E0-E55F-27EC103C1760}"/>
              </a:ext>
            </a:extLst>
          </p:cNvPr>
          <p:cNvSpPr/>
          <p:nvPr/>
        </p:nvSpPr>
        <p:spPr>
          <a:xfrm>
            <a:off x="457200" y="4227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Text 21">
            <a:extLst>
              <a:ext uri="{FF2B5EF4-FFF2-40B4-BE49-F238E27FC236}">
                <a16:creationId xmlns:a16="http://schemas.microsoft.com/office/drawing/2014/main" id="{D53DDC0F-4741-A5B5-75D1-57E21532EA89}"/>
              </a:ext>
            </a:extLst>
          </p:cNvPr>
          <p:cNvSpPr/>
          <p:nvPr/>
        </p:nvSpPr>
        <p:spPr>
          <a:xfrm>
            <a:off x="914400" y="419100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measurable tradeoff now exists between in-distribution accuracy and prediction-set generalization.</a:t>
            </a:r>
            <a:endParaRPr lang="en-US" sz="1300" dirty="0"/>
          </a:p>
        </p:txBody>
      </p:sp>
      <p:sp>
        <p:nvSpPr>
          <p:cNvPr id="41" name="Shape 22">
            <a:extLst>
              <a:ext uri="{FF2B5EF4-FFF2-40B4-BE49-F238E27FC236}">
                <a16:creationId xmlns:a16="http://schemas.microsoft.com/office/drawing/2014/main" id="{6DF09D38-D45E-16C0-4B19-54D90BDE9503}"/>
              </a:ext>
            </a:extLst>
          </p:cNvPr>
          <p:cNvSpPr/>
          <p:nvPr/>
        </p:nvSpPr>
        <p:spPr>
          <a:xfrm>
            <a:off x="457200" y="482193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43" name="Text 23">
            <a:extLst>
              <a:ext uri="{FF2B5EF4-FFF2-40B4-BE49-F238E27FC236}">
                <a16:creationId xmlns:a16="http://schemas.microsoft.com/office/drawing/2014/main" id="{87991961-1314-5B5C-43C8-491A7C789F62}"/>
              </a:ext>
            </a:extLst>
          </p:cNvPr>
          <p:cNvSpPr/>
          <p:nvPr/>
        </p:nvSpPr>
        <p:spPr>
          <a:xfrm>
            <a:off x="457200" y="48219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24">
            <a:extLst>
              <a:ext uri="{FF2B5EF4-FFF2-40B4-BE49-F238E27FC236}">
                <a16:creationId xmlns:a16="http://schemas.microsoft.com/office/drawing/2014/main" id="{A6DDCD71-1EBA-B872-56DF-0B6D1ADC7AFD}"/>
              </a:ext>
            </a:extLst>
          </p:cNvPr>
          <p:cNvSpPr/>
          <p:nvPr/>
        </p:nvSpPr>
        <p:spPr>
          <a:xfrm>
            <a:off x="914400" y="478536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gains are more likely from architecture or objective changes than from additional optimizer sweeps.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942353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6260D-A772-FEA2-8397-C785BB71F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F379A9-32AE-3933-4095-3D072AD891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12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F39E32-6720-2DAA-9EC5-265F0E56AC1E}"/>
              </a:ext>
            </a:extLst>
          </p:cNvPr>
          <p:cNvSpPr txBox="1"/>
          <p:nvPr/>
        </p:nvSpPr>
        <p:spPr>
          <a:xfrm>
            <a:off x="2209800" y="58271"/>
            <a:ext cx="20002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 Steps</a:t>
            </a: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82CD028E-B004-0557-50AC-E523FC233E52}"/>
              </a:ext>
            </a:extLst>
          </p:cNvPr>
          <p:cNvSpPr/>
          <p:nvPr/>
        </p:nvSpPr>
        <p:spPr>
          <a:xfrm>
            <a:off x="457200" y="10668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Keep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4D5F9C9-0BE4-BDCB-FC6B-787D6B448F4A}"/>
              </a:ext>
            </a:extLst>
          </p:cNvPr>
          <p:cNvSpPr/>
          <p:nvPr/>
        </p:nvSpPr>
        <p:spPr>
          <a:xfrm>
            <a:off x="457200" y="1459992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edges enabled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node features as the default representation baseline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Graph-level features + target normalization as the strongest test-accuracy config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with two-phase schedule as the primary optimizer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repeats for all serious promotion decisions</a:t>
            </a:r>
            <a:endParaRPr lang="en-US" sz="13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F043A7D-27CD-B4FF-9927-F07CF23DF1FA}"/>
              </a:ext>
            </a:extLst>
          </p:cNvPr>
          <p:cNvSpPr/>
          <p:nvPr/>
        </p:nvSpPr>
        <p:spPr>
          <a:xfrm>
            <a:off x="457200" y="405688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Abandon</a:t>
            </a:r>
            <a:endParaRPr lang="en-US" sz="17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A4B437E-510A-20EF-627A-0E8C43472EFC}"/>
              </a:ext>
            </a:extLst>
          </p:cNvPr>
          <p:cNvSpPr/>
          <p:nvPr/>
        </p:nvSpPr>
        <p:spPr>
          <a:xfrm>
            <a:off x="457200" y="4422648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SGD + momentum / Nesterov sweeps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as a primary focus (keep only as low-priority sanity check)</a:t>
            </a:r>
            <a:endParaRPr lang="en-US" sz="13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FE4A9F4F-D665-BBDB-C7DC-F614D4F0CC79}"/>
              </a:ext>
            </a:extLst>
          </p:cNvPr>
          <p:cNvSpPr/>
          <p:nvPr/>
        </p:nvSpPr>
        <p:spPr>
          <a:xfrm>
            <a:off x="4846320" y="106680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Directions to Explore</a:t>
            </a:r>
            <a:endParaRPr lang="en-US" sz="17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3808A5B1-166C-4B84-2C32-A3CBEBB101D1}"/>
              </a:ext>
            </a:extLst>
          </p:cNvPr>
          <p:cNvSpPr/>
          <p:nvPr/>
        </p:nvSpPr>
        <p:spPr>
          <a:xfrm>
            <a:off x="4846320" y="145999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4BE9C508-BABF-152A-D662-7274F65C5B59}"/>
              </a:ext>
            </a:extLst>
          </p:cNvPr>
          <p:cNvSpPr/>
          <p:nvPr/>
        </p:nvSpPr>
        <p:spPr>
          <a:xfrm>
            <a:off x="4983480" y="153314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</a:t>
            </a:r>
            <a:endParaRPr lang="en-US" sz="15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4FCC5229-A23B-2CBD-2BD4-DE7BBD280907}"/>
              </a:ext>
            </a:extLst>
          </p:cNvPr>
          <p:cNvSpPr/>
          <p:nvPr/>
        </p:nvSpPr>
        <p:spPr>
          <a:xfrm>
            <a:off x="4983480" y="187147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Isomorphism Network, more expressive message passing</a:t>
            </a:r>
            <a:endParaRPr lang="en-US" sz="1200" dirty="0"/>
          </a:p>
        </p:txBody>
      </p:sp>
      <p:sp>
        <p:nvSpPr>
          <p:cNvPr id="21" name="Shape 12">
            <a:extLst>
              <a:ext uri="{FF2B5EF4-FFF2-40B4-BE49-F238E27FC236}">
                <a16:creationId xmlns:a16="http://schemas.microsoft.com/office/drawing/2014/main" id="{F2E87974-F7F8-1365-9835-2E04C17D7B1E}"/>
              </a:ext>
            </a:extLst>
          </p:cNvPr>
          <p:cNvSpPr/>
          <p:nvPr/>
        </p:nvSpPr>
        <p:spPr>
          <a:xfrm>
            <a:off x="4846320" y="255727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FBF1901A-D80A-9548-B6CB-A40171D54B8E}"/>
              </a:ext>
            </a:extLst>
          </p:cNvPr>
          <p:cNvSpPr/>
          <p:nvPr/>
        </p:nvSpPr>
        <p:spPr>
          <a:xfrm>
            <a:off x="4983480" y="263042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GraphSAGE</a:t>
            </a:r>
            <a:endParaRPr lang="en-US" sz="15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91EAC72E-31D6-CA31-A788-855AC55A9FCC}"/>
              </a:ext>
            </a:extLst>
          </p:cNvPr>
          <p:cNvSpPr/>
          <p:nvPr/>
        </p:nvSpPr>
        <p:spPr>
          <a:xfrm>
            <a:off x="4983480" y="296875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Inductive learning via neighborhood sampling</a:t>
            </a:r>
            <a:endParaRPr lang="en-US" sz="1200" dirty="0"/>
          </a:p>
        </p:txBody>
      </p:sp>
      <p:sp>
        <p:nvSpPr>
          <p:cNvPr id="27" name="Shape 15">
            <a:extLst>
              <a:ext uri="{FF2B5EF4-FFF2-40B4-BE49-F238E27FC236}">
                <a16:creationId xmlns:a16="http://schemas.microsoft.com/office/drawing/2014/main" id="{E1D6A68E-0AE4-988E-9A2E-F8B5E2A56449}"/>
              </a:ext>
            </a:extLst>
          </p:cNvPr>
          <p:cNvSpPr/>
          <p:nvPr/>
        </p:nvSpPr>
        <p:spPr>
          <a:xfrm>
            <a:off x="4846320" y="365455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71C91912-5C8A-A040-FCA7-6CE78CFE3DDB}"/>
              </a:ext>
            </a:extLst>
          </p:cNvPr>
          <p:cNvSpPr/>
          <p:nvPr/>
        </p:nvSpPr>
        <p:spPr>
          <a:xfrm>
            <a:off x="4983480" y="372770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Residual GCN</a:t>
            </a:r>
            <a:endParaRPr lang="en-US" sz="1500" dirty="0"/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55E18E21-7AD9-CFE2-AF07-9E1471CFD153}"/>
              </a:ext>
            </a:extLst>
          </p:cNvPr>
          <p:cNvSpPr/>
          <p:nvPr/>
        </p:nvSpPr>
        <p:spPr>
          <a:xfrm>
            <a:off x="4983480" y="406603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architecture with skip connections</a:t>
            </a:r>
            <a:endParaRPr lang="en-US" sz="1200" dirty="0"/>
          </a:p>
        </p:txBody>
      </p:sp>
      <p:sp>
        <p:nvSpPr>
          <p:cNvPr id="33" name="Shape 18">
            <a:extLst>
              <a:ext uri="{FF2B5EF4-FFF2-40B4-BE49-F238E27FC236}">
                <a16:creationId xmlns:a16="http://schemas.microsoft.com/office/drawing/2014/main" id="{BE9E69FC-D2D2-CF3E-6E12-07EE9D42A9A6}"/>
              </a:ext>
            </a:extLst>
          </p:cNvPr>
          <p:cNvSpPr/>
          <p:nvPr/>
        </p:nvSpPr>
        <p:spPr>
          <a:xfrm>
            <a:off x="4846320" y="4751832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FF3CD"/>
          </a:solidFill>
          <a:ln w="12700">
            <a:solidFill>
              <a:srgbClr val="FFEAA7"/>
            </a:solidFill>
            <a:prstDash val="solid"/>
          </a:ln>
        </p:spPr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F53ADD15-1D9D-1448-2681-5D8D4EBE435D}"/>
              </a:ext>
            </a:extLst>
          </p:cNvPr>
          <p:cNvSpPr/>
          <p:nvPr/>
        </p:nvSpPr>
        <p:spPr>
          <a:xfrm>
            <a:off x="4983480" y="4800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Objective-Level: consider split strategy review and alternate target scaling if prediction-set mismatch appears structural.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1636867523"/>
      </p:ext>
    </p:extLst>
  </p:cSld>
  <p:clrMapOvr>
    <a:masterClrMapping/>
  </p:clrMapOvr>
</p:sld>
</file>

<file path=ppt/theme/theme1.xml><?xml version="1.0" encoding="utf-8"?>
<a:theme xmlns:a="http://schemas.openxmlformats.org/drawingml/2006/main" name="Body Slides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Myriad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>
          <a:solidFill>
            <a:schemeClr val="tx1"/>
          </a:solidFill>
        </a:ln>
      </a:spPr>
      <a:bodyPr rtlCol="0" anchor="ctr"/>
      <a:lstStyle>
        <a:defPPr algn="ctr">
          <a:defRPr/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ABmechbpresentation" id="{69F95A6D-80FB-42CF-9430-49B8985042DD}" vid="{8DAACE04-E927-497C-BE7F-C965F736CC2D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E759F7608B13A4D86BCC979C54BBCCB" ma:contentTypeVersion="3" ma:contentTypeDescription="Create a new document." ma:contentTypeScope="" ma:versionID="562f52eeba954e953f3dbe994cae5a50">
  <xsd:schema xmlns:xsd="http://www.w3.org/2001/XMLSchema" xmlns:xs="http://www.w3.org/2001/XMLSchema" xmlns:p="http://schemas.microsoft.com/office/2006/metadata/properties" xmlns:ns2="08677264-7440-49ce-928a-9917bd2fc905" targetNamespace="http://schemas.microsoft.com/office/2006/metadata/properties" ma:root="true" ma:fieldsID="cfe0b1e2cc427cbe41c2a2bde47cd0a9" ns2:_="">
    <xsd:import namespace="08677264-7440-49ce-928a-9917bd2fc9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677264-7440-49ce-928a-9917bd2fc90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6C02176-421E-4469-B6C2-6437A9690DA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31EAF09-CD46-4973-8E3F-6CB46C90CA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8677264-7440-49ce-928a-9917bd2fc9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74ED9B8-9FE6-4BEC-B456-79D1D6C96D7E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6-3-REU</Template>
  <TotalTime>37</TotalTime>
  <Words>1129</Words>
  <Application>Microsoft Office PowerPoint</Application>
  <PresentationFormat>On-screen Show (4:3)</PresentationFormat>
  <Paragraphs>233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Myriad Pro</vt:lpstr>
      <vt:lpstr>Body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Adams, Alex</dc:creator>
  <cp:keywords/>
  <dc:description/>
  <cp:lastModifiedBy>Adams, Alex</cp:lastModifiedBy>
  <cp:revision>2</cp:revision>
  <cp:lastPrinted>2016-03-29T19:22:42Z</cp:lastPrinted>
  <dcterms:created xsi:type="dcterms:W3CDTF">2026-06-29T22:58:28Z</dcterms:created>
  <dcterms:modified xsi:type="dcterms:W3CDTF">2026-06-30T12:47:24Z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0x010100CE759F7608B13A4D86BCC979C54BBCCB</vt:lpwstr>
  </property>
</Properties>
</file>