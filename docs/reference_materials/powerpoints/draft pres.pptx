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8" r:id="rId6"/>
    <p:sldId id="266" r:id="rId7"/>
    <p:sldId id="267" r:id="rId8"/>
    <p:sldId id="268" r:id="rId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sz="28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vis Jacobs" initials="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4686"/>
    <a:srgbClr val="0F3E7B"/>
    <a:srgbClr val="014F9E"/>
    <a:srgbClr val="FCB61C"/>
    <a:srgbClr val="001F5B"/>
    <a:srgbClr val="A7D2E0"/>
    <a:srgbClr val="0432FF"/>
    <a:srgbClr val="FF0000"/>
    <a:srgbClr val="FF25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3505" autoAdjust="0"/>
  </p:normalViewPr>
  <p:slideViewPr>
    <p:cSldViewPr>
      <p:cViewPr varScale="1">
        <p:scale>
          <a:sx n="98" d="100"/>
          <a:sy n="98" d="100"/>
        </p:scale>
        <p:origin x="907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152"/>
    </p:cViewPr>
  </p:sorterViewPr>
  <p:notesViewPr>
    <p:cSldViewPr>
      <p:cViewPr varScale="1">
        <p:scale>
          <a:sx n="86" d="100"/>
          <a:sy n="86" d="100"/>
        </p:scale>
        <p:origin x="-3042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DC77948F-8F14-D741-A91D-17DAA1A33C3C}" type="datetime1">
              <a:rPr lang="en-US"/>
              <a:pPr>
                <a:defRPr/>
              </a:pPr>
              <a:t>6/29/2026</a:t>
            </a:fld>
            <a:endParaRPr lang="en-US"/>
          </a:p>
        </p:txBody>
      </p:sp>
      <p:sp>
        <p:nvSpPr>
          <p:cNvPr id="2140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9EFBD60-ED00-9F49-9C44-185C37AA92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23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defRPr sz="1200">
                <a:solidFill>
                  <a:schemeClr val="tx1"/>
                </a:solidFill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/>
            </a:lvl1pPr>
          </a:lstStyle>
          <a:p>
            <a:pPr>
              <a:defRPr/>
            </a:pPr>
            <a:fld id="{17E32B26-EEC0-9247-A56A-A050A540A0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2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the Mechanical Properties of Complex Lattice Metamaterials Using Graph Neural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1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19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7BBD-3B3D-2BDE-3DF7-DB0BF377D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57269-2556-D805-D6A2-044E521E2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0E0FF2-C546-421F-DA45-7E47AF362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017B9-801A-84DA-80BC-D41093882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686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1F86-C282-A499-A187-E206A868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E87F3C-9E47-34C4-CB33-36E326FFF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D4E47-F15B-3E93-D22C-1F7BDEE555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B3B4C-6439-07B5-1554-6B3A38B120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51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D9FC-A83E-D592-3D21-784B2B5A0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3F38C-0B46-1A50-24CA-5478A85C4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F9009-073B-3FE6-4BB6-21FEED022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C30-EF8F-44F2-5E7E-2EF3022F5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7E32B26-EEC0-9247-A56A-A050A540A0C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925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1 Tit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eal 2color 2 line.png">
            <a:extLst>
              <a:ext uri="{FF2B5EF4-FFF2-40B4-BE49-F238E27FC236}">
                <a16:creationId xmlns:a16="http://schemas.microsoft.com/office/drawing/2014/main" id="{5DFF146A-4BCE-6F95-2D4C-A6F7B2A0D7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4FB9F8-A929-64F9-8452-DF5F52C12C2C}"/>
              </a:ext>
            </a:extLst>
          </p:cNvPr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D2B8474-1DC1-B492-A83D-2535C61CCD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0A84B-3904-6B95-68EB-E37CE90A157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9C7C03-25AE-60C0-E0C6-14C3DA9A56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5BC5DFF-661D-7A87-98CC-549BC731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9572"/>
            <a:ext cx="6010930" cy="6397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041DF6-60C1-D18C-A84F-4C23DF4CAED5}"/>
              </a:ext>
            </a:extLst>
          </p:cNvPr>
          <p:cNvSpPr/>
          <p:nvPr userDrawn="1"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E6410E-FFA5-6012-8204-8E02583113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729076" cy="975487"/>
          </a:xfrm>
          <a:prstGeom prst="rect">
            <a:avLst/>
          </a:prstGeom>
        </p:spPr>
      </p:pic>
      <p:pic>
        <p:nvPicPr>
          <p:cNvPr id="11" name="Picture 10" descr="University of Pittsburgh, Mechanical Engineering and Materials Science">
            <a:extLst>
              <a:ext uri="{FF2B5EF4-FFF2-40B4-BE49-F238E27FC236}">
                <a16:creationId xmlns:a16="http://schemas.microsoft.com/office/drawing/2014/main" id="{18DF627C-11E2-B857-0B20-57F581D4A1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4000" y="6159660"/>
            <a:ext cx="2311580" cy="707743"/>
          </a:xfrm>
          <a:prstGeom prst="rect">
            <a:avLst/>
          </a:prstGeom>
        </p:spPr>
      </p:pic>
      <p:pic>
        <p:nvPicPr>
          <p:cNvPr id="12" name="Picture 11" descr="NJIT Launches a Campus Chapter of the National Academy of Inventors | David  A. Bader">
            <a:extLst>
              <a:ext uri="{FF2B5EF4-FFF2-40B4-BE49-F238E27FC236}">
                <a16:creationId xmlns:a16="http://schemas.microsoft.com/office/drawing/2014/main" id="{6B28D72E-749C-EBC3-22F6-A19174E6E2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24800" y="6284380"/>
            <a:ext cx="1112280" cy="4583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2 Title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A186-A842-EB41-93F8-9926F66DBD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-317"/>
            <a:ext cx="9144000" cy="6400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 descr="Seal 2color 2 line.png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8" y="0"/>
            <a:ext cx="640597" cy="640597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8220730" y="0"/>
            <a:ext cx="923270" cy="640080"/>
          </a:xfrm>
          <a:prstGeom prst="rect">
            <a:avLst/>
          </a:prstGeom>
          <a:solidFill>
            <a:srgbClr val="B9A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229600" y="0"/>
            <a:ext cx="914400" cy="639763"/>
          </a:xfrm>
          <a:prstGeom prst="rect">
            <a:avLst/>
          </a:prstGeom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fld id="{DEE2FDD7-C825-9743-96D4-4DD964AE6A99}" type="slidenum">
              <a:rPr lang="en-US" smtClean="0"/>
              <a:pPr>
                <a:defRPr/>
              </a:pPr>
              <a:t>‹#›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FFD572-9420-AD18-8C3B-3529F2BF12E8}"/>
              </a:ext>
            </a:extLst>
          </p:cNvPr>
          <p:cNvSpPr txBox="1"/>
          <p:nvPr userDrawn="1"/>
        </p:nvSpPr>
        <p:spPr>
          <a:xfrm>
            <a:off x="2305373" y="3159641"/>
            <a:ext cx="4610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9725D-A2D6-16FE-6F5D-47EE05BF27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r="47333"/>
          <a:stretch>
            <a:fillRect/>
          </a:stretch>
        </p:blipFill>
        <p:spPr>
          <a:xfrm>
            <a:off x="705173" y="-42908"/>
            <a:ext cx="678055" cy="7252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3E585B-2E8A-DEF3-CD0F-C20D13904D3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415516" y="-1151"/>
            <a:ext cx="640080" cy="6400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4">
            <a:extLst>
              <a:ext uri="{FF2B5EF4-FFF2-40B4-BE49-F238E27FC236}">
                <a16:creationId xmlns:a16="http://schemas.microsoft.com/office/drawing/2014/main" id="{EC73BF8B-9074-FEFA-90EF-69C858B96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8700" y="2667000"/>
            <a:ext cx="7086600" cy="2107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3472" tIns="83472" rIns="83472" bIns="83472">
            <a:spAutoFit/>
          </a:bodyPr>
          <a:lstStyle>
            <a:lvl1pPr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1pPr>
            <a:lvl2pPr marL="742950" indent="-28575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2pPr>
            <a:lvl3pPr marL="11430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3pPr>
            <a:lvl4pPr marL="16002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4pPr>
            <a:lvl5pPr marL="2057400" indent="-228600" defTabSz="977900" eaLnBrk="0" hangingPunct="0"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5pPr>
            <a:lvl6pPr marL="25146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6pPr>
            <a:lvl7pPr marL="29718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7pPr>
            <a:lvl8pPr marL="34290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8pPr>
            <a:lvl9pPr marL="3886200" indent="-228600" defTabSz="977900" eaLnBrk="0" fontAlgn="base" hangingPunct="0">
              <a:spcBef>
                <a:spcPct val="0"/>
              </a:spcBef>
              <a:spcAft>
                <a:spcPct val="0"/>
              </a:spcAft>
              <a:tabLst>
                <a:tab pos="5362575" algn="l"/>
              </a:tabLst>
              <a:defRPr sz="3200">
                <a:solidFill>
                  <a:schemeClr val="tx1"/>
                </a:solidFill>
                <a:latin typeface="Helvetica" charset="0"/>
                <a:ea typeface="ＭＳ Ｐゴシック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 dirty="0"/>
              <a:t>Graph Convolution Network (GCN) Voronoi Lattice Stiffness Optimization Progress Report</a:t>
            </a:r>
          </a:p>
          <a:p>
            <a:pPr algn="ctr" eaLnBrk="1" hangingPunct="1">
              <a:spcBef>
                <a:spcPct val="50000"/>
              </a:spcBef>
            </a:pPr>
            <a:endParaRPr lang="en-US" altLang="en-US" sz="2800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E37CF-52DF-9FCE-ABD6-CA0AF5BD4CA2}"/>
              </a:ext>
            </a:extLst>
          </p:cNvPr>
          <p:cNvSpPr txBox="1"/>
          <p:nvPr/>
        </p:nvSpPr>
        <p:spPr>
          <a:xfrm>
            <a:off x="1333500" y="4442936"/>
            <a:ext cx="6477000" cy="496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en-US" sz="1050" b="1" dirty="0"/>
              <a:t>Alexander Adams </a:t>
            </a:r>
            <a:r>
              <a:rPr lang="en-US" altLang="en-US" sz="1050" b="1" baseline="30000" dirty="0"/>
              <a:t> </a:t>
            </a:r>
            <a:r>
              <a:rPr lang="en-US" altLang="en-US" sz="1050" b="1" dirty="0"/>
              <a:t> </a:t>
            </a:r>
          </a:p>
          <a:p>
            <a:pPr algn="ctr"/>
            <a:r>
              <a:rPr lang="en-US" altLang="en-US" sz="1050" baseline="300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altLang="en-US" sz="1050" dirty="0">
                <a:latin typeface="Calibri" pitchFamily="34" charset="0"/>
                <a:ea typeface="Calibri" pitchFamily="34" charset="0"/>
                <a:cs typeface="Calibri" pitchFamily="34" charset="0"/>
              </a:rPr>
              <a:t>Department of Mechanical Engineering and Materials Science, University of Pittsburgh, Pittsburgh, PA 15260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AD81BF-565F-7FF3-7CB6-6F9B243F885D}"/>
              </a:ext>
            </a:extLst>
          </p:cNvPr>
          <p:cNvSpPr txBox="1"/>
          <p:nvPr/>
        </p:nvSpPr>
        <p:spPr>
          <a:xfrm>
            <a:off x="1333500" y="4128236"/>
            <a:ext cx="6477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en-US" sz="1050" b="1" dirty="0"/>
              <a:t>June 30</a:t>
            </a:r>
            <a:r>
              <a:rPr lang="en-US" sz="1050" b="1" baseline="30000" dirty="0"/>
              <a:t>th</a:t>
            </a:r>
            <a:r>
              <a:rPr lang="en-US" sz="1050" b="1" dirty="0"/>
              <a:t> 2026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49509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C37E8E-DC5A-2D7E-941E-9988B75C86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2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CA65-382A-B590-11F9-3C130CA0629C}"/>
              </a:ext>
            </a:extLst>
          </p:cNvPr>
          <p:cNvSpPr txBox="1"/>
          <p:nvPr/>
        </p:nvSpPr>
        <p:spPr>
          <a:xfrm>
            <a:off x="2209800" y="58271"/>
            <a:ext cx="1814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392C27B-946D-E8EF-895F-B44763B1C17E}"/>
              </a:ext>
            </a:extLst>
          </p:cNvPr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stiffness of Voronoi lattice structures from graph topology using a Graph Convolutional Network (GCN), trained on 3,000 synthetic FEA simulations (Abaqus). Experiments span 8 phases of optimizer, representation, and objective improvements.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1BA6DBF-D815-B0C6-C9D3-2B26D68C46DC}"/>
              </a:ext>
            </a:extLst>
          </p:cNvPr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Summary</a:t>
            </a:r>
            <a:endParaRPr lang="en-US" sz="1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C840E15-12F8-5D3B-1F49-308CA0E01721}"/>
              </a:ext>
            </a:extLst>
          </p:cNvPr>
          <p:cNvSpPr/>
          <p:nvPr/>
        </p:nvSpPr>
        <p:spPr>
          <a:xfrm>
            <a:off x="457200" y="228600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2-layer GCN, Adam optimizer  |  Test R²: 0.9148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1-2: Optimizer comparison (AdamW, SGD),  Adam remains best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Weighted edges  |  Prediction-set R²: 0.3637 → 0.4336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Richer node features  |  Test R²: 0.9148 → 0.9403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Multi-seed validation  |  Confirms improvement is real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Graph-level summary features  |  Mean test R²: 0.9411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7-8: Target normalization  |  Best mean test R²: 0.9447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84239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7C8D7-9788-A34A-84DE-BBA52919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B87720-B9C4-197F-621B-FDE64F8F1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3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147F8-F511-956B-751A-C321FAA27385}"/>
              </a:ext>
            </a:extLst>
          </p:cNvPr>
          <p:cNvSpPr txBox="1"/>
          <p:nvPr/>
        </p:nvSpPr>
        <p:spPr>
          <a:xfrm>
            <a:off x="2209800" y="58271"/>
            <a:ext cx="46211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Phase By Phase Summary </a:t>
            </a: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94835752-A668-0A56-5F84-DEF90E57E6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99093"/>
              </p:ext>
            </p:extLst>
          </p:nvPr>
        </p:nvGraphicFramePr>
        <p:xfrm>
          <a:off x="365760" y="1203960"/>
          <a:ext cx="8503920" cy="4206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Test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Pred-Set 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2-layer GCN, x/y features, 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node features (multi-seed)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Graph-level summary 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Target normalization (best test)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43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1EDB-C391-6724-CE42-6FBB63E00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9C222C-951D-11F7-DCCE-9096369B3C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4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5E872-39A9-F39B-0E9D-C7E4950F042F}"/>
              </a:ext>
            </a:extLst>
          </p:cNvPr>
          <p:cNvSpPr txBox="1"/>
          <p:nvPr/>
        </p:nvSpPr>
        <p:spPr>
          <a:xfrm>
            <a:off x="2209800" y="58271"/>
            <a:ext cx="35756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Assessment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53E282E-B1B1-070E-506C-2B4FC0F46CC6}"/>
              </a:ext>
            </a:extLst>
          </p:cNvPr>
          <p:cNvSpPr/>
          <p:nvPr/>
        </p:nvSpPr>
        <p:spPr>
          <a:xfrm>
            <a:off x="457200" y="12557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A02A3D-9123-8665-6786-60758D6A76D1}"/>
              </a:ext>
            </a:extLst>
          </p:cNvPr>
          <p:cNvSpPr/>
          <p:nvPr/>
        </p:nvSpPr>
        <p:spPr>
          <a:xfrm>
            <a:off x="457200" y="1255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DFC98D0-3E9E-CEC5-BE23-9CEAB1C57D78}"/>
              </a:ext>
            </a:extLst>
          </p:cNvPr>
          <p:cNvSpPr/>
          <p:nvPr/>
        </p:nvSpPr>
        <p:spPr>
          <a:xfrm>
            <a:off x="914400" y="12192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Adam with the two-phase schedule is the strongest training setup.</a:t>
            </a:r>
            <a:endParaRPr lang="en-US" sz="130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01D2ACD-2CD0-877C-2543-05C2D4AEE9E8}"/>
              </a:ext>
            </a:extLst>
          </p:cNvPr>
          <p:cNvSpPr/>
          <p:nvPr/>
        </p:nvSpPr>
        <p:spPr>
          <a:xfrm>
            <a:off x="457200" y="18501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64B1E6E-3097-05EA-13C2-FD0DA5A9BEBC}"/>
              </a:ext>
            </a:extLst>
          </p:cNvPr>
          <p:cNvSpPr/>
          <p:nvPr/>
        </p:nvSpPr>
        <p:spPr>
          <a:xfrm>
            <a:off x="457200" y="1850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E31453BA-AD44-8397-6122-617764D1B528}"/>
              </a:ext>
            </a:extLst>
          </p:cNvPr>
          <p:cNvSpPr/>
          <p:nvPr/>
        </p:nvSpPr>
        <p:spPr>
          <a:xfrm>
            <a:off x="914400" y="18135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is consistently worse than Adam; SGD variants are not competitive.</a:t>
            </a:r>
            <a:endParaRPr lang="en-US" sz="13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36B867B3-25BE-A0BB-C8EA-2013E41B4B6A}"/>
              </a:ext>
            </a:extLst>
          </p:cNvPr>
          <p:cNvSpPr/>
          <p:nvPr/>
        </p:nvSpPr>
        <p:spPr>
          <a:xfrm>
            <a:off x="457200" y="244449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4C6ED19-9667-38B2-F24D-1100310B6098}"/>
              </a:ext>
            </a:extLst>
          </p:cNvPr>
          <p:cNvSpPr/>
          <p:nvPr/>
        </p:nvSpPr>
        <p:spPr>
          <a:xfrm>
            <a:off x="457200" y="2444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5D77B616-EAF9-4E5A-C5BE-2879B30CC35D}"/>
              </a:ext>
            </a:extLst>
          </p:cNvPr>
          <p:cNvSpPr/>
          <p:nvPr/>
        </p:nvSpPr>
        <p:spPr>
          <a:xfrm>
            <a:off x="914400" y="240792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 are worth keeping, they preserve real graph structure.</a:t>
            </a:r>
            <a:endParaRPr lang="en-US" sz="130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07212C48-7D17-6F96-76DD-725B4FA07DF4}"/>
              </a:ext>
            </a:extLst>
          </p:cNvPr>
          <p:cNvSpPr/>
          <p:nvPr/>
        </p:nvSpPr>
        <p:spPr>
          <a:xfrm>
            <a:off x="457200" y="303885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A8B6F1BD-DBE2-6E5F-C2AF-753AA1B2A926}"/>
              </a:ext>
            </a:extLst>
          </p:cNvPr>
          <p:cNvSpPr/>
          <p:nvPr/>
        </p:nvSpPr>
        <p:spPr>
          <a:xfrm>
            <a:off x="457200" y="3038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064A809D-2821-58A8-394C-94EF48A0C3DD}"/>
              </a:ext>
            </a:extLst>
          </p:cNvPr>
          <p:cNvSpPr/>
          <p:nvPr/>
        </p:nvSpPr>
        <p:spPr>
          <a:xfrm>
            <a:off x="914400" y="300228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features: largest single improvement; best prediction-set baseline (mean R² 0.4964).</a:t>
            </a:r>
            <a:endParaRPr lang="en-US" sz="1300" dirty="0"/>
          </a:p>
        </p:txBody>
      </p:sp>
      <p:sp>
        <p:nvSpPr>
          <p:cNvPr id="29" name="Shape 16">
            <a:extLst>
              <a:ext uri="{FF2B5EF4-FFF2-40B4-BE49-F238E27FC236}">
                <a16:creationId xmlns:a16="http://schemas.microsoft.com/office/drawing/2014/main" id="{DDC32E12-3756-E738-133E-AEFBF0B8F16B}"/>
              </a:ext>
            </a:extLst>
          </p:cNvPr>
          <p:cNvSpPr/>
          <p:nvPr/>
        </p:nvSpPr>
        <p:spPr>
          <a:xfrm>
            <a:off x="457200" y="363321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EBDEF248-BC98-0EE5-37E3-A08CF02A2C81}"/>
              </a:ext>
            </a:extLst>
          </p:cNvPr>
          <p:cNvSpPr/>
          <p:nvPr/>
        </p:nvSpPr>
        <p:spPr>
          <a:xfrm>
            <a:off x="457200" y="3633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0CBCB392-8266-52BF-C8B6-1A2DAFCA7837}"/>
              </a:ext>
            </a:extLst>
          </p:cNvPr>
          <p:cNvSpPr/>
          <p:nvPr/>
        </p:nvSpPr>
        <p:spPr>
          <a:xfrm>
            <a:off x="914400" y="359664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+ target normalization: best mean held-out test R² (0.9447) and RMSE (0.002908).</a:t>
            </a:r>
            <a:endParaRPr lang="en-US" sz="13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0489D256-3CC4-9F52-21EB-A477DD29E956}"/>
              </a:ext>
            </a:extLst>
          </p:cNvPr>
          <p:cNvSpPr/>
          <p:nvPr/>
        </p:nvSpPr>
        <p:spPr>
          <a:xfrm>
            <a:off x="457200" y="422757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E9313EF1-63AD-71E0-E55F-27EC103C1760}"/>
              </a:ext>
            </a:extLst>
          </p:cNvPr>
          <p:cNvSpPr/>
          <p:nvPr/>
        </p:nvSpPr>
        <p:spPr>
          <a:xfrm>
            <a:off x="457200" y="4227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D53DDC0F-4741-A5B5-75D1-57E21532EA89}"/>
              </a:ext>
            </a:extLst>
          </p:cNvPr>
          <p:cNvSpPr/>
          <p:nvPr/>
        </p:nvSpPr>
        <p:spPr>
          <a:xfrm>
            <a:off x="914400" y="419100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tradeoff now exists between in-distribution accuracy and prediction-set generalization.</a:t>
            </a:r>
            <a:endParaRPr lang="en-US" sz="1300" dirty="0"/>
          </a:p>
        </p:txBody>
      </p:sp>
      <p:sp>
        <p:nvSpPr>
          <p:cNvPr id="41" name="Shape 22">
            <a:extLst>
              <a:ext uri="{FF2B5EF4-FFF2-40B4-BE49-F238E27FC236}">
                <a16:creationId xmlns:a16="http://schemas.microsoft.com/office/drawing/2014/main" id="{6DF09D38-D45E-16C0-4B19-54D90BDE9503}"/>
              </a:ext>
            </a:extLst>
          </p:cNvPr>
          <p:cNvSpPr/>
          <p:nvPr/>
        </p:nvSpPr>
        <p:spPr>
          <a:xfrm>
            <a:off x="457200" y="4821936"/>
            <a:ext cx="347472" cy="347472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87991961-1314-5B5C-43C8-491A7C789F62}"/>
              </a:ext>
            </a:extLst>
          </p:cNvPr>
          <p:cNvSpPr/>
          <p:nvPr/>
        </p:nvSpPr>
        <p:spPr>
          <a:xfrm>
            <a:off x="457200" y="4821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A6DDCD71-1EBA-B872-56DF-0B6D1ADC7AFD}"/>
              </a:ext>
            </a:extLst>
          </p:cNvPr>
          <p:cNvSpPr/>
          <p:nvPr/>
        </p:nvSpPr>
        <p:spPr>
          <a:xfrm>
            <a:off x="914400" y="4785360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gains are more likely from architecture or objective changes than from additional optimizer sweeps.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942353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6260D-A772-FEA2-8397-C785BB71F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F379A9-32AE-3933-4095-3D072AD891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F2A186-A842-EB41-93F8-9926F66DBD04}" type="slidenum">
              <a:rPr lang="en-US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pPr>
                <a:defRPr/>
              </a:pPr>
              <a:t>5</a:t>
            </a:fld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39E32-6720-2DAA-9EC5-265F0E56AC1E}"/>
              </a:ext>
            </a:extLst>
          </p:cNvPr>
          <p:cNvSpPr txBox="1"/>
          <p:nvPr/>
        </p:nvSpPr>
        <p:spPr>
          <a:xfrm>
            <a:off x="2209800" y="58271"/>
            <a:ext cx="20002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Steps</a:t>
            </a: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2CD028E-B004-0557-50AC-E523FC233E52}"/>
              </a:ext>
            </a:extLst>
          </p:cNvPr>
          <p:cNvSpPr/>
          <p:nvPr/>
        </p:nvSpPr>
        <p:spPr>
          <a:xfrm>
            <a:off x="457200" y="10668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Keep</a:t>
            </a:r>
            <a:endParaRPr lang="en-US" sz="17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D5F9C9-0BE4-BDCB-FC6B-787D6B448F4A}"/>
              </a:ext>
            </a:extLst>
          </p:cNvPr>
          <p:cNvSpPr/>
          <p:nvPr/>
        </p:nvSpPr>
        <p:spPr>
          <a:xfrm>
            <a:off x="457200" y="1459992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edges enabled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node features as the default representation baseline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Graph-level features + target normalization as the strongest test-accuracy config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two-phase schedule as the primary optimizer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repeats for all serious promotion decisions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F043A7D-27CD-B4FF-9927-F07CF23DF1FA}"/>
              </a:ext>
            </a:extLst>
          </p:cNvPr>
          <p:cNvSpPr/>
          <p:nvPr/>
        </p:nvSpPr>
        <p:spPr>
          <a:xfrm>
            <a:off x="457200" y="40568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Abandon</a:t>
            </a:r>
            <a:endParaRPr lang="en-US" sz="17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FA4B437E-510A-20EF-627A-0E8C43472EFC}"/>
              </a:ext>
            </a:extLst>
          </p:cNvPr>
          <p:cNvSpPr/>
          <p:nvPr/>
        </p:nvSpPr>
        <p:spPr>
          <a:xfrm>
            <a:off x="457200" y="442264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SGD + momentum / Nesterov sweeps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as a primary focus (keep only as low-priority sanity check)</a:t>
            </a:r>
            <a:endParaRPr lang="en-US" sz="13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E4A9F4F-D665-BBDB-C7DC-F614D4F0CC79}"/>
              </a:ext>
            </a:extLst>
          </p:cNvPr>
          <p:cNvSpPr/>
          <p:nvPr/>
        </p:nvSpPr>
        <p:spPr>
          <a:xfrm>
            <a:off x="4846320" y="1066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Directions to Explore</a:t>
            </a:r>
            <a:endParaRPr lang="en-US" sz="17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3808A5B1-166C-4B84-2C32-A3CBEBB101D1}"/>
              </a:ext>
            </a:extLst>
          </p:cNvPr>
          <p:cNvSpPr/>
          <p:nvPr/>
        </p:nvSpPr>
        <p:spPr>
          <a:xfrm>
            <a:off x="4846320" y="145999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BE9C508-BABF-152A-D662-7274F65C5B59}"/>
              </a:ext>
            </a:extLst>
          </p:cNvPr>
          <p:cNvSpPr/>
          <p:nvPr/>
        </p:nvSpPr>
        <p:spPr>
          <a:xfrm>
            <a:off x="4983480" y="1533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FCC5229-A23B-2CBD-2BD4-DE7BBD280907}"/>
              </a:ext>
            </a:extLst>
          </p:cNvPr>
          <p:cNvSpPr/>
          <p:nvPr/>
        </p:nvSpPr>
        <p:spPr>
          <a:xfrm>
            <a:off x="4983480" y="18714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Isomorphism Network, more expressive message passing</a:t>
            </a:r>
            <a:endParaRPr lang="en-US" sz="12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F2E87974-F7F8-1365-9835-2E04C17D7B1E}"/>
              </a:ext>
            </a:extLst>
          </p:cNvPr>
          <p:cNvSpPr/>
          <p:nvPr/>
        </p:nvSpPr>
        <p:spPr>
          <a:xfrm>
            <a:off x="4846320" y="255727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FBF1901A-D80A-9548-B6CB-A40171D54B8E}"/>
              </a:ext>
            </a:extLst>
          </p:cNvPr>
          <p:cNvSpPr/>
          <p:nvPr/>
        </p:nvSpPr>
        <p:spPr>
          <a:xfrm>
            <a:off x="4983480" y="2630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1500" dirty="0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91EAC72E-31D6-CA31-A788-855AC55A9FCC}"/>
              </a:ext>
            </a:extLst>
          </p:cNvPr>
          <p:cNvSpPr/>
          <p:nvPr/>
        </p:nvSpPr>
        <p:spPr>
          <a:xfrm>
            <a:off x="4983480" y="29687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learning via neighborhood sampling</a:t>
            </a:r>
            <a:endParaRPr lang="en-US" sz="12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E1D6A68E-0AE4-988E-9A2E-F8B5E2A56449}"/>
              </a:ext>
            </a:extLst>
          </p:cNvPr>
          <p:cNvSpPr/>
          <p:nvPr/>
        </p:nvSpPr>
        <p:spPr>
          <a:xfrm>
            <a:off x="4846320" y="3654552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EEF2F8"/>
          </a:solidFill>
          <a:ln w="12700">
            <a:solidFill>
              <a:srgbClr val="C8D6EA"/>
            </a:solidFill>
            <a:prstDash val="solid"/>
          </a:ln>
        </p:spPr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71C91912-5C8A-A040-FCA7-6CE78CFE3DDB}"/>
              </a:ext>
            </a:extLst>
          </p:cNvPr>
          <p:cNvSpPr/>
          <p:nvPr/>
        </p:nvSpPr>
        <p:spPr>
          <a:xfrm>
            <a:off x="4983480" y="37277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Residual GCN</a:t>
            </a:r>
            <a:endParaRPr lang="en-US" sz="1500" dirty="0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55E18E21-7AD9-CFE2-AF07-9E1471CFD153}"/>
              </a:ext>
            </a:extLst>
          </p:cNvPr>
          <p:cNvSpPr/>
          <p:nvPr/>
        </p:nvSpPr>
        <p:spPr>
          <a:xfrm>
            <a:off x="4983480" y="40660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architecture with skip connections</a:t>
            </a:r>
            <a:endParaRPr lang="en-US" sz="12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BE9E69FC-D2D2-CF3E-6E12-07EE9D42A9A6}"/>
              </a:ext>
            </a:extLst>
          </p:cNvPr>
          <p:cNvSpPr/>
          <p:nvPr/>
        </p:nvSpPr>
        <p:spPr>
          <a:xfrm>
            <a:off x="4846320" y="4751832"/>
            <a:ext cx="3931920" cy="658368"/>
          </a:xfrm>
          <a:prstGeom prst="roundRect">
            <a:avLst>
              <a:gd name="adj" fmla="val 11111"/>
            </a:avLst>
          </a:prstGeom>
          <a:solidFill>
            <a:srgbClr val="FFF3CD"/>
          </a:solidFill>
          <a:ln w="12700">
            <a:solidFill>
              <a:srgbClr val="FFEAA7"/>
            </a:solidFill>
            <a:prstDash val="solid"/>
          </a:ln>
        </p:spPr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F53ADD15-1D9D-1448-2681-5D8D4EBE435D}"/>
              </a:ext>
            </a:extLst>
          </p:cNvPr>
          <p:cNvSpPr/>
          <p:nvPr/>
        </p:nvSpPr>
        <p:spPr>
          <a:xfrm>
            <a:off x="4983480" y="4800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Objective-Level: consider split strategy review and alternate target scaling if prediction-set mismatch appears structural.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636867523"/>
      </p:ext>
    </p:extLst>
  </p:cSld>
  <p:clrMapOvr>
    <a:masterClrMapping/>
  </p:clrMapOvr>
</p:sld>
</file>

<file path=ppt/theme/theme1.xml><?xml version="1.0" encoding="utf-8"?>
<a:theme xmlns:a="http://schemas.openxmlformats.org/drawingml/2006/main" name="Body 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Bmechbpresentation" id="{69F95A6D-80FB-42CF-9430-49B8985042DD}" vid="{8DAACE04-E927-497C-BE7F-C965F736CC2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759F7608B13A4D86BCC979C54BBCCB" ma:contentTypeVersion="3" ma:contentTypeDescription="Create a new document." ma:contentTypeScope="" ma:versionID="562f52eeba954e953f3dbe994cae5a50">
  <xsd:schema xmlns:xsd="http://www.w3.org/2001/XMLSchema" xmlns:xs="http://www.w3.org/2001/XMLSchema" xmlns:p="http://schemas.microsoft.com/office/2006/metadata/properties" xmlns:ns2="08677264-7440-49ce-928a-9917bd2fc905" targetNamespace="http://schemas.microsoft.com/office/2006/metadata/properties" ma:root="true" ma:fieldsID="cfe0b1e2cc427cbe41c2a2bde47cd0a9" ns2:_="">
    <xsd:import namespace="08677264-7440-49ce-928a-9917bd2fc9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77264-7440-49ce-928a-9917bd2fc9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1EAF09-CD46-4973-8E3F-6CB46C90CA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77264-7440-49ce-928a-9917bd2fc9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4ED9B8-9FE6-4BEC-B456-79D1D6C96D7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6C02176-421E-4469-B6C2-6437A9690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6-30 REU</Template>
  <TotalTime>1</TotalTime>
  <Words>452</Words>
  <Application>Microsoft Office PowerPoint</Application>
  <PresentationFormat>On-screen Show (4:3)</PresentationFormat>
  <Paragraphs>82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Myriad Pro</vt:lpstr>
      <vt:lpstr>Body Slides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Adams, Alex</dc:creator>
  <cp:keywords/>
  <dc:description/>
  <cp:lastModifiedBy>Adams, Alex</cp:lastModifiedBy>
  <cp:revision>2</cp:revision>
  <cp:lastPrinted>2016-03-29T19:22:42Z</cp:lastPrinted>
  <dcterms:created xsi:type="dcterms:W3CDTF">2026-06-29T22:58:28Z</dcterms:created>
  <dcterms:modified xsi:type="dcterms:W3CDTF">2026-06-30T00:27:27Z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0x010100CE759F7608B13A4D86BCC979C54BBCCB</vt:lpwstr>
  </property>
</Properties>
</file>