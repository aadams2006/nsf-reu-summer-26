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8"/>
  </p:notesMasterIdLst>
  <p:handoutMasterIdLst>
    <p:handoutMasterId r:id="rId9"/>
  </p:handoutMasterIdLst>
  <p:sldIdLst>
    <p:sldId id="256" r:id="rId5"/>
    <p:sldId id="257" r:id="rId6"/>
    <p:sldId id="270" r:id="rId7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50000"/>
      </a:spcBef>
      <a:spcAft>
        <a:spcPct val="0"/>
      </a:spcAft>
      <a:defRPr sz="28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1pPr>
    <a:lvl2pPr marL="457200" algn="l" rtl="0" eaLnBrk="0" fontAlgn="base" hangingPunct="0">
      <a:spcBef>
        <a:spcPct val="50000"/>
      </a:spcBef>
      <a:spcAft>
        <a:spcPct val="0"/>
      </a:spcAft>
      <a:defRPr sz="28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2pPr>
    <a:lvl3pPr marL="914400" algn="l" rtl="0" eaLnBrk="0" fontAlgn="base" hangingPunct="0">
      <a:spcBef>
        <a:spcPct val="50000"/>
      </a:spcBef>
      <a:spcAft>
        <a:spcPct val="0"/>
      </a:spcAft>
      <a:defRPr sz="28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3pPr>
    <a:lvl4pPr marL="1371600" algn="l" rtl="0" eaLnBrk="0" fontAlgn="base" hangingPunct="0">
      <a:spcBef>
        <a:spcPct val="50000"/>
      </a:spcBef>
      <a:spcAft>
        <a:spcPct val="0"/>
      </a:spcAft>
      <a:defRPr sz="28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4pPr>
    <a:lvl5pPr marL="1828800" algn="l" rtl="0" eaLnBrk="0" fontAlgn="base" hangingPunct="0">
      <a:spcBef>
        <a:spcPct val="50000"/>
      </a:spcBef>
      <a:spcAft>
        <a:spcPct val="0"/>
      </a:spcAft>
      <a:defRPr sz="28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5pPr>
    <a:lvl6pPr marL="2286000" algn="l" defTabSz="457200" rtl="0" eaLnBrk="1" latinLnBrk="0" hangingPunct="1">
      <a:defRPr sz="28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6pPr>
    <a:lvl7pPr marL="2743200" algn="l" defTabSz="457200" rtl="0" eaLnBrk="1" latinLnBrk="0" hangingPunct="1">
      <a:defRPr sz="28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7pPr>
    <a:lvl8pPr marL="3200400" algn="l" defTabSz="457200" rtl="0" eaLnBrk="1" latinLnBrk="0" hangingPunct="1">
      <a:defRPr sz="28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8pPr>
    <a:lvl9pPr marL="3657600" algn="l" defTabSz="457200" rtl="0" eaLnBrk="1" latinLnBrk="0" hangingPunct="1">
      <a:defRPr sz="28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Tevis Jacobs" initials="T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C4686"/>
    <a:srgbClr val="0F3E7B"/>
    <a:srgbClr val="014F9E"/>
    <a:srgbClr val="FCB61C"/>
    <a:srgbClr val="001F5B"/>
    <a:srgbClr val="A7D2E0"/>
    <a:srgbClr val="0432FF"/>
    <a:srgbClr val="FF0000"/>
    <a:srgbClr val="FF2500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25" autoAdjust="0"/>
    <p:restoredTop sz="64845" autoAdjust="0"/>
  </p:normalViewPr>
  <p:slideViewPr>
    <p:cSldViewPr>
      <p:cViewPr varScale="1">
        <p:scale>
          <a:sx n="68" d="100"/>
          <a:sy n="68" d="100"/>
        </p:scale>
        <p:origin x="1771" y="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11152"/>
    </p:cViewPr>
  </p:sorterViewPr>
  <p:notesViewPr>
    <p:cSldViewPr>
      <p:cViewPr varScale="1">
        <p:scale>
          <a:sx n="86" d="100"/>
          <a:sy n="86" d="100"/>
        </p:scale>
        <p:origin x="-3042" y="-78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0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handoutMaster" Target="handoutMasters/handout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0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defRPr sz="12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1401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12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DC77948F-8F14-D741-A91D-17DAA1A33C3C}" type="datetime1">
              <a:rPr lang="en-US"/>
              <a:pPr>
                <a:defRPr/>
              </a:pPr>
              <a:t>6/18/2026</a:t>
            </a:fld>
            <a:endParaRPr lang="en-US"/>
          </a:p>
        </p:txBody>
      </p:sp>
      <p:sp>
        <p:nvSpPr>
          <p:cNvPr id="21402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defRPr sz="12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1402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12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19EFBD60-ED00-9F49-9C44-185C37AA922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012322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spcBef>
                <a:spcPct val="0"/>
              </a:spcBef>
              <a:defRPr sz="1200">
                <a:solidFill>
                  <a:schemeClr val="tx1"/>
                </a:solidFill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spcBef>
                <a:spcPct val="0"/>
              </a:spcBef>
              <a:defRPr sz="1200">
                <a:solidFill>
                  <a:schemeClr val="tx1"/>
                </a:solidFill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17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spcBef>
                <a:spcPct val="0"/>
              </a:spcBef>
              <a:defRPr sz="1200">
                <a:solidFill>
                  <a:schemeClr val="tx1"/>
                </a:solidFill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spcBef>
                <a:spcPct val="0"/>
              </a:spcBef>
              <a:defRPr sz="1200"/>
            </a:lvl1pPr>
          </a:lstStyle>
          <a:p>
            <a:pPr>
              <a:defRPr/>
            </a:pPr>
            <a:fld id="{17E32B26-EEC0-9247-A56A-A050A540A0C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211623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Predicting the Mechanical Properties of Complex Lattice Metamaterials Using Graph Neural Networks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7E32B26-EEC0-9247-A56A-A050A540A0C5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2613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dy Slide (1 Title Lin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Seal 2color 2 line.png">
            <a:extLst>
              <a:ext uri="{FF2B5EF4-FFF2-40B4-BE49-F238E27FC236}">
                <a16:creationId xmlns:a16="http://schemas.microsoft.com/office/drawing/2014/main" id="{5DFF146A-4BCE-6F95-2D4C-A6F7B2A0D78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2288" y="0"/>
            <a:ext cx="640597" cy="640597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8A4FB9F8-A929-64F9-8452-DF5F52C12C2C}"/>
              </a:ext>
            </a:extLst>
          </p:cNvPr>
          <p:cNvSpPr/>
          <p:nvPr userDrawn="1"/>
        </p:nvSpPr>
        <p:spPr>
          <a:xfrm>
            <a:off x="8220730" y="0"/>
            <a:ext cx="923270" cy="640080"/>
          </a:xfrm>
          <a:prstGeom prst="rect">
            <a:avLst/>
          </a:prstGeom>
          <a:solidFill>
            <a:srgbClr val="B9A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10">
            <a:extLst>
              <a:ext uri="{FF2B5EF4-FFF2-40B4-BE49-F238E27FC236}">
                <a16:creationId xmlns:a16="http://schemas.microsoft.com/office/drawing/2014/main" id="{3D2B8474-1DC1-B492-A83D-2535C61CCD2A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>
          <a:xfrm>
            <a:off x="8229600" y="0"/>
            <a:ext cx="914400" cy="639763"/>
          </a:xfrm>
          <a:prstGeom prst="rect">
            <a:avLst/>
          </a:prstGeom>
          <a:ln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28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DEE2FDD7-C825-9743-96D4-4DD964AE6A99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670A84B-3904-6B95-68EB-E37CE90A157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r="47333"/>
          <a:stretch>
            <a:fillRect/>
          </a:stretch>
        </p:blipFill>
        <p:spPr>
          <a:xfrm>
            <a:off x="705173" y="-42908"/>
            <a:ext cx="678055" cy="72526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F9C7C03-25AE-60C0-E0C6-14C3DA9A563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415516" y="-1151"/>
            <a:ext cx="640080" cy="640080"/>
          </a:xfrm>
          <a:prstGeom prst="rect">
            <a:avLst/>
          </a:prstGeom>
        </p:spPr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65BC5DFF-661D-7A87-98CC-549BC73161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9800" y="19572"/>
            <a:ext cx="6010930" cy="6397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C041DF6-60C1-D18C-A84F-4C23DF4CAED5}"/>
              </a:ext>
            </a:extLst>
          </p:cNvPr>
          <p:cNvSpPr/>
          <p:nvPr userDrawn="1"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solidFill>
              <a:schemeClr val="tx1"/>
            </a:solidFill>
          </a:ln>
        </p:spPr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7E6410E-FFA5-6012-8204-8E025831139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729076" cy="975487"/>
          </a:xfrm>
          <a:prstGeom prst="rect">
            <a:avLst/>
          </a:prstGeom>
        </p:spPr>
      </p:pic>
      <p:pic>
        <p:nvPicPr>
          <p:cNvPr id="11" name="Picture 10" descr="University of Pittsburgh, Mechanical Engineering and Materials Science">
            <a:extLst>
              <a:ext uri="{FF2B5EF4-FFF2-40B4-BE49-F238E27FC236}">
                <a16:creationId xmlns:a16="http://schemas.microsoft.com/office/drawing/2014/main" id="{18DF627C-11E2-B857-0B20-57F581D4A15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334000" y="6159660"/>
            <a:ext cx="2311580" cy="707743"/>
          </a:xfrm>
          <a:prstGeom prst="rect">
            <a:avLst/>
          </a:prstGeom>
        </p:spPr>
      </p:pic>
      <p:pic>
        <p:nvPicPr>
          <p:cNvPr id="12" name="Picture 11" descr="NJIT Launches a Campus Chapter of the National Academy of Inventors | David  A. Bader">
            <a:extLst>
              <a:ext uri="{FF2B5EF4-FFF2-40B4-BE49-F238E27FC236}">
                <a16:creationId xmlns:a16="http://schemas.microsoft.com/office/drawing/2014/main" id="{6B28D72E-749C-EBC3-22F6-A19174E6E21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924800" y="6284380"/>
            <a:ext cx="1112280" cy="45830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dy Slide (2 Title Line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0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DF2A186-A842-EB41-93F8-9926F66DBD0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469067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-317"/>
            <a:ext cx="9144000" cy="640080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1" name="Picture 10" descr="Seal 2color 2 line.png"/>
          <p:cNvPicPr>
            <a:picLocks noChangeAspect="1"/>
          </p:cNvPicPr>
          <p:nvPr userDrawn="1"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2288" y="0"/>
            <a:ext cx="640597" cy="640597"/>
          </a:xfrm>
          <a:prstGeom prst="rect">
            <a:avLst/>
          </a:prstGeom>
        </p:spPr>
      </p:pic>
      <p:sp>
        <p:nvSpPr>
          <p:cNvPr id="12" name="Rectangle 11"/>
          <p:cNvSpPr/>
          <p:nvPr userDrawn="1"/>
        </p:nvSpPr>
        <p:spPr>
          <a:xfrm>
            <a:off x="8220730" y="0"/>
            <a:ext cx="923270" cy="640080"/>
          </a:xfrm>
          <a:prstGeom prst="rect">
            <a:avLst/>
          </a:prstGeom>
          <a:solidFill>
            <a:srgbClr val="B9A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10"/>
          <p:cNvSpPr>
            <a:spLocks noGrp="1" noChangeArrowheads="1"/>
          </p:cNvSpPr>
          <p:nvPr>
            <p:ph type="sldNum" sz="quarter" idx="4"/>
          </p:nvPr>
        </p:nvSpPr>
        <p:spPr>
          <a:xfrm>
            <a:off x="8229600" y="0"/>
            <a:ext cx="914400" cy="639763"/>
          </a:xfrm>
          <a:prstGeom prst="rect">
            <a:avLst/>
          </a:prstGeom>
          <a:ln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28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>
              <a:defRPr/>
            </a:pPr>
            <a:fld id="{DEE2FDD7-C825-9743-96D4-4DD964AE6A99}" type="slidenum">
              <a:rPr lang="en-US" smtClean="0"/>
              <a:pPr>
                <a:defRPr/>
              </a:pPr>
              <a:t>‹#›</a:t>
            </a:fld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5FFD572-9420-AD18-8C3B-3529F2BF12E8}"/>
              </a:ext>
            </a:extLst>
          </p:cNvPr>
          <p:cNvSpPr txBox="1"/>
          <p:nvPr userDrawn="1"/>
        </p:nvSpPr>
        <p:spPr>
          <a:xfrm>
            <a:off x="2305373" y="3159641"/>
            <a:ext cx="461074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9C9725D-A2D6-16FE-6F5D-47EE05BF272F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rcRect r="47333"/>
          <a:stretch>
            <a:fillRect/>
          </a:stretch>
        </p:blipFill>
        <p:spPr>
          <a:xfrm>
            <a:off x="705173" y="-42908"/>
            <a:ext cx="678055" cy="72526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E3E585B-2E8A-DEF3-CD0F-C20D13904D3B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1415516" y="-1151"/>
            <a:ext cx="640080" cy="64008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90" r:id="rId2"/>
    <p:sldLayoutId id="2147483689" r:id="rId3"/>
    <p:sldLayoutId id="2147483691" r:id="rId4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+mj-lt"/>
          <a:ea typeface="ＭＳ Ｐゴシック" charset="-128"/>
          <a:cs typeface="ＭＳ Ｐゴシック" charset="-128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Arial" charset="0"/>
          <a:ea typeface="ＭＳ Ｐゴシック" charset="-128"/>
          <a:cs typeface="ＭＳ Ｐゴシック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Arial" charset="0"/>
          <a:ea typeface="ＭＳ Ｐゴシック" charset="-128"/>
          <a:cs typeface="ＭＳ Ｐゴシック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Arial" charset="0"/>
          <a:ea typeface="ＭＳ Ｐゴシック" charset="-128"/>
          <a:cs typeface="ＭＳ Ｐゴシック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Arial" charset="0"/>
          <a:ea typeface="ＭＳ Ｐゴシック" charset="-128"/>
          <a:cs typeface="ＭＳ Ｐゴシック" charset="-128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Arial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ＭＳ Ｐゴシック" charset="-128"/>
          <a:cs typeface="ＭＳ Ｐゴシック" charset="-128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ＭＳ Ｐゴシック" charset="-128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ＭＳ Ｐゴシック" charset="-128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charset="-128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4">
            <a:extLst>
              <a:ext uri="{FF2B5EF4-FFF2-40B4-BE49-F238E27FC236}">
                <a16:creationId xmlns:a16="http://schemas.microsoft.com/office/drawing/2014/main" id="{EC73BF8B-9074-FEFA-90EF-69C858B96F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8700" y="2667000"/>
            <a:ext cx="7086600" cy="10303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83472" tIns="83472" rIns="83472" bIns="83472">
            <a:spAutoFit/>
          </a:bodyPr>
          <a:lstStyle>
            <a:lvl1pPr defTabSz="977900" eaLnBrk="0" hangingPunct="0">
              <a:tabLst>
                <a:tab pos="5362575" algn="l"/>
              </a:tabLst>
              <a:defRPr sz="3200">
                <a:solidFill>
                  <a:schemeClr val="tx1"/>
                </a:solidFill>
                <a:latin typeface="Helvetica" charset="0"/>
                <a:ea typeface="ＭＳ Ｐゴシック" charset="-128"/>
              </a:defRPr>
            </a:lvl1pPr>
            <a:lvl2pPr marL="742950" indent="-285750" defTabSz="977900" eaLnBrk="0" hangingPunct="0">
              <a:tabLst>
                <a:tab pos="5362575" algn="l"/>
              </a:tabLst>
              <a:defRPr sz="3200">
                <a:solidFill>
                  <a:schemeClr val="tx1"/>
                </a:solidFill>
                <a:latin typeface="Helvetica" charset="0"/>
                <a:ea typeface="ＭＳ Ｐゴシック" charset="-128"/>
              </a:defRPr>
            </a:lvl2pPr>
            <a:lvl3pPr marL="1143000" indent="-228600" defTabSz="977900" eaLnBrk="0" hangingPunct="0">
              <a:tabLst>
                <a:tab pos="5362575" algn="l"/>
              </a:tabLst>
              <a:defRPr sz="3200">
                <a:solidFill>
                  <a:schemeClr val="tx1"/>
                </a:solidFill>
                <a:latin typeface="Helvetica" charset="0"/>
                <a:ea typeface="ＭＳ Ｐゴシック" charset="-128"/>
              </a:defRPr>
            </a:lvl3pPr>
            <a:lvl4pPr marL="1600200" indent="-228600" defTabSz="977900" eaLnBrk="0" hangingPunct="0">
              <a:tabLst>
                <a:tab pos="5362575" algn="l"/>
              </a:tabLst>
              <a:defRPr sz="3200">
                <a:solidFill>
                  <a:schemeClr val="tx1"/>
                </a:solidFill>
                <a:latin typeface="Helvetica" charset="0"/>
                <a:ea typeface="ＭＳ Ｐゴシック" charset="-128"/>
              </a:defRPr>
            </a:lvl4pPr>
            <a:lvl5pPr marL="2057400" indent="-228600" defTabSz="977900" eaLnBrk="0" hangingPunct="0">
              <a:tabLst>
                <a:tab pos="5362575" algn="l"/>
              </a:tabLst>
              <a:defRPr sz="3200">
                <a:solidFill>
                  <a:schemeClr val="tx1"/>
                </a:solidFill>
                <a:latin typeface="Helvetica" charset="0"/>
                <a:ea typeface="ＭＳ Ｐゴシック" charset="-128"/>
              </a:defRPr>
            </a:lvl5pPr>
            <a:lvl6pPr marL="2514600" indent="-228600" defTabSz="977900" eaLnBrk="0" fontAlgn="base" hangingPunct="0">
              <a:spcBef>
                <a:spcPct val="0"/>
              </a:spcBef>
              <a:spcAft>
                <a:spcPct val="0"/>
              </a:spcAft>
              <a:tabLst>
                <a:tab pos="5362575" algn="l"/>
              </a:tabLst>
              <a:defRPr sz="3200">
                <a:solidFill>
                  <a:schemeClr val="tx1"/>
                </a:solidFill>
                <a:latin typeface="Helvetica" charset="0"/>
                <a:ea typeface="ＭＳ Ｐゴシック" charset="-128"/>
              </a:defRPr>
            </a:lvl6pPr>
            <a:lvl7pPr marL="2971800" indent="-228600" defTabSz="977900" eaLnBrk="0" fontAlgn="base" hangingPunct="0">
              <a:spcBef>
                <a:spcPct val="0"/>
              </a:spcBef>
              <a:spcAft>
                <a:spcPct val="0"/>
              </a:spcAft>
              <a:tabLst>
                <a:tab pos="5362575" algn="l"/>
              </a:tabLst>
              <a:defRPr sz="3200">
                <a:solidFill>
                  <a:schemeClr val="tx1"/>
                </a:solidFill>
                <a:latin typeface="Helvetica" charset="0"/>
                <a:ea typeface="ＭＳ Ｐゴシック" charset="-128"/>
              </a:defRPr>
            </a:lvl7pPr>
            <a:lvl8pPr marL="3429000" indent="-228600" defTabSz="977900" eaLnBrk="0" fontAlgn="base" hangingPunct="0">
              <a:spcBef>
                <a:spcPct val="0"/>
              </a:spcBef>
              <a:spcAft>
                <a:spcPct val="0"/>
              </a:spcAft>
              <a:tabLst>
                <a:tab pos="5362575" algn="l"/>
              </a:tabLst>
              <a:defRPr sz="3200">
                <a:solidFill>
                  <a:schemeClr val="tx1"/>
                </a:solidFill>
                <a:latin typeface="Helvetica" charset="0"/>
                <a:ea typeface="ＭＳ Ｐゴシック" charset="-128"/>
              </a:defRPr>
            </a:lvl8pPr>
            <a:lvl9pPr marL="3886200" indent="-228600" defTabSz="977900" eaLnBrk="0" fontAlgn="base" hangingPunct="0">
              <a:spcBef>
                <a:spcPct val="0"/>
              </a:spcBef>
              <a:spcAft>
                <a:spcPct val="0"/>
              </a:spcAft>
              <a:tabLst>
                <a:tab pos="5362575" algn="l"/>
              </a:tabLst>
              <a:defRPr sz="3200">
                <a:solidFill>
                  <a:schemeClr val="tx1"/>
                </a:solidFill>
                <a:latin typeface="Helvetica" charset="0"/>
                <a:ea typeface="ＭＳ Ｐゴシック" charset="-128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sz="2800" b="1" dirty="0"/>
              <a:t>Voronoi Lattice Simulation Code Walkthrough and Pipeline Visualization</a:t>
            </a:r>
            <a:endParaRPr lang="en-US" altLang="en-US" sz="2800" dirty="0">
              <a:solidFill>
                <a:srgbClr val="00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49E37CF-52DF-9FCE-ABD6-CA0AF5BD4CA2}"/>
              </a:ext>
            </a:extLst>
          </p:cNvPr>
          <p:cNvSpPr txBox="1"/>
          <p:nvPr/>
        </p:nvSpPr>
        <p:spPr>
          <a:xfrm>
            <a:off x="1333500" y="4442936"/>
            <a:ext cx="6477000" cy="4962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1" hangingPunct="1"/>
            <a:r>
              <a:rPr lang="en-US" altLang="en-US" sz="1050" b="1" dirty="0"/>
              <a:t>Alexander Adams </a:t>
            </a:r>
            <a:r>
              <a:rPr lang="en-US" altLang="en-US" sz="1050" b="1" baseline="30000" dirty="0"/>
              <a:t> </a:t>
            </a:r>
            <a:r>
              <a:rPr lang="en-US" altLang="en-US" sz="1050" b="1" dirty="0"/>
              <a:t> </a:t>
            </a:r>
          </a:p>
          <a:p>
            <a:pPr algn="ctr"/>
            <a:r>
              <a:rPr lang="en-US" altLang="en-US" sz="1050" baseline="30000" dirty="0">
                <a:latin typeface="Calibri" pitchFamily="34" charset="0"/>
                <a:ea typeface="Calibri" pitchFamily="34" charset="0"/>
                <a:cs typeface="Calibri" pitchFamily="34" charset="0"/>
              </a:rPr>
              <a:t> </a:t>
            </a:r>
            <a:r>
              <a:rPr lang="en-US" altLang="en-US" sz="1050" dirty="0">
                <a:latin typeface="Calibri" pitchFamily="34" charset="0"/>
                <a:ea typeface="Calibri" pitchFamily="34" charset="0"/>
                <a:cs typeface="Calibri" pitchFamily="34" charset="0"/>
              </a:rPr>
              <a:t>Department of Mechanical Engineering and Materials Science, University of Pittsburgh, Pittsburgh, PA 15260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6AD81BF-565F-7FF3-7CB6-6F9B243F885D}"/>
              </a:ext>
            </a:extLst>
          </p:cNvPr>
          <p:cNvSpPr txBox="1"/>
          <p:nvPr/>
        </p:nvSpPr>
        <p:spPr>
          <a:xfrm>
            <a:off x="1333500" y="4128236"/>
            <a:ext cx="64770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1" hangingPunct="1"/>
            <a:r>
              <a:rPr lang="en-US" sz="1050" b="1" dirty="0"/>
              <a:t>June 9</a:t>
            </a:r>
            <a:r>
              <a:rPr lang="en-US" sz="1050" b="1" baseline="30000" dirty="0"/>
              <a:t>th</a:t>
            </a:r>
            <a:r>
              <a:rPr lang="en-US" sz="1050" b="1" dirty="0"/>
              <a:t> 2026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39495093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815340" y="1066800"/>
            <a:ext cx="1748790" cy="1961388"/>
          </a:xfrm>
          <a:prstGeom prst="roundRect">
            <a:avLst>
              <a:gd name="adj" fmla="val 4706"/>
            </a:avLst>
          </a:prstGeom>
          <a:solidFill>
            <a:schemeClr val="bg2">
              <a:lumMod val="40000"/>
              <a:lumOff val="60000"/>
            </a:schemeClr>
          </a:solidFill>
          <a:ln w="19050">
            <a:solidFill>
              <a:schemeClr val="tx1"/>
            </a:solidFill>
            <a:prstDash val="solid"/>
          </a:ln>
          <a:effectLst>
            <a:outerShdw blurRad="127000" dist="38100" dir="27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910590" y="1209104"/>
            <a:ext cx="308610" cy="339471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975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975" dirty="0"/>
          </a:p>
        </p:txBody>
      </p:sp>
      <p:sp>
        <p:nvSpPr>
          <p:cNvPr id="7" name="Text 5"/>
          <p:cNvSpPr/>
          <p:nvPr/>
        </p:nvSpPr>
        <p:spPr>
          <a:xfrm>
            <a:off x="1240536" y="1205675"/>
            <a:ext cx="1234440" cy="414909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noFill/>
          </a:ln>
        </p:spPr>
        <p:txBody>
          <a:bodyPr wrap="square" lIns="0" tIns="0" rIns="0" bIns="0" rtlCol="0" anchor="ctr"/>
          <a:lstStyle/>
          <a:p>
            <a:r>
              <a:rPr lang="en-US" sz="975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User Parameters</a:t>
            </a:r>
            <a:endParaRPr lang="en-US" sz="975" dirty="0"/>
          </a:p>
        </p:txBody>
      </p:sp>
      <p:sp>
        <p:nvSpPr>
          <p:cNvPr id="9" name="Text 7"/>
          <p:cNvSpPr/>
          <p:nvPr/>
        </p:nvSpPr>
        <p:spPr>
          <a:xfrm>
            <a:off x="918210" y="1611325"/>
            <a:ext cx="1577340" cy="1297534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noFill/>
          </a:ln>
        </p:spPr>
        <p:txBody>
          <a:bodyPr wrap="square" lIns="0" tIns="0" rIns="0" bIns="0" rtlCol="0" anchor="t"/>
          <a:lstStyle/>
          <a:p>
            <a:pPr marL="257175" indent="-257175">
              <a:buSzPct val="100000"/>
              <a:buChar char="•"/>
            </a:pPr>
            <a:r>
              <a:rPr lang="en-US" sz="7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Grid geometry: cell_size, n</a:t>
            </a:r>
            <a:endParaRPr lang="en-US" sz="750" dirty="0"/>
          </a:p>
          <a:p>
            <a:pPr marL="257175" indent="-257175">
              <a:buSzPct val="100000"/>
              <a:buChar char="•"/>
            </a:pPr>
            <a:r>
              <a:rPr lang="en-US" sz="7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Randomness sweep: 0.0 → 0.5 (3,000 sims)</a:t>
            </a:r>
            <a:endParaRPr lang="en-US" sz="750" dirty="0"/>
          </a:p>
          <a:p>
            <a:pPr marL="257175" indent="-257175">
              <a:buSzPct val="100000"/>
              <a:buChar char="•"/>
            </a:pPr>
            <a:r>
              <a:rPr lang="en-US" sz="7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Material: E = 2,000 MPa, ν = 0.30</a:t>
            </a:r>
            <a:endParaRPr lang="en-US" sz="750" dirty="0"/>
          </a:p>
          <a:p>
            <a:pPr marL="257175" indent="-257175">
              <a:buSzPct val="100000"/>
              <a:buChar char="•"/>
            </a:pPr>
            <a:r>
              <a:rPr lang="en-US" sz="7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Cross-section: rect_a × rect_b</a:t>
            </a:r>
            <a:endParaRPr lang="en-US" sz="750" dirty="0"/>
          </a:p>
          <a:p>
            <a:pPr marL="257175" indent="-257175">
              <a:buSzPct val="100000"/>
              <a:buChar char="•"/>
            </a:pPr>
            <a:r>
              <a:rPr lang="en-US" sz="7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Seed size = 0.30 mm</a:t>
            </a:r>
            <a:endParaRPr lang="en-US" sz="750" dirty="0"/>
          </a:p>
          <a:p>
            <a:pPr marL="257175" indent="-257175">
              <a:buSzPct val="100000"/>
              <a:buChar char="•"/>
            </a:pPr>
            <a:r>
              <a:rPr lang="en-US" sz="7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Displacement = 5.0 mm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2735580" y="1066800"/>
            <a:ext cx="1748790" cy="1961388"/>
          </a:xfrm>
          <a:prstGeom prst="roundRect">
            <a:avLst>
              <a:gd name="adj" fmla="val 4706"/>
            </a:avLst>
          </a:prstGeom>
          <a:solidFill>
            <a:schemeClr val="bg2">
              <a:lumMod val="40000"/>
              <a:lumOff val="60000"/>
            </a:schemeClr>
          </a:solidFill>
          <a:ln w="19050">
            <a:solidFill>
              <a:schemeClr val="tx1"/>
            </a:solidFill>
            <a:prstDash val="solid"/>
          </a:ln>
          <a:effectLst>
            <a:outerShdw blurRad="127000" dist="38100" dir="27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815590" y="1209104"/>
            <a:ext cx="308610" cy="339471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975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75" dirty="0"/>
          </a:p>
        </p:txBody>
      </p:sp>
      <p:sp>
        <p:nvSpPr>
          <p:cNvPr id="13" name="Text 11"/>
          <p:cNvSpPr/>
          <p:nvPr/>
        </p:nvSpPr>
        <p:spPr>
          <a:xfrm>
            <a:off x="3160776" y="1205675"/>
            <a:ext cx="1234440" cy="414909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noFill/>
          </a:ln>
        </p:spPr>
        <p:txBody>
          <a:bodyPr wrap="square" lIns="0" tIns="0" rIns="0" bIns="0" rtlCol="0" anchor="ctr"/>
          <a:lstStyle/>
          <a:p>
            <a:r>
              <a:rPr lang="en-US" sz="975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Seed Point Generation</a:t>
            </a:r>
            <a:endParaRPr lang="en-US" sz="975" dirty="0"/>
          </a:p>
        </p:txBody>
      </p:sp>
      <p:sp>
        <p:nvSpPr>
          <p:cNvPr id="15" name="Text 13"/>
          <p:cNvSpPr/>
          <p:nvPr/>
        </p:nvSpPr>
        <p:spPr>
          <a:xfrm>
            <a:off x="2838450" y="1611325"/>
            <a:ext cx="1577340" cy="1297534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noFill/>
          </a:ln>
        </p:spPr>
        <p:txBody>
          <a:bodyPr wrap="square" lIns="0" tIns="0" rIns="0" bIns="0" rtlCol="0" anchor="t"/>
          <a:lstStyle/>
          <a:p>
            <a:pPr marL="257175" indent="-257175">
              <a:buSzPct val="100000"/>
              <a:buChar char="•"/>
            </a:pPr>
            <a:r>
              <a:rPr lang="en-US" sz="7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Hexagonal base grid (n × n)</a:t>
            </a:r>
            <a:endParaRPr lang="en-US" sz="750" dirty="0"/>
          </a:p>
          <a:p>
            <a:pPr marL="257175" indent="-257175">
              <a:buSzPct val="100000"/>
              <a:buChar char="•"/>
            </a:pPr>
            <a:r>
              <a:rPr lang="en-US" sz="7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Odd columns staggered ½ cell_height</a:t>
            </a:r>
            <a:endParaRPr lang="en-US" sz="750" dirty="0"/>
          </a:p>
          <a:p>
            <a:pPr marL="257175" indent="-257175">
              <a:buSzPct val="100000"/>
              <a:buChar char="•"/>
            </a:pPr>
            <a:r>
              <a:rPr lang="en-US" sz="7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Interior pts jittered ±randomness × cell_size</a:t>
            </a:r>
            <a:endParaRPr lang="en-US" sz="750" dirty="0"/>
          </a:p>
          <a:p>
            <a:pPr marL="257175" indent="-257175">
              <a:buSzPct val="100000"/>
              <a:buChar char="•"/>
            </a:pPr>
            <a:r>
              <a:rPr lang="en-US" sz="7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Edge pts fixed perpendicular (clean BCs)</a:t>
            </a:r>
            <a:endParaRPr lang="en-US" sz="750" dirty="0"/>
          </a:p>
          <a:p>
            <a:pPr marL="257175" indent="-257175">
              <a:buSzPct val="100000"/>
              <a:buChar char="•"/>
            </a:pPr>
            <a:r>
              <a:rPr lang="en-US" sz="7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Tag bottom / top / interior rows</a:t>
            </a:r>
            <a:endParaRPr lang="en-US" sz="750" dirty="0"/>
          </a:p>
          <a:p>
            <a:pPr marL="257175" indent="-257175">
              <a:buSzPct val="100000"/>
              <a:buChar char="•"/>
            </a:pPr>
            <a:r>
              <a:rPr lang="en-US" sz="7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Snap boundary rows to exact y values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4655820" y="1066800"/>
            <a:ext cx="1748790" cy="1961388"/>
          </a:xfrm>
          <a:prstGeom prst="roundRect">
            <a:avLst>
              <a:gd name="adj" fmla="val 4706"/>
            </a:avLst>
          </a:prstGeom>
          <a:solidFill>
            <a:schemeClr val="bg2">
              <a:lumMod val="40000"/>
              <a:lumOff val="60000"/>
            </a:schemeClr>
          </a:solidFill>
          <a:ln w="19050">
            <a:solidFill>
              <a:schemeClr val="tx1"/>
            </a:solidFill>
            <a:prstDash val="solid"/>
          </a:ln>
          <a:effectLst>
            <a:outerShdw blurRad="127000" dist="38100" dir="27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724400" y="1209104"/>
            <a:ext cx="308610" cy="339471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975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75" dirty="0"/>
          </a:p>
        </p:txBody>
      </p:sp>
      <p:sp>
        <p:nvSpPr>
          <p:cNvPr id="19" name="Text 17"/>
          <p:cNvSpPr/>
          <p:nvPr/>
        </p:nvSpPr>
        <p:spPr>
          <a:xfrm>
            <a:off x="5081016" y="1205675"/>
            <a:ext cx="1234440" cy="414909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noFill/>
          </a:ln>
        </p:spPr>
        <p:txBody>
          <a:bodyPr wrap="square" lIns="0" tIns="0" rIns="0" bIns="0" rtlCol="0" anchor="ctr"/>
          <a:lstStyle/>
          <a:p>
            <a:r>
              <a:rPr lang="en-US" sz="975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Build Segments</a:t>
            </a:r>
            <a:endParaRPr lang="en-US" sz="975" dirty="0"/>
          </a:p>
        </p:txBody>
      </p:sp>
      <p:sp>
        <p:nvSpPr>
          <p:cNvPr id="21" name="Text 19"/>
          <p:cNvSpPr/>
          <p:nvPr/>
        </p:nvSpPr>
        <p:spPr>
          <a:xfrm>
            <a:off x="4758690" y="1611325"/>
            <a:ext cx="1577340" cy="1297534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noFill/>
          </a:ln>
        </p:spPr>
        <p:txBody>
          <a:bodyPr wrap="square" lIns="0" tIns="0" rIns="0" bIns="0" rtlCol="0" anchor="t"/>
          <a:lstStyle/>
          <a:p>
            <a:pPr marL="257175" indent="-257175">
              <a:buSzPct val="100000"/>
              <a:buChar char="•"/>
            </a:pPr>
            <a:r>
              <a:rPr lang="en-US" sz="7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For each seed: find neighbours within 2.5×cell_size</a:t>
            </a:r>
            <a:endParaRPr lang="en-US" sz="750" dirty="0"/>
          </a:p>
          <a:p>
            <a:pPr marL="257175" indent="-257175">
              <a:buSzPct val="100000"/>
              <a:buChar char="•"/>
            </a:pPr>
            <a:r>
              <a:rPr lang="en-US" sz="7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Sort by distance; cap at 12 candidates</a:t>
            </a:r>
            <a:endParaRPr lang="en-US" sz="750" dirty="0"/>
          </a:p>
          <a:p>
            <a:pPr marL="257175" indent="-257175">
              <a:buSzPct val="100000"/>
              <a:buChar char="•"/>
            </a:pPr>
            <a:r>
              <a:rPr lang="en-US" sz="7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Pick 3–6 connections randomly (stochastic)</a:t>
            </a:r>
            <a:endParaRPr lang="en-US" sz="750" dirty="0"/>
          </a:p>
          <a:p>
            <a:pPr marL="257175" indent="-257175">
              <a:buSzPct val="100000"/>
              <a:buChar char="•"/>
            </a:pPr>
            <a:r>
              <a:rPr lang="en-US" sz="7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Store via seg_key (canonical, deduplicated)</a:t>
            </a:r>
            <a:endParaRPr lang="en-US" sz="750" dirty="0"/>
          </a:p>
          <a:p>
            <a:pPr marL="257175" indent="-257175">
              <a:buSzPct val="100000"/>
              <a:buChar char="•"/>
            </a:pPr>
            <a:r>
              <a:rPr lang="en-US" sz="7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Produces structural variety per randomness level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6576060" y="1066800"/>
            <a:ext cx="1748790" cy="1961388"/>
          </a:xfrm>
          <a:prstGeom prst="roundRect">
            <a:avLst>
              <a:gd name="adj" fmla="val 4706"/>
            </a:avLst>
          </a:prstGeom>
          <a:solidFill>
            <a:schemeClr val="bg2">
              <a:lumMod val="40000"/>
              <a:lumOff val="60000"/>
            </a:schemeClr>
          </a:solidFill>
          <a:ln w="19050">
            <a:solidFill>
              <a:schemeClr val="tx1"/>
            </a:solidFill>
            <a:prstDash val="solid"/>
          </a:ln>
          <a:effectLst>
            <a:outerShdw blurRad="127000" dist="38100" dir="27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650355" y="1219391"/>
            <a:ext cx="308610" cy="339471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975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75" dirty="0"/>
          </a:p>
        </p:txBody>
      </p:sp>
      <p:sp>
        <p:nvSpPr>
          <p:cNvPr id="25" name="Text 23"/>
          <p:cNvSpPr/>
          <p:nvPr/>
        </p:nvSpPr>
        <p:spPr>
          <a:xfrm>
            <a:off x="7001256" y="1205675"/>
            <a:ext cx="1234440" cy="414909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noFill/>
          </a:ln>
        </p:spPr>
        <p:txBody>
          <a:bodyPr wrap="square" lIns="0" tIns="0" rIns="0" bIns="0" rtlCol="0" anchor="ctr"/>
          <a:lstStyle/>
          <a:p>
            <a:r>
              <a:rPr lang="en-US" sz="975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Clean Geometry</a:t>
            </a:r>
            <a:endParaRPr lang="en-US" sz="975" dirty="0"/>
          </a:p>
        </p:txBody>
      </p:sp>
      <p:sp>
        <p:nvSpPr>
          <p:cNvPr id="27" name="Text 25"/>
          <p:cNvSpPr/>
          <p:nvPr/>
        </p:nvSpPr>
        <p:spPr>
          <a:xfrm>
            <a:off x="6678930" y="1611325"/>
            <a:ext cx="1577340" cy="1297534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noFill/>
          </a:ln>
        </p:spPr>
        <p:txBody>
          <a:bodyPr wrap="square" lIns="0" tIns="0" rIns="0" bIns="0" rtlCol="0" anchor="t"/>
          <a:lstStyle/>
          <a:p>
            <a:pPr marL="257175" indent="-257175">
              <a:buSzPct val="100000"/>
              <a:buChar char="•"/>
            </a:pPr>
            <a:r>
              <a:rPr lang="en-US" sz="7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Remove crossing beams (O(n²) while-loop)</a:t>
            </a:r>
            <a:endParaRPr lang="en-US" sz="750" dirty="0"/>
          </a:p>
          <a:p>
            <a:pPr marL="257175" indent="-257175">
              <a:buSzPct val="100000"/>
              <a:buChar char="•"/>
            </a:pPr>
            <a:r>
              <a:rPr lang="en-US" sz="7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Priority: remove non-boundary / longer beam</a:t>
            </a:r>
            <a:endParaRPr lang="en-US" sz="750" dirty="0"/>
          </a:p>
          <a:p>
            <a:pPr marL="257175" indent="-257175">
              <a:buSzPct val="100000"/>
              <a:buChar char="•"/>
            </a:pPr>
            <a:r>
              <a:rPr lang="en-US" sz="7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Thin side walls: keep prob = 0.45</a:t>
            </a:r>
            <a:endParaRPr lang="en-US" sz="750" dirty="0"/>
          </a:p>
          <a:p>
            <a:pPr marL="257175" indent="-257175">
              <a:buSzPct val="100000"/>
              <a:buChar char="•"/>
            </a:pPr>
            <a:r>
              <a:rPr lang="en-US" sz="7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Fix corner nodes (degree ≤ 1 → add connector)</a:t>
            </a:r>
            <a:endParaRPr lang="en-US" sz="750" dirty="0"/>
          </a:p>
          <a:p>
            <a:pPr marL="257175" indent="-257175">
              <a:buSzPct val="100000"/>
              <a:buChar char="•"/>
            </a:pPr>
            <a:r>
              <a:rPr lang="en-US" sz="7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Final deduplication via seg_key dict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6576060" y="3295650"/>
            <a:ext cx="1748790" cy="1961388"/>
          </a:xfrm>
          <a:prstGeom prst="roundRect">
            <a:avLst>
              <a:gd name="adj" fmla="val 4706"/>
            </a:avLst>
          </a:prstGeom>
          <a:solidFill>
            <a:schemeClr val="bg2">
              <a:lumMod val="40000"/>
              <a:lumOff val="60000"/>
            </a:schemeClr>
          </a:solidFill>
          <a:ln w="19050">
            <a:solidFill>
              <a:schemeClr val="tx1"/>
            </a:solidFill>
            <a:prstDash val="solid"/>
          </a:ln>
          <a:effectLst>
            <a:outerShdw blurRad="127000" dist="38100" dir="2700000" algn="bl" rotWithShape="0">
              <a:srgbClr val="000000">
                <a:alpha val="4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664198" y="3438399"/>
            <a:ext cx="308610" cy="339471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975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75" dirty="0"/>
          </a:p>
        </p:txBody>
      </p:sp>
      <p:sp>
        <p:nvSpPr>
          <p:cNvPr id="31" name="Text 29"/>
          <p:cNvSpPr/>
          <p:nvPr/>
        </p:nvSpPr>
        <p:spPr>
          <a:xfrm>
            <a:off x="7001256" y="3434525"/>
            <a:ext cx="1234440" cy="414909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noFill/>
          </a:ln>
        </p:spPr>
        <p:txBody>
          <a:bodyPr wrap="square" lIns="0" tIns="0" rIns="0" bIns="0" rtlCol="0" anchor="ctr"/>
          <a:lstStyle/>
          <a:p>
            <a:r>
              <a:rPr lang="en-US" sz="975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Abaqus Model</a:t>
            </a:r>
            <a:endParaRPr lang="en-US" sz="975" dirty="0"/>
          </a:p>
        </p:txBody>
      </p:sp>
      <p:sp>
        <p:nvSpPr>
          <p:cNvPr id="33" name="Text 31"/>
          <p:cNvSpPr/>
          <p:nvPr/>
        </p:nvSpPr>
        <p:spPr>
          <a:xfrm>
            <a:off x="6678930" y="3840175"/>
            <a:ext cx="1577340" cy="1297534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noFill/>
          </a:ln>
        </p:spPr>
        <p:txBody>
          <a:bodyPr wrap="square" lIns="0" tIns="0" rIns="0" bIns="0" rtlCol="0" anchor="t"/>
          <a:lstStyle/>
          <a:p>
            <a:pPr marL="257175" indent="-257175">
              <a:buSzPct val="100000"/>
              <a:buChar char="•"/>
            </a:pPr>
            <a:r>
              <a:rPr lang="en-US" sz="7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Sketch beams as Lines → wire Part</a:t>
            </a:r>
            <a:endParaRPr lang="en-US" sz="750" dirty="0"/>
          </a:p>
          <a:p>
            <a:pPr marL="257175" indent="-257175">
              <a:buSzPct val="100000"/>
              <a:buChar char="•"/>
            </a:pPr>
            <a:r>
              <a:rPr lang="en-US" sz="7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Assign linear elastic material</a:t>
            </a:r>
            <a:endParaRPr lang="en-US" sz="750" dirty="0"/>
          </a:p>
          <a:p>
            <a:pPr marL="257175" indent="-257175">
              <a:buSzPct val="100000"/>
              <a:buChar char="•"/>
            </a:pPr>
            <a:r>
              <a:rPr lang="en-US" sz="7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Rectangular beam section (B21 elements)</a:t>
            </a:r>
            <a:endParaRPr lang="en-US" sz="750" dirty="0"/>
          </a:p>
          <a:p>
            <a:pPr marL="257175" indent="-257175">
              <a:buSzPct val="100000"/>
              <a:buChar char="•"/>
            </a:pPr>
            <a:r>
              <a:rPr lang="en-US" sz="7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Seed &amp; mesh at 0.30 mm</a:t>
            </a:r>
            <a:endParaRPr lang="en-US" sz="750" dirty="0"/>
          </a:p>
          <a:p>
            <a:pPr marL="257175" indent="-257175">
              <a:buSzPct val="100000"/>
              <a:buChar char="•"/>
            </a:pPr>
            <a:r>
              <a:rPr lang="en-US" sz="7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Apply BCs: pin BL, roller bottom, disp top</a:t>
            </a:r>
            <a:endParaRPr lang="en-US" sz="750" dirty="0"/>
          </a:p>
          <a:p>
            <a:pPr marL="257175" indent="-257175">
              <a:buSzPct val="100000"/>
              <a:buChar char="•"/>
            </a:pPr>
            <a:r>
              <a:rPr lang="en-US" sz="7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Request S, U, RF, COORD, SF output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4655820" y="3295650"/>
            <a:ext cx="1748790" cy="1961388"/>
          </a:xfrm>
          <a:prstGeom prst="roundRect">
            <a:avLst>
              <a:gd name="adj" fmla="val 4706"/>
            </a:avLst>
          </a:prstGeom>
          <a:solidFill>
            <a:schemeClr val="bg2">
              <a:lumMod val="40000"/>
              <a:lumOff val="60000"/>
            </a:schemeClr>
          </a:solidFill>
          <a:ln w="19050">
            <a:solidFill>
              <a:schemeClr val="tx1"/>
            </a:solidFill>
            <a:prstDash val="solid"/>
          </a:ln>
          <a:effectLst>
            <a:outerShdw blurRad="127000" dist="38100" dir="2700000" algn="bl" rotWithShape="0">
              <a:srgbClr val="000000">
                <a:alpha val="4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4724400" y="3437954"/>
            <a:ext cx="308610" cy="339471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975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75" dirty="0"/>
          </a:p>
        </p:txBody>
      </p:sp>
      <p:sp>
        <p:nvSpPr>
          <p:cNvPr id="37" name="Text 35"/>
          <p:cNvSpPr/>
          <p:nvPr/>
        </p:nvSpPr>
        <p:spPr>
          <a:xfrm>
            <a:off x="5081016" y="3434525"/>
            <a:ext cx="1234440" cy="414909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noFill/>
          </a:ln>
        </p:spPr>
        <p:txBody>
          <a:bodyPr wrap="square" lIns="0" tIns="0" rIns="0" bIns="0" rtlCol="0" anchor="ctr"/>
          <a:lstStyle/>
          <a:p>
            <a:r>
              <a:rPr lang="en-US" sz="975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Submit FEA Job</a:t>
            </a:r>
            <a:endParaRPr lang="en-US" sz="975" dirty="0"/>
          </a:p>
        </p:txBody>
      </p:sp>
      <p:sp>
        <p:nvSpPr>
          <p:cNvPr id="39" name="Text 37"/>
          <p:cNvSpPr/>
          <p:nvPr/>
        </p:nvSpPr>
        <p:spPr>
          <a:xfrm>
            <a:off x="4758690" y="3840175"/>
            <a:ext cx="1577340" cy="1297534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noFill/>
          </a:ln>
        </p:spPr>
        <p:txBody>
          <a:bodyPr wrap="square" lIns="0" tIns="0" rIns="0" bIns="0" rtlCol="0" anchor="t"/>
          <a:lstStyle/>
          <a:p>
            <a:pPr marL="257175" indent="-257175">
              <a:buSzPct val="100000"/>
              <a:buChar char="•"/>
            </a:pPr>
            <a:r>
              <a:rPr lang="en-US" sz="7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mdb.Job() → submit(consistencyChecking=OFF)</a:t>
            </a:r>
            <a:endParaRPr lang="en-US" sz="750" dirty="0"/>
          </a:p>
          <a:p>
            <a:pPr marL="257175" indent="-257175">
              <a:buSzPct val="100000"/>
              <a:buChar char="•"/>
            </a:pPr>
            <a:r>
              <a:rPr lang="en-US" sz="7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waitForCompletion() blocks until done</a:t>
            </a:r>
            <a:endParaRPr lang="en-US" sz="750" dirty="0"/>
          </a:p>
          <a:p>
            <a:pPr marL="257175" indent="-257175">
              <a:buSzPct val="100000"/>
              <a:buChar char="•"/>
            </a:pPr>
            <a:r>
              <a:rPr lang="en-US" sz="7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nlgeom=OFF (linear static)</a:t>
            </a:r>
            <a:endParaRPr lang="en-US" sz="750" dirty="0"/>
          </a:p>
          <a:p>
            <a:pPr marL="257175" indent="-257175">
              <a:buSzPct val="100000"/>
              <a:buChar char="•"/>
            </a:pPr>
            <a:r>
              <a:rPr lang="en-US" sz="7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Single Abaqus increment (linear)</a:t>
            </a:r>
            <a:endParaRPr lang="en-US" sz="750" dirty="0"/>
          </a:p>
          <a:p>
            <a:pPr marL="257175" indent="-257175">
              <a:buSzPct val="100000"/>
              <a:buChar char="•"/>
            </a:pPr>
            <a:r>
              <a:rPr lang="en-US" sz="7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Outputs: job_name.odb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2735580" y="3295650"/>
            <a:ext cx="1748790" cy="1961388"/>
          </a:xfrm>
          <a:prstGeom prst="roundRect">
            <a:avLst>
              <a:gd name="adj" fmla="val 4706"/>
            </a:avLst>
          </a:prstGeom>
          <a:solidFill>
            <a:schemeClr val="bg2">
              <a:lumMod val="40000"/>
              <a:lumOff val="60000"/>
            </a:schemeClr>
          </a:solidFill>
          <a:ln w="19050">
            <a:solidFill>
              <a:schemeClr val="tx1"/>
            </a:solidFill>
            <a:prstDash val="solid"/>
          </a:ln>
          <a:effectLst>
            <a:outerShdw blurRad="127000" dist="38100" dir="2700000" algn="bl" rotWithShape="0">
              <a:srgbClr val="000000">
                <a:alpha val="40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2815590" y="3448241"/>
            <a:ext cx="308610" cy="339471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975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75" dirty="0"/>
          </a:p>
        </p:txBody>
      </p:sp>
      <p:sp>
        <p:nvSpPr>
          <p:cNvPr id="43" name="Text 41"/>
          <p:cNvSpPr/>
          <p:nvPr/>
        </p:nvSpPr>
        <p:spPr>
          <a:xfrm>
            <a:off x="3160776" y="3434525"/>
            <a:ext cx="1234440" cy="414909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noFill/>
          </a:ln>
        </p:spPr>
        <p:txBody>
          <a:bodyPr wrap="square" lIns="0" tIns="0" rIns="0" bIns="0" rtlCol="0" anchor="ctr"/>
          <a:lstStyle/>
          <a:p>
            <a:r>
              <a:rPr lang="en-US" sz="975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Post-Processing</a:t>
            </a:r>
            <a:endParaRPr lang="en-US" sz="975" dirty="0"/>
          </a:p>
        </p:txBody>
      </p:sp>
      <p:sp>
        <p:nvSpPr>
          <p:cNvPr id="45" name="Text 43"/>
          <p:cNvSpPr/>
          <p:nvPr/>
        </p:nvSpPr>
        <p:spPr>
          <a:xfrm>
            <a:off x="2838450" y="3840175"/>
            <a:ext cx="1577340" cy="1297534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noFill/>
          </a:ln>
        </p:spPr>
        <p:txBody>
          <a:bodyPr wrap="square" lIns="0" tIns="0" rIns="0" bIns="0" rtlCol="0" anchor="t"/>
          <a:lstStyle/>
          <a:p>
            <a:pPr marL="257175" indent="-257175">
              <a:buSzPct val="100000"/>
              <a:buChar char="•"/>
            </a:pPr>
            <a:r>
              <a:rPr lang="en-US" sz="7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node_features.csv — joint (x,y) coords</a:t>
            </a:r>
            <a:endParaRPr lang="en-US" sz="750" dirty="0"/>
          </a:p>
          <a:p>
            <a:pPr marL="257175" indent="-257175">
              <a:buSzPct val="100000"/>
              <a:buChar char="•"/>
            </a:pPr>
            <a:r>
              <a:rPr lang="en-US" sz="7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adjacency_area.csv — binary N×N adj. matrix</a:t>
            </a:r>
            <a:endParaRPr lang="en-US" sz="750" dirty="0"/>
          </a:p>
          <a:p>
            <a:pPr marL="257175" indent="-257175">
              <a:buSzPct val="100000"/>
              <a:buChar char="•"/>
            </a:pPr>
            <a:r>
              <a:rPr lang="en-US" sz="7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lattice_stiffness.csv — k = ΣRF₂ / δ (N/mm)</a:t>
            </a:r>
            <a:endParaRPr lang="en-US" sz="750" dirty="0"/>
          </a:p>
          <a:p>
            <a:pPr marL="257175" indent="-257175">
              <a:buSzPct val="100000"/>
              <a:buChar char="•"/>
            </a:pPr>
            <a:r>
              <a:rPr lang="en-US" sz="7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stress_matrix.csv — max S11 per beam (N×N)</a:t>
            </a:r>
            <a:endParaRPr lang="en-US" sz="750" dirty="0"/>
          </a:p>
          <a:p>
            <a:pPr marL="257175" indent="-257175">
              <a:buSzPct val="100000"/>
              <a:buChar char="•"/>
            </a:pPr>
            <a:r>
              <a:rPr lang="en-US" sz="7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Bounding-box prefilter for speed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815340" y="3295650"/>
            <a:ext cx="1748790" cy="1961388"/>
          </a:xfrm>
          <a:prstGeom prst="roundRect">
            <a:avLst>
              <a:gd name="adj" fmla="val 4706"/>
            </a:avLst>
          </a:prstGeom>
          <a:solidFill>
            <a:schemeClr val="bg2">
              <a:lumMod val="40000"/>
              <a:lumOff val="60000"/>
            </a:schemeClr>
          </a:solidFill>
          <a:ln w="19050">
            <a:solidFill>
              <a:schemeClr val="tx1"/>
            </a:solidFill>
            <a:prstDash val="solid"/>
          </a:ln>
          <a:effectLst>
            <a:outerShdw blurRad="127000" dist="38100" dir="2700000" algn="bl" rotWithShape="0">
              <a:srgbClr val="000000">
                <a:alpha val="40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914781" y="3471419"/>
            <a:ext cx="308610" cy="339471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975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75" dirty="0"/>
          </a:p>
        </p:txBody>
      </p:sp>
      <p:sp>
        <p:nvSpPr>
          <p:cNvPr id="49" name="Text 47"/>
          <p:cNvSpPr/>
          <p:nvPr/>
        </p:nvSpPr>
        <p:spPr>
          <a:xfrm>
            <a:off x="1240536" y="3434525"/>
            <a:ext cx="1234440" cy="414909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noFill/>
          </a:ln>
        </p:spPr>
        <p:txBody>
          <a:bodyPr wrap="square" lIns="0" tIns="0" rIns="0" bIns="0" rtlCol="0" anchor="ctr"/>
          <a:lstStyle/>
          <a:p>
            <a:r>
              <a:rPr lang="en-US" sz="975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Cleanup &amp; Loop</a:t>
            </a:r>
            <a:endParaRPr lang="en-US" sz="975" dirty="0"/>
          </a:p>
        </p:txBody>
      </p:sp>
      <p:sp>
        <p:nvSpPr>
          <p:cNvPr id="51" name="Text 49"/>
          <p:cNvSpPr/>
          <p:nvPr/>
        </p:nvSpPr>
        <p:spPr>
          <a:xfrm>
            <a:off x="918210" y="3840175"/>
            <a:ext cx="1577340" cy="1297534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noFill/>
          </a:ln>
        </p:spPr>
        <p:txBody>
          <a:bodyPr wrap="square" lIns="0" tIns="0" rIns="0" bIns="0" rtlCol="0" anchor="t"/>
          <a:lstStyle/>
          <a:p>
            <a:pPr marL="257175" indent="-257175">
              <a:buSzPct val="100000"/>
              <a:buChar char="•"/>
            </a:pPr>
            <a:r>
              <a:rPr lang="en-US" sz="7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Close ODB (release file handles)</a:t>
            </a:r>
            <a:endParaRPr lang="en-US" sz="750" dirty="0"/>
          </a:p>
          <a:p>
            <a:pPr marL="257175" indent="-257175">
              <a:buSzPct val="100000"/>
              <a:buChar char="•"/>
            </a:pPr>
            <a:r>
              <a:rPr lang="en-US" sz="7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Restore working directory (os.chdir)</a:t>
            </a:r>
            <a:endParaRPr lang="en-US" sz="750" dirty="0"/>
          </a:p>
          <a:p>
            <a:pPr marL="257175" indent="-257175">
              <a:buSzPct val="100000"/>
              <a:buChar char="•"/>
            </a:pPr>
            <a:r>
              <a:rPr lang="en-US" sz="7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Advance sim_idx → next randomness value</a:t>
            </a:r>
            <a:endParaRPr lang="en-US" sz="750" dirty="0"/>
          </a:p>
          <a:p>
            <a:pPr marL="257175" indent="-257175">
              <a:buSzPct val="100000"/>
              <a:buChar char="•"/>
            </a:pPr>
            <a:r>
              <a:rPr lang="en-US" sz="7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Repeat 3,000 times</a:t>
            </a:r>
            <a:endParaRPr lang="en-US" sz="750" dirty="0"/>
          </a:p>
          <a:p>
            <a:pPr marL="257175" indent="-257175">
              <a:buSzPct val="100000"/>
              <a:buChar char="•"/>
            </a:pPr>
            <a:r>
              <a:rPr lang="en-US" sz="7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Print ALL SIMULATIONS COMPLETE</a:t>
            </a:r>
            <a:endParaRPr lang="en-US" sz="750" dirty="0"/>
          </a:p>
        </p:txBody>
      </p:sp>
      <p:sp>
        <p:nvSpPr>
          <p:cNvPr id="73" name="Shape 71"/>
          <p:cNvSpPr/>
          <p:nvPr/>
        </p:nvSpPr>
        <p:spPr>
          <a:xfrm>
            <a:off x="1021080" y="5209718"/>
            <a:ext cx="1337310" cy="286664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1021080" y="5209718"/>
            <a:ext cx="1337310" cy="286664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75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↺  Next sim_idx (loop)</a:t>
            </a:r>
            <a:endParaRPr lang="en-US" sz="75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D95F35D-A861-490D-5040-4BE6D7A983AF}"/>
              </a:ext>
            </a:extLst>
          </p:cNvPr>
          <p:cNvSpPr txBox="1"/>
          <p:nvPr/>
        </p:nvSpPr>
        <p:spPr>
          <a:xfrm>
            <a:off x="2092198" y="79145"/>
            <a:ext cx="720420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Pipeline Flowchart	                                             2</a:t>
            </a:r>
            <a:endParaRPr lang="en-US" sz="2800" dirty="0"/>
          </a:p>
        </p:txBody>
      </p:sp>
      <p:sp>
        <p:nvSpPr>
          <p:cNvPr id="17" name="Arrow: Curved Up 16">
            <a:extLst>
              <a:ext uri="{FF2B5EF4-FFF2-40B4-BE49-F238E27FC236}">
                <a16:creationId xmlns:a16="http://schemas.microsoft.com/office/drawing/2014/main" id="{EF7F1D27-EF84-DD09-E64C-CA15B5FEAD35}"/>
              </a:ext>
            </a:extLst>
          </p:cNvPr>
          <p:cNvSpPr/>
          <p:nvPr/>
        </p:nvSpPr>
        <p:spPr>
          <a:xfrm rot="10800000" flipH="1">
            <a:off x="2474976" y="685800"/>
            <a:ext cx="496824" cy="308135"/>
          </a:xfrm>
          <a:prstGeom prst="curvedUpArrow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Arrow: Curved Up 74">
            <a:extLst>
              <a:ext uri="{FF2B5EF4-FFF2-40B4-BE49-F238E27FC236}">
                <a16:creationId xmlns:a16="http://schemas.microsoft.com/office/drawing/2014/main" id="{3728011C-9813-7F5E-896B-ED86F9A91C30}"/>
              </a:ext>
            </a:extLst>
          </p:cNvPr>
          <p:cNvSpPr/>
          <p:nvPr/>
        </p:nvSpPr>
        <p:spPr>
          <a:xfrm rot="16391146" flipH="1">
            <a:off x="8398764" y="3037584"/>
            <a:ext cx="496824" cy="308135"/>
          </a:xfrm>
          <a:prstGeom prst="curvedUpArrow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Arrow: Curved Up 76">
            <a:extLst>
              <a:ext uri="{FF2B5EF4-FFF2-40B4-BE49-F238E27FC236}">
                <a16:creationId xmlns:a16="http://schemas.microsoft.com/office/drawing/2014/main" id="{5727C409-8900-7CD4-704B-0AA9B8CCADEC}"/>
              </a:ext>
            </a:extLst>
          </p:cNvPr>
          <p:cNvSpPr/>
          <p:nvPr/>
        </p:nvSpPr>
        <p:spPr>
          <a:xfrm rot="10800000" flipH="1">
            <a:off x="6336030" y="688708"/>
            <a:ext cx="496824" cy="308135"/>
          </a:xfrm>
          <a:prstGeom prst="curvedUpArrow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Arrow: Curved Up 78">
            <a:extLst>
              <a:ext uri="{FF2B5EF4-FFF2-40B4-BE49-F238E27FC236}">
                <a16:creationId xmlns:a16="http://schemas.microsoft.com/office/drawing/2014/main" id="{7F89A2AB-A386-BDD4-A656-3318436782C2}"/>
              </a:ext>
            </a:extLst>
          </p:cNvPr>
          <p:cNvSpPr/>
          <p:nvPr/>
        </p:nvSpPr>
        <p:spPr>
          <a:xfrm rot="10800000" flipH="1">
            <a:off x="4381881" y="672321"/>
            <a:ext cx="496824" cy="308135"/>
          </a:xfrm>
          <a:prstGeom prst="curvedUpArrow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Arrow: Curved Up 80">
            <a:extLst>
              <a:ext uri="{FF2B5EF4-FFF2-40B4-BE49-F238E27FC236}">
                <a16:creationId xmlns:a16="http://schemas.microsoft.com/office/drawing/2014/main" id="{DBBF686F-0952-70D0-2180-03A446DD1813}"/>
              </a:ext>
            </a:extLst>
          </p:cNvPr>
          <p:cNvSpPr/>
          <p:nvPr/>
        </p:nvSpPr>
        <p:spPr>
          <a:xfrm rot="450595" flipH="1">
            <a:off x="6281576" y="5299327"/>
            <a:ext cx="496824" cy="308135"/>
          </a:xfrm>
          <a:prstGeom prst="curvedUpArrow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Arrow: Curved Up 82">
            <a:extLst>
              <a:ext uri="{FF2B5EF4-FFF2-40B4-BE49-F238E27FC236}">
                <a16:creationId xmlns:a16="http://schemas.microsoft.com/office/drawing/2014/main" id="{4240CD3E-04C9-4377-12F2-2C32698BD773}"/>
              </a:ext>
            </a:extLst>
          </p:cNvPr>
          <p:cNvSpPr/>
          <p:nvPr/>
        </p:nvSpPr>
        <p:spPr>
          <a:xfrm flipH="1">
            <a:off x="2431161" y="5319616"/>
            <a:ext cx="496824" cy="308135"/>
          </a:xfrm>
          <a:prstGeom prst="curvedUpArrow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Arrow: Curved Up 84">
            <a:extLst>
              <a:ext uri="{FF2B5EF4-FFF2-40B4-BE49-F238E27FC236}">
                <a16:creationId xmlns:a16="http://schemas.microsoft.com/office/drawing/2014/main" id="{7409C67F-A416-C1C1-7D6F-7F458B82910E}"/>
              </a:ext>
            </a:extLst>
          </p:cNvPr>
          <p:cNvSpPr/>
          <p:nvPr/>
        </p:nvSpPr>
        <p:spPr>
          <a:xfrm rot="199742" flipH="1">
            <a:off x="4354303" y="5316450"/>
            <a:ext cx="496824" cy="308135"/>
          </a:xfrm>
          <a:prstGeom prst="curvedUpArrow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240030" y="1143000"/>
            <a:ext cx="2023110" cy="3703320"/>
          </a:xfrm>
          <a:prstGeom prst="roundRect">
            <a:avLst>
              <a:gd name="adj" fmla="val 4068"/>
            </a:avLst>
          </a:prstGeom>
          <a:solidFill>
            <a:schemeClr val="bg2">
              <a:lumMod val="40000"/>
              <a:lumOff val="60000"/>
            </a:schemeClr>
          </a:solidFill>
          <a:ln w="19050">
            <a:solidFill>
              <a:schemeClr val="tx1"/>
            </a:solidFill>
            <a:prstDash val="solid"/>
          </a:ln>
          <a:effectLst>
            <a:outerShdw blurRad="101600" dist="381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2326" y="1225296"/>
            <a:ext cx="1858518" cy="493776"/>
          </a:xfrm>
          <a:prstGeom prst="roundRect">
            <a:avLst>
              <a:gd name="adj" fmla="val 11111"/>
            </a:avLst>
          </a:prstGeom>
          <a:solidFill>
            <a:schemeClr val="bg2">
              <a:lumMod val="40000"/>
              <a:lumOff val="60000"/>
            </a:schemeClr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2326" y="1225296"/>
            <a:ext cx="1858518" cy="493776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9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node_features.csv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22326" y="1773936"/>
            <a:ext cx="1858518" cy="27432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825" b="1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N rows × 3 cols</a:t>
            </a:r>
            <a:endParaRPr lang="en-US" sz="825" dirty="0"/>
          </a:p>
        </p:txBody>
      </p:sp>
      <p:sp>
        <p:nvSpPr>
          <p:cNvPr id="8" name="Shape 6"/>
          <p:cNvSpPr/>
          <p:nvPr/>
        </p:nvSpPr>
        <p:spPr>
          <a:xfrm>
            <a:off x="322326" y="2082546"/>
            <a:ext cx="1858518" cy="1714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2326" y="2123694"/>
            <a:ext cx="1858518" cy="288036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825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GNN node feature matrix</a:t>
            </a:r>
            <a:endParaRPr lang="en-US" sz="825" dirty="0"/>
          </a:p>
        </p:txBody>
      </p:sp>
      <p:sp>
        <p:nvSpPr>
          <p:cNvPr id="10" name="Shape 8"/>
          <p:cNvSpPr/>
          <p:nvPr/>
        </p:nvSpPr>
        <p:spPr>
          <a:xfrm>
            <a:off x="322326" y="2446020"/>
            <a:ext cx="1858518" cy="1714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3474" y="2514600"/>
            <a:ext cx="1803654" cy="222885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noFill/>
          </a:ln>
        </p:spPr>
        <p:txBody>
          <a:bodyPr wrap="square" lIns="0" tIns="0" rIns="0" bIns="0" rtlCol="0" anchor="t"/>
          <a:lstStyle/>
          <a:p>
            <a:pPr marL="257175" indent="-257175">
              <a:buSzPct val="100000"/>
              <a:buChar char="•"/>
            </a:pPr>
            <a:r>
              <a:rPr lang="en-US" sz="825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node_id, x, y per joint</a:t>
            </a:r>
            <a:endParaRPr lang="en-US" sz="825" dirty="0"/>
          </a:p>
          <a:p>
            <a:pPr marL="257175" indent="-257175">
              <a:buSzPct val="100000"/>
              <a:buChar char="•"/>
            </a:pPr>
            <a:r>
              <a:rPr lang="en-US" sz="825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N varies per simulation</a:t>
            </a:r>
            <a:endParaRPr lang="en-US" sz="825" dirty="0"/>
          </a:p>
          <a:p>
            <a:pPr marL="257175" indent="-257175">
              <a:buSzPct val="100000"/>
              <a:buChar char="•"/>
            </a:pPr>
            <a:r>
              <a:rPr lang="en-US" sz="825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Spatial coords = primary node features</a:t>
            </a:r>
            <a:endParaRPr lang="en-US" sz="825" dirty="0"/>
          </a:p>
          <a:p>
            <a:pPr marL="257175" indent="-257175">
              <a:buSzPct val="100000"/>
              <a:buChar char="•"/>
            </a:pPr>
            <a:r>
              <a:rPr lang="en-US" sz="825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GNN loader must handle variable N</a:t>
            </a:r>
            <a:endParaRPr lang="en-US" sz="825" dirty="0"/>
          </a:p>
        </p:txBody>
      </p:sp>
      <p:sp>
        <p:nvSpPr>
          <p:cNvPr id="12" name="Shape 10"/>
          <p:cNvSpPr/>
          <p:nvPr/>
        </p:nvSpPr>
        <p:spPr>
          <a:xfrm>
            <a:off x="2400300" y="1143000"/>
            <a:ext cx="2023110" cy="3703320"/>
          </a:xfrm>
          <a:prstGeom prst="roundRect">
            <a:avLst>
              <a:gd name="adj" fmla="val 4068"/>
            </a:avLst>
          </a:prstGeom>
          <a:solidFill>
            <a:schemeClr val="bg2">
              <a:lumMod val="40000"/>
              <a:lumOff val="60000"/>
            </a:schemeClr>
          </a:solidFill>
          <a:ln w="19050">
            <a:solidFill>
              <a:schemeClr val="tx1"/>
            </a:solidFill>
            <a:prstDash val="solid"/>
          </a:ln>
          <a:effectLst>
            <a:outerShdw blurRad="101600" dist="381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482596" y="1225296"/>
            <a:ext cx="1858518" cy="493776"/>
          </a:xfrm>
          <a:prstGeom prst="roundRect">
            <a:avLst>
              <a:gd name="adj" fmla="val 11111"/>
            </a:avLst>
          </a:prstGeom>
          <a:solidFill>
            <a:schemeClr val="bg2">
              <a:lumMod val="40000"/>
              <a:lumOff val="60000"/>
            </a:schemeClr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82596" y="1225296"/>
            <a:ext cx="1858518" cy="493776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9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adjacency_area.csv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482596" y="1773936"/>
            <a:ext cx="1858518" cy="27432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825" b="1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(N+1) × (N+1)</a:t>
            </a:r>
            <a:endParaRPr lang="en-US" sz="825" dirty="0"/>
          </a:p>
        </p:txBody>
      </p:sp>
      <p:sp>
        <p:nvSpPr>
          <p:cNvPr id="16" name="Shape 14"/>
          <p:cNvSpPr/>
          <p:nvPr/>
        </p:nvSpPr>
        <p:spPr>
          <a:xfrm>
            <a:off x="2482596" y="2082546"/>
            <a:ext cx="1858518" cy="1714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482596" y="2123694"/>
            <a:ext cx="1858518" cy="288036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825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GNN edge connectivity</a:t>
            </a:r>
            <a:endParaRPr lang="en-US" sz="825" dirty="0"/>
          </a:p>
        </p:txBody>
      </p:sp>
      <p:sp>
        <p:nvSpPr>
          <p:cNvPr id="18" name="Shape 16"/>
          <p:cNvSpPr/>
          <p:nvPr/>
        </p:nvSpPr>
        <p:spPr>
          <a:xfrm>
            <a:off x="2482596" y="2446020"/>
            <a:ext cx="1858518" cy="1714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23744" y="2514600"/>
            <a:ext cx="1803654" cy="222885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noFill/>
          </a:ln>
        </p:spPr>
        <p:txBody>
          <a:bodyPr wrap="square" lIns="0" tIns="0" rIns="0" bIns="0" rtlCol="0" anchor="t"/>
          <a:lstStyle/>
          <a:p>
            <a:pPr marL="257175" indent="-257175">
              <a:buSzPct val="100000"/>
              <a:buChar char="•"/>
            </a:pPr>
            <a:r>
              <a:rPr lang="en-US" sz="825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Binary symmetric matrix</a:t>
            </a:r>
            <a:endParaRPr lang="en-US" sz="825" dirty="0"/>
          </a:p>
          <a:p>
            <a:pPr marL="257175" indent="-257175">
              <a:buSzPct val="100000"/>
              <a:buChar char="•"/>
            </a:pPr>
            <a:r>
              <a:rPr lang="en-US" sz="825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Entry [i][j] = 1 if beam exists</a:t>
            </a:r>
            <a:endParaRPr lang="en-US" sz="825" dirty="0"/>
          </a:p>
          <a:p>
            <a:pPr marL="257175" indent="-257175">
              <a:buSzPct val="100000"/>
              <a:buChar char="•"/>
            </a:pPr>
            <a:r>
              <a:rPr lang="en-US" sz="825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Row/col headers are node_ids</a:t>
            </a:r>
            <a:endParaRPr lang="en-US" sz="825" dirty="0"/>
          </a:p>
          <a:p>
            <a:pPr marL="257175" indent="-257175">
              <a:buSzPct val="100000"/>
              <a:buChar char="•"/>
            </a:pPr>
            <a:r>
              <a:rPr lang="en-US" sz="825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Undirected graph representation</a:t>
            </a:r>
            <a:endParaRPr lang="en-US" sz="825" dirty="0"/>
          </a:p>
        </p:txBody>
      </p:sp>
      <p:sp>
        <p:nvSpPr>
          <p:cNvPr id="20" name="Shape 18"/>
          <p:cNvSpPr/>
          <p:nvPr/>
        </p:nvSpPr>
        <p:spPr>
          <a:xfrm>
            <a:off x="4560570" y="1143000"/>
            <a:ext cx="2023110" cy="3703320"/>
          </a:xfrm>
          <a:prstGeom prst="roundRect">
            <a:avLst>
              <a:gd name="adj" fmla="val 4068"/>
            </a:avLst>
          </a:prstGeom>
          <a:solidFill>
            <a:schemeClr val="bg2">
              <a:lumMod val="40000"/>
              <a:lumOff val="60000"/>
            </a:schemeClr>
          </a:solidFill>
          <a:ln w="19050">
            <a:solidFill>
              <a:schemeClr val="tx1"/>
            </a:solidFill>
            <a:prstDash val="solid"/>
          </a:ln>
          <a:effectLst>
            <a:outerShdw blurRad="101600" dist="381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42866" y="1225296"/>
            <a:ext cx="1858518" cy="493776"/>
          </a:xfrm>
          <a:prstGeom prst="roundRect">
            <a:avLst>
              <a:gd name="adj" fmla="val 11111"/>
            </a:avLst>
          </a:prstGeom>
          <a:solidFill>
            <a:schemeClr val="bg2">
              <a:lumMod val="40000"/>
              <a:lumOff val="60000"/>
            </a:schemeClr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42866" y="1225296"/>
            <a:ext cx="1858518" cy="493776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9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lattice_stiffness.csv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642866" y="1773936"/>
            <a:ext cx="1858518" cy="27432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825" b="1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1 scalar value</a:t>
            </a:r>
            <a:endParaRPr lang="en-US" sz="825" dirty="0"/>
          </a:p>
        </p:txBody>
      </p:sp>
      <p:sp>
        <p:nvSpPr>
          <p:cNvPr id="24" name="Shape 22"/>
          <p:cNvSpPr/>
          <p:nvPr/>
        </p:nvSpPr>
        <p:spPr>
          <a:xfrm>
            <a:off x="4642866" y="2082546"/>
            <a:ext cx="1858518" cy="1714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42866" y="2123694"/>
            <a:ext cx="1858518" cy="288036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825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label</a:t>
            </a:r>
            <a:endParaRPr lang="en-US" sz="825" dirty="0"/>
          </a:p>
        </p:txBody>
      </p:sp>
      <p:sp>
        <p:nvSpPr>
          <p:cNvPr id="26" name="Shape 24"/>
          <p:cNvSpPr/>
          <p:nvPr/>
        </p:nvSpPr>
        <p:spPr>
          <a:xfrm>
            <a:off x="4642866" y="2446020"/>
            <a:ext cx="1858518" cy="1714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84014" y="2514600"/>
            <a:ext cx="1803654" cy="222885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noFill/>
          </a:ln>
        </p:spPr>
        <p:txBody>
          <a:bodyPr wrap="square" lIns="0" tIns="0" rIns="0" bIns="0" rtlCol="0" anchor="t"/>
          <a:lstStyle/>
          <a:p>
            <a:pPr marL="257175" indent="-257175">
              <a:buSzPct val="100000"/>
              <a:buChar char="•"/>
            </a:pPr>
            <a:r>
              <a:rPr lang="en-US" sz="825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k = ΣRF₂ / displacement (N/mm)</a:t>
            </a:r>
            <a:endParaRPr lang="en-US" sz="825" dirty="0"/>
          </a:p>
          <a:p>
            <a:pPr marL="257175" indent="-257175">
              <a:buSzPct val="100000"/>
              <a:buChar char="•"/>
            </a:pPr>
            <a:r>
              <a:rPr lang="en-US" sz="825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Effective axial stiffness</a:t>
            </a:r>
            <a:endParaRPr lang="en-US" sz="825" dirty="0"/>
          </a:p>
          <a:p>
            <a:pPr marL="257175" indent="-257175">
              <a:buSzPct val="100000"/>
              <a:buChar char="•"/>
            </a:pPr>
            <a:r>
              <a:rPr lang="en-US" sz="825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Primary GNN prediction target</a:t>
            </a:r>
            <a:endParaRPr lang="en-US" sz="825" dirty="0"/>
          </a:p>
          <a:p>
            <a:pPr marL="257175" indent="-257175">
              <a:buSzPct val="100000"/>
              <a:buChar char="•"/>
            </a:pPr>
            <a:r>
              <a:rPr lang="en-US" sz="825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Varies with randomness &amp; topology</a:t>
            </a:r>
            <a:endParaRPr lang="en-US" sz="825" dirty="0"/>
          </a:p>
        </p:txBody>
      </p:sp>
      <p:sp>
        <p:nvSpPr>
          <p:cNvPr id="28" name="Shape 26"/>
          <p:cNvSpPr/>
          <p:nvPr/>
        </p:nvSpPr>
        <p:spPr>
          <a:xfrm>
            <a:off x="6720840" y="1143000"/>
            <a:ext cx="2023110" cy="3703320"/>
          </a:xfrm>
          <a:prstGeom prst="roundRect">
            <a:avLst>
              <a:gd name="adj" fmla="val 4068"/>
            </a:avLst>
          </a:prstGeom>
          <a:solidFill>
            <a:schemeClr val="bg2">
              <a:lumMod val="40000"/>
              <a:lumOff val="60000"/>
            </a:schemeClr>
          </a:solidFill>
          <a:ln w="19050">
            <a:solidFill>
              <a:schemeClr val="tx1"/>
            </a:solidFill>
            <a:prstDash val="solid"/>
          </a:ln>
          <a:effectLst>
            <a:outerShdw blurRad="101600" dist="381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803136" y="1225296"/>
            <a:ext cx="1858518" cy="493776"/>
          </a:xfrm>
          <a:prstGeom prst="roundRect">
            <a:avLst>
              <a:gd name="adj" fmla="val 11111"/>
            </a:avLst>
          </a:prstGeom>
          <a:solidFill>
            <a:schemeClr val="bg2">
              <a:lumMod val="40000"/>
              <a:lumOff val="60000"/>
            </a:schemeClr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03136" y="1225296"/>
            <a:ext cx="1858518" cy="493776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9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stress_matrix.csv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803136" y="1773936"/>
            <a:ext cx="1858518" cy="27432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825" b="1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(N+1) × (N+1)</a:t>
            </a:r>
            <a:endParaRPr lang="en-US" sz="825" dirty="0"/>
          </a:p>
        </p:txBody>
      </p:sp>
      <p:sp>
        <p:nvSpPr>
          <p:cNvPr id="32" name="Shape 30"/>
          <p:cNvSpPr/>
          <p:nvPr/>
        </p:nvSpPr>
        <p:spPr>
          <a:xfrm>
            <a:off x="6803136" y="2082546"/>
            <a:ext cx="1858518" cy="1714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03136" y="2123694"/>
            <a:ext cx="1858518" cy="288036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825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Edge feature / aux label</a:t>
            </a:r>
            <a:endParaRPr lang="en-US" sz="825" dirty="0"/>
          </a:p>
        </p:txBody>
      </p:sp>
      <p:sp>
        <p:nvSpPr>
          <p:cNvPr id="34" name="Shape 32"/>
          <p:cNvSpPr/>
          <p:nvPr/>
        </p:nvSpPr>
        <p:spPr>
          <a:xfrm>
            <a:off x="6803136" y="2446020"/>
            <a:ext cx="1858518" cy="1714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44284" y="2514600"/>
            <a:ext cx="1803654" cy="222885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noFill/>
          </a:ln>
        </p:spPr>
        <p:txBody>
          <a:bodyPr wrap="square" lIns="0" tIns="0" rIns="0" bIns="0" rtlCol="0" anchor="t"/>
          <a:lstStyle/>
          <a:p>
            <a:pPr marL="257175" indent="-257175">
              <a:buSzPct val="100000"/>
              <a:buChar char="•"/>
            </a:pPr>
            <a:r>
              <a:rPr lang="en-US" sz="825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Max |S11| per beam (axial stress)</a:t>
            </a:r>
            <a:endParaRPr lang="en-US" sz="825" dirty="0"/>
          </a:p>
          <a:p>
            <a:pPr marL="257175" indent="-257175">
              <a:buSzPct val="100000"/>
              <a:buChar char="•"/>
            </a:pPr>
            <a:r>
              <a:rPr lang="en-US" sz="825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Symmetric matrix like adjacency</a:t>
            </a:r>
            <a:endParaRPr lang="en-US" sz="825" dirty="0"/>
          </a:p>
          <a:p>
            <a:pPr marL="257175" indent="-257175">
              <a:buSzPct val="100000"/>
              <a:buChar char="•"/>
            </a:pPr>
            <a:r>
              <a:rPr lang="en-US" sz="825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Zero where no beam exists</a:t>
            </a:r>
            <a:endParaRPr lang="en-US" sz="825" dirty="0"/>
          </a:p>
          <a:p>
            <a:pPr marL="257175" indent="-257175">
              <a:buSzPct val="100000"/>
              <a:buChar char="•"/>
            </a:pPr>
            <a:r>
              <a:rPr lang="en-US" sz="825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Element assigned via bounding-box filter</a:t>
            </a:r>
            <a:endParaRPr lang="en-US" sz="825" dirty="0"/>
          </a:p>
        </p:txBody>
      </p:sp>
      <p:sp>
        <p:nvSpPr>
          <p:cNvPr id="36" name="Text 34"/>
          <p:cNvSpPr/>
          <p:nvPr/>
        </p:nvSpPr>
        <p:spPr>
          <a:xfrm>
            <a:off x="274320" y="4983480"/>
            <a:ext cx="8572500" cy="493776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825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Each of the 3,000 simulations produces its own folder  randomness_XXXX/  containing these four files. GNN loaders must handle variable N (graph size varies per simulation).</a:t>
            </a:r>
            <a:endParaRPr lang="en-US" sz="825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6693878-B38D-E9B3-9824-9AFD84483A4E}"/>
              </a:ext>
            </a:extLst>
          </p:cNvPr>
          <p:cNvSpPr txBox="1"/>
          <p:nvPr/>
        </p:nvSpPr>
        <p:spPr>
          <a:xfrm>
            <a:off x="2137410" y="72009"/>
            <a:ext cx="830199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Output Files                                                       3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ody Slides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Myriad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2"/>
        </a:solidFill>
        <a:ln>
          <a:solidFill>
            <a:schemeClr val="tx1"/>
          </a:solidFill>
        </a:ln>
      </a:spPr>
      <a:bodyPr rtlCol="0" anchor="ctr"/>
      <a:lstStyle>
        <a:defPPr algn="ctr">
          <a:defRPr/>
        </a:defPPr>
      </a:lstStyle>
    </a:spDef>
    <a:lnDef>
      <a:spPr bwMode="auto"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/>
      <a:lstStyle/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ABmechbpresentation" id="{69F95A6D-80FB-42CF-9430-49B8985042DD}" vid="{8DAACE04-E927-497C-BE7F-C965F736CC2D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E759F7608B13A4D86BCC979C54BBCCB" ma:contentTypeVersion="3" ma:contentTypeDescription="Create a new document." ma:contentTypeScope="" ma:versionID="562f52eeba954e953f3dbe994cae5a50">
  <xsd:schema xmlns:xsd="http://www.w3.org/2001/XMLSchema" xmlns:xs="http://www.w3.org/2001/XMLSchema" xmlns:p="http://schemas.microsoft.com/office/2006/metadata/properties" xmlns:ns2="08677264-7440-49ce-928a-9917bd2fc905" targetNamespace="http://schemas.microsoft.com/office/2006/metadata/properties" ma:root="true" ma:fieldsID="cfe0b1e2cc427cbe41c2a2bde47cd0a9" ns2:_="">
    <xsd:import namespace="08677264-7440-49ce-928a-9917bd2fc90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8677264-7440-49ce-928a-9917bd2fc90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74ED9B8-9FE6-4BEC-B456-79D1D6C96D7E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46C02176-421E-4469-B6C2-6437A9690DA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31EAF09-CD46-4973-8E3F-6CB46C90CA5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8677264-7440-49ce-928a-9917bd2fc90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6-3-REU</Template>
  <TotalTime>29</TotalTime>
  <Words>631</Words>
  <Application>Microsoft Office PowerPoint</Application>
  <PresentationFormat>On-screen Show (4:3)</PresentationFormat>
  <Paragraphs>99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Myriad Pro</vt:lpstr>
      <vt:lpstr>Body Slides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Adams, Alex</dc:creator>
  <cp:keywords/>
  <dc:description/>
  <cp:lastModifiedBy>Adams, Alex</cp:lastModifiedBy>
  <cp:revision>2</cp:revision>
  <cp:lastPrinted>2016-03-29T19:22:42Z</cp:lastPrinted>
  <dcterms:created xsi:type="dcterms:W3CDTF">2026-06-17T13:14:13Z</dcterms:created>
  <dcterms:modified xsi:type="dcterms:W3CDTF">2026-06-18T13:51:09Z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0x010100CE759F7608B13A4D86BCC979C54BBCCB</vt:lpwstr>
  </property>
</Properties>
</file>