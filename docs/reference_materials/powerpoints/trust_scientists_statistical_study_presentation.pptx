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0E8"/>
          </a:solidFill>
          <a:ln w="12700">
            <a:solidFill>
              <a:srgbClr val="F2F0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pic>
        <p:nvPicPr>
          <p:cNvPr id="4" name="Image 0" descr="/mnt/data/ppt_assets/fig3_political_maps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6446520" y="694944"/>
            <a:ext cx="4937760" cy="2907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8368" y="713232"/>
            <a:ext cx="2148840" cy="320040"/>
          </a:xfrm>
          <a:prstGeom prst="roundRect">
            <a:avLst>
              <a:gd name="adj" fmla="val 22857"/>
            </a:avLst>
          </a:prstGeom>
          <a:solidFill>
            <a:srgbClr val="DCEFF0"/>
          </a:solidFill>
          <a:ln w="12700">
            <a:solidFill>
              <a:srgbClr val="DCEF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49808" y="79552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7D7E"/>
                </a:solidFill>
              </a:rPr>
              <a:t>Successful statistical study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58368" y="1325880"/>
            <a:ext cx="53949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Trust in Scientists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Their Role in Society</a:t>
            </a:r>
            <a:endParaRPr lang="en-US" sz="3500" dirty="0"/>
          </a:p>
        </p:txBody>
      </p:sp>
      <p:sp>
        <p:nvSpPr>
          <p:cNvPr id="8" name="Text 5"/>
          <p:cNvSpPr/>
          <p:nvPr/>
        </p:nvSpPr>
        <p:spPr>
          <a:xfrm>
            <a:off x="676656" y="2743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59636E"/>
                </a:solidFill>
              </a:rPr>
              <a:t>A presentation on a large-scale statistical study across 68 countries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676656" y="3246120"/>
            <a:ext cx="3840480" cy="0"/>
          </a:xfrm>
          <a:prstGeom prst="line">
            <a:avLst/>
          </a:prstGeom>
          <a:noFill/>
          <a:ln w="12700">
            <a:solidFill>
              <a:srgbClr val="C89B3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8368" y="376732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D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71,922</a:t>
            </a:r>
            <a:endParaRPr lang="en-US" sz="2500" dirty="0"/>
          </a:p>
        </p:txBody>
      </p:sp>
      <p:sp>
        <p:nvSpPr>
          <p:cNvPr id="11" name="Text 8"/>
          <p:cNvSpPr/>
          <p:nvPr/>
        </p:nvSpPr>
        <p:spPr>
          <a:xfrm>
            <a:off x="658368" y="4242816"/>
            <a:ext cx="16459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survey respondents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2560320" y="37673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D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500" dirty="0"/>
          </a:p>
        </p:txBody>
      </p:sp>
      <p:sp>
        <p:nvSpPr>
          <p:cNvPr id="13" name="Text 10"/>
          <p:cNvSpPr/>
          <p:nvPr/>
        </p:nvSpPr>
        <p:spPr>
          <a:xfrm>
            <a:off x="2560320" y="4242816"/>
            <a:ext cx="10972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countries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977640" y="3767328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D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2025</a:t>
            </a:r>
            <a:endParaRPr lang="en-US" sz="2500" dirty="0"/>
          </a:p>
        </p:txBody>
      </p:sp>
      <p:sp>
        <p:nvSpPr>
          <p:cNvPr id="15" name="Text 12"/>
          <p:cNvSpPr/>
          <p:nvPr/>
        </p:nvSpPr>
        <p:spPr>
          <a:xfrm>
            <a:off x="3977640" y="4242816"/>
            <a:ext cx="13258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journal article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76656" y="6199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</a:rPr>
              <a:t>Group Presentation • Statistics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9646920" y="619963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7D7E"/>
                </a:solidFill>
              </a:rPr>
              <a:t>Nature Human Behaviour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Roadmap aligned to the rubric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The deck follows the presentation checklist step-by-step.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481328"/>
            <a:ext cx="384048" cy="384048"/>
          </a:xfrm>
          <a:prstGeom prst="ellipse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81912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261872" y="148132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B2430"/>
                </a:solidFill>
              </a:rPr>
              <a:t>Study overview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3611880" y="1508760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9636E"/>
                </a:solidFill>
              </a:rPr>
              <a:t>What was studied and why it matters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713232" y="2322576"/>
            <a:ext cx="384048" cy="384048"/>
          </a:xfrm>
          <a:prstGeom prst="ellipse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423160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261872" y="232257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B2430"/>
                </a:solidFill>
              </a:rPr>
              <a:t>Statistical methods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611880" y="2350008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9636E"/>
                </a:solidFill>
              </a:rPr>
              <a:t>Survey design, weighting, indices, correlations, regression, t-tests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713232" y="3163824"/>
            <a:ext cx="384048" cy="384048"/>
          </a:xfrm>
          <a:prstGeom prst="ellipse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3264408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261872" y="316382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B2430"/>
                </a:solidFill>
              </a:rPr>
              <a:t>Evidence &amp; visuals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3611880" y="3191256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9636E"/>
                </a:solidFill>
              </a:rPr>
              <a:t>Graphs, maps, confidence intervals, and summary comparisons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713232" y="4005072"/>
            <a:ext cx="384048" cy="384048"/>
          </a:xfrm>
          <a:prstGeom prst="ellipse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4105656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261872" y="400507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B2430"/>
                </a:solidFill>
              </a:rPr>
              <a:t>Findings &amp; takeaways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3611880" y="4032504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9636E"/>
                </a:solidFill>
              </a:rPr>
              <a:t>How the analysis supports the conclusions</a:t>
            </a:r>
            <a:endParaRPr lang="en-US" sz="1280" dirty="0"/>
          </a:p>
        </p:txBody>
      </p:sp>
      <p:sp>
        <p:nvSpPr>
          <p:cNvPr id="21" name="Shape 19"/>
          <p:cNvSpPr/>
          <p:nvPr/>
        </p:nvSpPr>
        <p:spPr>
          <a:xfrm>
            <a:off x="713232" y="4846320"/>
            <a:ext cx="384048" cy="384048"/>
          </a:xfrm>
          <a:prstGeom prst="ellipse">
            <a:avLst/>
          </a:prstGeom>
          <a:solidFill>
            <a:srgbClr val="7A1F2E"/>
          </a:solidFill>
          <a:ln w="12700">
            <a:solidFill>
              <a:srgbClr val="7A1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3232" y="4946904"/>
            <a:ext cx="3840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261872" y="4846320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1B2430"/>
                </a:solidFill>
              </a:rPr>
              <a:t>Software spotlight</a:t>
            </a:r>
            <a:endParaRPr lang="en-US" sz="1750" dirty="0"/>
          </a:p>
        </p:txBody>
      </p:sp>
      <p:sp>
        <p:nvSpPr>
          <p:cNvPr id="24" name="Text 22"/>
          <p:cNvSpPr/>
          <p:nvPr/>
        </p:nvSpPr>
        <p:spPr>
          <a:xfrm>
            <a:off x="3611880" y="4873752"/>
            <a:ext cx="4251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59636E"/>
                </a:solidFill>
              </a:rPr>
              <a:t>R / RStudio features, applications, limitations, and demo</a:t>
            </a:r>
            <a:endParaRPr lang="en-US" sz="1280" dirty="0"/>
          </a:p>
        </p:txBody>
      </p:sp>
      <p:sp>
        <p:nvSpPr>
          <p:cNvPr id="25" name="Shape 23"/>
          <p:cNvSpPr/>
          <p:nvPr/>
        </p:nvSpPr>
        <p:spPr>
          <a:xfrm>
            <a:off x="8275320" y="1325880"/>
            <a:ext cx="3063240" cy="4434840"/>
          </a:xfrm>
          <a:prstGeom prst="roundRect">
            <a:avLst>
              <a:gd name="adj" fmla="val 2388"/>
            </a:avLst>
          </a:prstGeom>
          <a:solidFill>
            <a:srgbClr val="DCEFF0"/>
          </a:solidFill>
          <a:ln w="12700">
            <a:solidFill>
              <a:srgbClr val="DCEF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49640" y="16276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7D7E"/>
                </a:solidFill>
              </a:rPr>
              <a:t>Central question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686800" y="2148840"/>
            <a:ext cx="2176272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B2430"/>
                </a:solidFill>
              </a:rPr>
              <a:t>Is there really a global “crisis of trust” in scientists after COVID-19 and amid debates over misinformation, policy, and expertise?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595360" y="4206240"/>
            <a:ext cx="2423160" cy="731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80" dirty="0">
                <a:solidFill>
                  <a:srgbClr val="59636E"/>
                </a:solidFill>
              </a:rPr>
              <a:t>Answer preview: the study finds moderate-to-high trust overall, but meaningful variation by country and group.</a:t>
            </a:r>
            <a:endParaRPr lang="en-US" sz="1280" dirty="0"/>
          </a:p>
        </p:txBody>
      </p:sp>
      <p:sp>
        <p:nvSpPr>
          <p:cNvPr id="29" name="Shape 27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31" name="Text 29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Study overview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A preregistered, global survey measured trust in scientists and expectations for science in society.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What the article studied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13232" y="1874520"/>
            <a:ext cx="466344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B2430"/>
                </a:solidFill>
              </a:rPr>
              <a:t>• How much people trust scientists across countries.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B2430"/>
                </a:solidFill>
              </a:rPr>
              <a:t>• Which demographic, ideological, and attitudinal factors relate to trust.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B2430"/>
                </a:solidFill>
              </a:rPr>
              <a:t>• Whether people think scientists should communicate with the public and influence policy.</a:t>
            </a:r>
            <a:endParaRPr lang="en-US" sz="1520" dirty="0"/>
          </a:p>
          <a:p>
            <a:pPr indent="0" marL="0">
              <a:buNone/>
            </a:pPr>
            <a:r>
              <a:rPr lang="en-US" sz="1520" dirty="0">
                <a:solidFill>
                  <a:srgbClr val="1B2430"/>
                </a:solidFill>
              </a:rPr>
              <a:t>• Which research priorities the public wants scientists to focus on.</a:t>
            </a:r>
            <a:endParaRPr lang="en-US" sz="1520" dirty="0"/>
          </a:p>
        </p:txBody>
      </p:sp>
      <p:sp>
        <p:nvSpPr>
          <p:cNvPr id="7" name="Shape 5"/>
          <p:cNvSpPr/>
          <p:nvPr/>
        </p:nvSpPr>
        <p:spPr>
          <a:xfrm>
            <a:off x="5989320" y="1371600"/>
            <a:ext cx="530352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783080"/>
            <a:ext cx="1325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D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71,922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6355080" y="2258568"/>
            <a:ext cx="13258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final respondents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863840" y="178308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D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68</a:t>
            </a:r>
            <a:endParaRPr lang="en-US" sz="2500" dirty="0"/>
          </a:p>
        </p:txBody>
      </p:sp>
      <p:sp>
        <p:nvSpPr>
          <p:cNvPr id="11" name="Text 9"/>
          <p:cNvSpPr/>
          <p:nvPr/>
        </p:nvSpPr>
        <p:spPr>
          <a:xfrm>
            <a:off x="7863840" y="2258568"/>
            <a:ext cx="137160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countries / territories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372600" y="17830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D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9372600" y="2258568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languages in survey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92240" y="31546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A1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79%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6492240" y="3630168"/>
            <a:ext cx="17373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of global population covered by surveyed countries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41080" y="3154680"/>
            <a:ext cx="1737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A1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500" dirty="0"/>
          </a:p>
        </p:txBody>
      </p:sp>
      <p:sp>
        <p:nvSpPr>
          <p:cNvPr id="17" name="Text 15"/>
          <p:cNvSpPr/>
          <p:nvPr/>
        </p:nvSpPr>
        <p:spPr>
          <a:xfrm>
            <a:off x="8641080" y="3630168"/>
            <a:ext cx="173736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trust items across 4 dimensions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0" y="466344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430"/>
                </a:solidFill>
              </a:rPr>
              <a:t>Design details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0" y="4919472"/>
            <a:ext cx="438912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9636E"/>
                </a:solidFill>
              </a:rPr>
              <a:t>Cross-sectional online survey, collected Nov. 2022–Aug. 2023, with quota samples weighted by age, gender, education, and country sample size.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22" name="Text 20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Statistical tools used in the study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The article combines careful survey measurement with inferential statistics.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0392" y="1673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07D7E"/>
                </a:solidFill>
              </a:rPr>
              <a:t>Preregistration + pretest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50392" y="1993392"/>
            <a:ext cx="2834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9636E"/>
                </a:solidFill>
              </a:rPr>
              <a:t>Research questions, hypotheses, and analysis plan were specified before full analysis.</a:t>
            </a:r>
            <a:endParaRPr lang="en-US" sz="1140" dirty="0"/>
          </a:p>
        </p:txBody>
      </p:sp>
      <p:sp>
        <p:nvSpPr>
          <p:cNvPr id="8" name="Shape 6"/>
          <p:cNvSpPr/>
          <p:nvPr/>
        </p:nvSpPr>
        <p:spPr>
          <a:xfrm>
            <a:off x="4389120" y="150876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53712" y="1673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A1F2E"/>
                </a:solidFill>
              </a:rPr>
              <a:t>Weighted survey estimates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553712" y="1993392"/>
            <a:ext cx="2834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9636E"/>
                </a:solidFill>
              </a:rPr>
              <a:t>Quota samples were adjusted to represent national age, gender, and education distributions.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8092440" y="150876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57032" y="167335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07D7E"/>
                </a:solidFill>
              </a:rPr>
              <a:t>Trust index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8257032" y="1993392"/>
            <a:ext cx="2834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9636E"/>
                </a:solidFill>
              </a:rPr>
              <a:t>12 items measured competence, integrity, benevolence, and openness; reliability was high.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685800" y="342900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5935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A1F2E"/>
                </a:solidFill>
              </a:rPr>
              <a:t>Multilevel regression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50392" y="3913632"/>
            <a:ext cx="2834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9636E"/>
                </a:solidFill>
              </a:rPr>
              <a:t>Random-intercept models estimated correlates of trust while accounting for country clustering.</a:t>
            </a:r>
            <a:endParaRPr lang="en-US" sz="1140" dirty="0"/>
          </a:p>
        </p:txBody>
      </p:sp>
      <p:sp>
        <p:nvSpPr>
          <p:cNvPr id="17" name="Shape 15"/>
          <p:cNvSpPr/>
          <p:nvPr/>
        </p:nvSpPr>
        <p:spPr>
          <a:xfrm>
            <a:off x="4389120" y="342900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53712" y="35935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07D7E"/>
                </a:solidFill>
              </a:rPr>
              <a:t>Confidence intervals + p-values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553712" y="3913632"/>
            <a:ext cx="2834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9636E"/>
                </a:solidFill>
              </a:rPr>
              <a:t>Uncertainty and statistical significance were shown for estimates and comparisons.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8092440" y="3429000"/>
            <a:ext cx="315468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3593592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7A1F2E"/>
                </a:solidFill>
              </a:rPr>
              <a:t>Paired t-tests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8257032" y="3913632"/>
            <a:ext cx="283464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59636E"/>
                </a:solidFill>
              </a:rPr>
              <a:t>Compared desired vs. perceived research priorities within respondents.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749808" y="5532120"/>
            <a:ext cx="104241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40" b="1" dirty="0">
                <a:solidFill>
                  <a:srgbClr val="1B2430"/>
                </a:solidFill>
              </a:rPr>
              <a:t>Why this matters: the statistical methods turn thousands of individual responses into interpretable estimates, uncertainty ranges, and country-level comparisons.</a:t>
            </a:r>
            <a:endParaRPr lang="en-US" sz="1540" dirty="0"/>
          </a:p>
        </p:txBody>
      </p:sp>
      <p:sp>
        <p:nvSpPr>
          <p:cNvPr id="24" name="Shape 2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26" name="Text 24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1: global trust is moderately high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Weighted country means challenge the narrative of a widespread trust crisis.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6400800" cy="4983480"/>
          </a:xfrm>
          <a:prstGeom prst="roundRect">
            <a:avLst>
              <a:gd name="adj" fmla="val 1101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pic>
        <p:nvPicPr>
          <p:cNvPr id="6" name="Image 0" descr="/mnt/data/ppt_assets/fig1_trust_by_countr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0687" y="1325880"/>
            <a:ext cx="5011026" cy="46634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6016752"/>
            <a:ext cx="61813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777777"/>
                </a:solidFill>
              </a:rPr>
              <a:t>Fig. 1: Weighted means and standard errors by country.</a:t>
            </a:r>
            <a:endParaRPr lang="en-US" sz="660" dirty="0"/>
          </a:p>
        </p:txBody>
      </p:sp>
      <p:sp>
        <p:nvSpPr>
          <p:cNvPr id="8" name="Text 5"/>
          <p:cNvSpPr/>
          <p:nvPr/>
        </p:nvSpPr>
        <p:spPr>
          <a:xfrm>
            <a:off x="7406640" y="1417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Main reading of the graph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406640" y="192024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D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3.62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406640" y="2395728"/>
            <a:ext cx="14173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weighted global mean trust on a 1–5 scale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9098280" y="1975104"/>
            <a:ext cx="2377440" cy="8229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9636E"/>
                </a:solidFill>
              </a:rPr>
              <a:t>No surveyed country had low average trust in scientists. Countries varied, but the global center of the distribution remained above the neutral midpoint.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406640" y="3154680"/>
            <a:ext cx="36118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3429000"/>
            <a:ext cx="3886200" cy="1371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B2430"/>
                </a:solidFill>
              </a:rPr>
              <a:t>• Dots show each country’s weighted mean trust score.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B2430"/>
                </a:solidFill>
              </a:rPr>
              <a:t>• Horizontal bars show standard errors, giving uncertainty around each estimate.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B2430"/>
                </a:solidFill>
              </a:rPr>
              <a:t>• The vertical line marks the overall grand mean.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7406640" y="5257800"/>
            <a:ext cx="3749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7A1F2E"/>
                </a:solidFill>
              </a:rPr>
              <a:t>Conclusion supported: the data do not support a broad global collapse of trust in scientists.</a:t>
            </a:r>
            <a:endParaRPr lang="en-US" sz="1550" dirty="0"/>
          </a:p>
        </p:txBody>
      </p:sp>
      <p:sp>
        <p:nvSpPr>
          <p:cNvPr id="15" name="Shape 12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17" name="Text 14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first graph informs the conclusion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Weighted summaries + uncertainty estimates make the country comparison meaningful.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252728"/>
            <a:ext cx="438912" cy="438912"/>
          </a:xfrm>
          <a:prstGeom prst="ellipse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533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83664"/>
            <a:ext cx="1691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Raw survey responses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2359152"/>
            <a:ext cx="1783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9636E"/>
                </a:solidFill>
              </a:rPr>
              <a:t>Individuals answer trust questions on 1–5 scales.</a:t>
            </a:r>
            <a:endParaRPr lang="en-US" sz="1120" dirty="0"/>
          </a:p>
        </p:txBody>
      </p:sp>
      <p:sp>
        <p:nvSpPr>
          <p:cNvPr id="9" name="Shape 7"/>
          <p:cNvSpPr/>
          <p:nvPr/>
        </p:nvSpPr>
        <p:spPr>
          <a:xfrm>
            <a:off x="2953512" y="1252728"/>
            <a:ext cx="438912" cy="438912"/>
          </a:xfrm>
          <a:prstGeom prst="ellipse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3533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16352" y="1883664"/>
            <a:ext cx="1691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Index construction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70632" y="2359152"/>
            <a:ext cx="1783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9636E"/>
                </a:solidFill>
              </a:rPr>
              <a:t>12 trust items combine into one reliable trust score.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5129784" y="1252728"/>
            <a:ext cx="438912" cy="438912"/>
          </a:xfrm>
          <a:prstGeom prst="ellipse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9784" y="13533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92624" y="1883664"/>
            <a:ext cx="1691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Post-stratification weighting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46904" y="2359152"/>
            <a:ext cx="1783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9636E"/>
                </a:solidFill>
              </a:rPr>
              <a:t>Responses are adjusted to match national age, gender, and education.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7306056" y="1252728"/>
            <a:ext cx="438912" cy="438912"/>
          </a:xfrm>
          <a:prstGeom prst="ellipse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06056" y="13533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168896" y="1883664"/>
            <a:ext cx="1691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Country means + SEs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23176" y="2359152"/>
            <a:ext cx="1783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9636E"/>
                </a:solidFill>
              </a:rPr>
              <a:t>Each country gets a weighted mean with standard error.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9482328" y="1252728"/>
            <a:ext cx="438912" cy="438912"/>
          </a:xfrm>
          <a:prstGeom prst="ellipse">
            <a:avLst/>
          </a:prstGeom>
          <a:solidFill>
            <a:srgbClr val="7A1F2E"/>
          </a:solidFill>
          <a:ln w="12700">
            <a:solidFill>
              <a:srgbClr val="7A1F2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482328" y="1353312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345168" y="1883664"/>
            <a:ext cx="169164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</a:rPr>
              <a:t>Inference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299448" y="2359152"/>
            <a:ext cx="1783080" cy="7498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9636E"/>
                </a:solidFill>
              </a:rPr>
              <a:t>Compare countries and see whether means fall below neutral trust.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86384" y="37947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</a:rPr>
              <a:t>Example interpretation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804672" y="4187952"/>
            <a:ext cx="457200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1B2430"/>
                </a:solidFill>
              </a:rPr>
              <a:t>A mean above 3 means average trust is above the neutral midpoint. The study reports a grand mean of 3.62, so the summary statistic directly supports the claim that trust is moderate-to-high overall.</a:t>
            </a:r>
            <a:endParaRPr lang="en-US" sz="1520" dirty="0"/>
          </a:p>
        </p:txBody>
      </p:sp>
      <p:sp>
        <p:nvSpPr>
          <p:cNvPr id="27" name="Shape 25"/>
          <p:cNvSpPr/>
          <p:nvPr/>
        </p:nvSpPr>
        <p:spPr>
          <a:xfrm>
            <a:off x="5852160" y="3749040"/>
            <a:ext cx="5303520" cy="1508760"/>
          </a:xfrm>
          <a:prstGeom prst="roundRect">
            <a:avLst>
              <a:gd name="adj" fmla="val 4848"/>
            </a:avLst>
          </a:prstGeom>
          <a:solidFill>
            <a:srgbClr val="DCEFF0"/>
          </a:solidFill>
          <a:ln w="12700">
            <a:solidFill>
              <a:srgbClr val="DCEF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44768" y="4041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D7E"/>
                </a:solidFill>
              </a:rPr>
              <a:t>Key statistical idea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144768" y="4370832"/>
            <a:ext cx="4480560" cy="5852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The plot is descriptive, but not “just descriptive”: weights and standard errors make it an evidence-based comparison rather than a simple average of whoever responded.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32" name="Text 30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2: attitudes explain more than demographics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Regression estimates show which variables move with trust after accounting for country clustering.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234440"/>
            <a:ext cx="4572000" cy="50292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pic>
        <p:nvPicPr>
          <p:cNvPr id="6" name="Image 0" descr="/mnt/data/ppt_assets/fig2_regress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15556"/>
            <a:ext cx="4389120" cy="43298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5528" y="6062472"/>
            <a:ext cx="4352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777777"/>
                </a:solidFill>
              </a:rPr>
              <a:t>Fig. 2: Standardized multilevel regression estimates with 95% confidence intervals.</a:t>
            </a:r>
            <a:endParaRPr lang="en-US" sz="660" dirty="0"/>
          </a:p>
        </p:txBody>
      </p:sp>
      <p:sp>
        <p:nvSpPr>
          <p:cNvPr id="8" name="Text 5"/>
          <p:cNvSpPr/>
          <p:nvPr/>
        </p:nvSpPr>
        <p:spPr>
          <a:xfrm>
            <a:off x="5623560" y="135331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B2430"/>
                </a:solidFill>
              </a:rPr>
              <a:t>How to read this forest plot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5650992" y="1737360"/>
            <a:ext cx="347472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B2430"/>
                </a:solidFill>
              </a:rPr>
              <a:t>• Dots to the right of zero are positively associated with trust.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B2430"/>
                </a:solidFill>
              </a:rPr>
              <a:t>• Dots to the left of zero are negatively associated with trust.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1B2430"/>
                </a:solidFill>
              </a:rPr>
              <a:t>• Intervals that do not cross zero are statistically significant at the study’s threshold.</a:t>
            </a:r>
            <a:endParaRPr lang="en-US" sz="1280" dirty="0"/>
          </a:p>
        </p:txBody>
      </p:sp>
      <p:sp>
        <p:nvSpPr>
          <p:cNvPr id="10" name="Shape 7"/>
          <p:cNvSpPr/>
          <p:nvPr/>
        </p:nvSpPr>
        <p:spPr>
          <a:xfrm>
            <a:off x="9372600" y="141732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DCEFF0"/>
          </a:solidFill>
          <a:ln w="12700">
            <a:solidFill>
              <a:srgbClr val="DCEF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55480" y="163677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7D7E"/>
                </a:solidFill>
              </a:rPr>
              <a:t>Strong positive links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9546336" y="1892808"/>
            <a:ext cx="1645920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1B2430"/>
                </a:solidFill>
              </a:rPr>
              <a:t>Trust in scientific methods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1B2430"/>
                </a:solidFill>
              </a:rPr>
              <a:t>Perceived benefit of science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9372600" y="2697480"/>
            <a:ext cx="2011680" cy="987552"/>
          </a:xfrm>
          <a:prstGeom prst="roundRect">
            <a:avLst>
              <a:gd name="adj" fmla="val 7407"/>
            </a:avLst>
          </a:prstGeom>
          <a:solidFill>
            <a:srgbClr val="F2DBDF"/>
          </a:solidFill>
          <a:ln w="12700">
            <a:solidFill>
              <a:srgbClr val="F2DBD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555480" y="291693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A1F2E"/>
                </a:solidFill>
              </a:rPr>
              <a:t>Negative links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509760" y="3182112"/>
            <a:ext cx="16916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Social dominance orientation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Conservatism</a:t>
            </a:r>
            <a:endParaRPr lang="en-US" sz="920" dirty="0"/>
          </a:p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Science-populist attitudes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5669280" y="425196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Conclusion supported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5669280" y="4590288"/>
            <a:ext cx="539496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1B2430"/>
                </a:solidFill>
              </a:rPr>
              <a:t>Trust is not explained mainly by simple demographics. The larger relationships are about people’s attitudes toward science, perceptions of benefit, and ideology.</a:t>
            </a:r>
            <a:endParaRPr lang="en-US" sz="1430" dirty="0"/>
          </a:p>
        </p:txBody>
      </p:sp>
      <p:sp>
        <p:nvSpPr>
          <p:cNvPr id="18" name="Shape 15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20" name="Text 17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3: political patterns are not universal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Country-level maps show that politics relates to trust differently depending on context.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234440"/>
            <a:ext cx="740664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pic>
        <p:nvPicPr>
          <p:cNvPr id="6" name="Image 0" descr="/mnt/data/ppt_assets/fig3_political_ma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70584"/>
            <a:ext cx="7223760" cy="42539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5696712"/>
            <a:ext cx="7187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777777"/>
                </a:solidFill>
              </a:rPr>
              <a:t>Fig. 3: Country-level effects of political orientation on trust in scientists.</a:t>
            </a:r>
            <a:endParaRPr lang="en-US" sz="660" dirty="0"/>
          </a:p>
        </p:txBody>
      </p:sp>
      <p:sp>
        <p:nvSpPr>
          <p:cNvPr id="8" name="Text 5"/>
          <p:cNvSpPr/>
          <p:nvPr/>
        </p:nvSpPr>
        <p:spPr>
          <a:xfrm>
            <a:off x="8366760" y="13533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What the maps add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94192" y="1783080"/>
            <a:ext cx="30175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• A single global average can hide national differences.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• Some countries show lower trust among right-leaning or conservative groups.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• Other countries show the opposite or no statistically clear relationship.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8366760" y="3858768"/>
            <a:ext cx="28346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41080" y="41148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7D7E"/>
                </a:solidFill>
              </a:rPr>
              <a:t>Statistical technique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641080" y="4407408"/>
            <a:ext cx="2267712" cy="49377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40" dirty="0">
                <a:solidFill>
                  <a:srgbClr val="59636E"/>
                </a:solidFill>
              </a:rPr>
              <a:t>Random slopes by country let the relationship between political orientation and trust vary instead of forcing one universal effect.</a:t>
            </a:r>
            <a:endParaRPr lang="en-US" sz="1140" dirty="0"/>
          </a:p>
        </p:txBody>
      </p:sp>
      <p:sp>
        <p:nvSpPr>
          <p:cNvPr id="13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15" name="Text 12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4: people want scientists to communicate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Stacked bars summarize agreement about scientists’ public and policy role.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298448"/>
            <a:ext cx="5943600" cy="3886200"/>
          </a:xfrm>
          <a:prstGeom prst="roundRect">
            <a:avLst>
              <a:gd name="adj" fmla="val 1412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pic>
        <p:nvPicPr>
          <p:cNvPr id="6" name="Image 0" descr="/mnt/data/ppt_assets/fig4_normat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629918"/>
            <a:ext cx="5760720" cy="30861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4983480"/>
            <a:ext cx="5724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777777"/>
                </a:solidFill>
              </a:rPr>
              <a:t>Fig. 4: Weighted response probabilities for normative perceptions.</a:t>
            </a:r>
            <a:endParaRPr lang="en-US" sz="660" dirty="0"/>
          </a:p>
        </p:txBody>
      </p:sp>
      <p:sp>
        <p:nvSpPr>
          <p:cNvPr id="8" name="Text 5"/>
          <p:cNvSpPr/>
          <p:nvPr/>
        </p:nvSpPr>
        <p:spPr>
          <a:xfrm>
            <a:off x="7086600" y="1536192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07D7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83%</a:t>
            </a:r>
            <a:endParaRPr lang="en-US" sz="2500" dirty="0"/>
          </a:p>
        </p:txBody>
      </p:sp>
      <p:sp>
        <p:nvSpPr>
          <p:cNvPr id="9" name="Text 6"/>
          <p:cNvSpPr/>
          <p:nvPr/>
        </p:nvSpPr>
        <p:spPr>
          <a:xfrm>
            <a:off x="7086600" y="2011680"/>
            <a:ext cx="155448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agree scientists should communicate science with the general public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915400" y="1737360"/>
            <a:ext cx="224028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59636E"/>
                </a:solidFill>
              </a:rPr>
              <a:t>The strongest consensus item is public communication, not necessarily direct advocacy.</a:t>
            </a:r>
            <a:endParaRPr lang="en-US" sz="1320" dirty="0"/>
          </a:p>
        </p:txBody>
      </p:sp>
      <p:sp>
        <p:nvSpPr>
          <p:cNvPr id="11" name="Text 8"/>
          <p:cNvSpPr/>
          <p:nvPr/>
        </p:nvSpPr>
        <p:spPr>
          <a:xfrm>
            <a:off x="7086600" y="301752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0"/>
                </a:solidFill>
              </a:rPr>
              <a:t>Method: diverging stacked bar chart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7114032" y="3401568"/>
            <a:ext cx="402336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1B2430"/>
                </a:solidFill>
              </a:rPr>
              <a:t>• Shows the full distribution, not just an average.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B2430"/>
                </a:solidFill>
              </a:rPr>
              <a:t>• Separates agreement, midpoint, and disagreement.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1B2430"/>
                </a:solidFill>
              </a:rPr>
              <a:t>• Makes it easy to see where consensus is strongest.</a:t>
            </a:r>
            <a:endParaRPr lang="en-US" sz="1340" dirty="0"/>
          </a:p>
        </p:txBody>
      </p:sp>
      <p:sp>
        <p:nvSpPr>
          <p:cNvPr id="13" name="Text 10"/>
          <p:cNvSpPr/>
          <p:nvPr/>
        </p:nvSpPr>
        <p:spPr>
          <a:xfrm>
            <a:off x="868680" y="5532120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7A1F2E"/>
                </a:solidFill>
              </a:rPr>
              <a:t>Conclusion supported: high trust also connects to support for scientists engaging more with society and policymaking.</a:t>
            </a:r>
            <a:endParaRPr lang="en-US" sz="1520" dirty="0"/>
          </a:p>
        </p:txBody>
      </p:sp>
      <p:sp>
        <p:nvSpPr>
          <p:cNvPr id="14" name="Shape 11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16" name="Text 13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Finding 5: the public sees a priority gap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Paired comparisons reveal mismatch between desired priorities and perceived scientific focus.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4944" y="1298448"/>
            <a:ext cx="5943600" cy="3794760"/>
          </a:xfrm>
          <a:prstGeom prst="roundRect">
            <a:avLst>
              <a:gd name="adj" fmla="val 1446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pic>
        <p:nvPicPr>
          <p:cNvPr id="6" name="Image 0" descr="/mnt/data/ppt_assets/fig5_priorit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582707"/>
            <a:ext cx="5760720" cy="30890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4892040"/>
            <a:ext cx="5724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60" dirty="0">
                <a:solidFill>
                  <a:srgbClr val="777777"/>
                </a:solidFill>
              </a:rPr>
              <a:t>Fig. 5: Perceived vs. desired research priorities; paired t-tests assess differences.</a:t>
            </a:r>
            <a:endParaRPr lang="en-US" sz="660" dirty="0"/>
          </a:p>
        </p:txBody>
      </p:sp>
      <p:sp>
        <p:nvSpPr>
          <p:cNvPr id="8" name="Text 5"/>
          <p:cNvSpPr/>
          <p:nvPr/>
        </p:nvSpPr>
        <p:spPr>
          <a:xfrm>
            <a:off x="7086600" y="141732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1B2430"/>
                </a:solidFill>
              </a:rPr>
              <a:t>Largest gap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040880" y="1828800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7A1F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1.11</a:t>
            </a:r>
            <a:endParaRPr lang="en-US" sz="2500" dirty="0"/>
          </a:p>
        </p:txBody>
      </p:sp>
      <p:sp>
        <p:nvSpPr>
          <p:cNvPr id="10" name="Text 7"/>
          <p:cNvSpPr/>
          <p:nvPr/>
        </p:nvSpPr>
        <p:spPr>
          <a:xfrm>
            <a:off x="7040880" y="2304288"/>
            <a:ext cx="146304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point gap for poverty reduction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778240" y="1965960"/>
            <a:ext cx="242316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59636E"/>
                </a:solidFill>
              </a:rPr>
              <a:t>Respondents wanted scientists to prioritize poverty reduction more than they perceived science currently does.</a:t>
            </a:r>
            <a:endParaRPr lang="en-US" sz="1240" dirty="0"/>
          </a:p>
        </p:txBody>
      </p:sp>
      <p:sp>
        <p:nvSpPr>
          <p:cNvPr id="12" name="Shape 9"/>
          <p:cNvSpPr/>
          <p:nvPr/>
        </p:nvSpPr>
        <p:spPr>
          <a:xfrm>
            <a:off x="7086600" y="3108960"/>
            <a:ext cx="4114800" cy="1417320"/>
          </a:xfrm>
          <a:prstGeom prst="roundRect">
            <a:avLst>
              <a:gd name="adj" fmla="val 5161"/>
            </a:avLst>
          </a:prstGeom>
          <a:solidFill>
            <a:srgbClr val="DCEFF0"/>
          </a:solidFill>
          <a:ln w="12700">
            <a:solidFill>
              <a:srgbClr val="DCEFF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0" y="336499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7D7E"/>
                </a:solidFill>
              </a:rPr>
              <a:t>How the statistics inform the finding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406640" y="3675888"/>
            <a:ext cx="347472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180" dirty="0">
                <a:solidFill>
                  <a:srgbClr val="1B2430"/>
                </a:solidFill>
              </a:rPr>
              <a:t>The study compared each person’s desired priority rating with their perceived current priority rating. Significant paired t-tests show the gaps are unlikely to be random noise.</a:t>
            </a:r>
            <a:endParaRPr lang="en-US" sz="1180" dirty="0"/>
          </a:p>
        </p:txBody>
      </p:sp>
      <p:sp>
        <p:nvSpPr>
          <p:cNvPr id="15" name="Text 12"/>
          <p:cNvSpPr/>
          <p:nvPr/>
        </p:nvSpPr>
        <p:spPr>
          <a:xfrm>
            <a:off x="868680" y="5532120"/>
            <a:ext cx="10058400" cy="4389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7A1F2E"/>
                </a:solidFill>
              </a:rPr>
              <a:t>Takeaway: trust may increase when scientific institutions listen to public priorities and communicate ongoing work on issues people care about.</a:t>
            </a:r>
            <a:endParaRPr lang="en-US" sz="1520" dirty="0"/>
          </a:p>
        </p:txBody>
      </p:sp>
      <p:sp>
        <p:nvSpPr>
          <p:cNvPr id="16" name="Shape 1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18" name="Text 15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Conclusions, limitations, and our takeaways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The evidence is reassuring overall, but it still points to communication challenges.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4944" y="1371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Main conclusions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475488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There is no widespread global lack of trust in scientists.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Distrust among even a minority can still affect policy and public behavior.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People strongly support scientists communicating with the public.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Perceived openness is lower than competence, so transparency matters.</a:t>
            </a:r>
            <a:endParaRPr lang="en-US" sz="1460" dirty="0"/>
          </a:p>
        </p:txBody>
      </p:sp>
      <p:sp>
        <p:nvSpPr>
          <p:cNvPr id="7" name="Text 5"/>
          <p:cNvSpPr/>
          <p:nvPr/>
        </p:nvSpPr>
        <p:spPr>
          <a:xfrm>
            <a:off x="6400800" y="1371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Limitations to mention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1783080"/>
            <a:ext cx="466344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Online surveys can underrepresent people without reliable internet access.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Some countries used English/French despite other common local languages.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The survey used a broad Western-style definition of “science.”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Cross-country measurement is difficult because words and scales can translate imperfectly.</a:t>
            </a:r>
            <a:endParaRPr lang="en-US" sz="1460" dirty="0"/>
          </a:p>
        </p:txBody>
      </p:sp>
      <p:sp>
        <p:nvSpPr>
          <p:cNvPr id="9" name="Shape 7"/>
          <p:cNvSpPr/>
          <p:nvPr/>
        </p:nvSpPr>
        <p:spPr>
          <a:xfrm>
            <a:off x="960120" y="4617720"/>
            <a:ext cx="100126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4828032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07D7E"/>
                </a:solidFill>
              </a:rPr>
              <a:t>Our takeaway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2743200" y="4764024"/>
            <a:ext cx="7726680" cy="4389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B2430"/>
                </a:solidFill>
              </a:rPr>
              <a:t>The study is a strong example of statistics being used to test a popular claim. Instead of relying on headlines about a “trust crisis,” the authors measured trust systematically, estimated uncertainty, and checked patterns across many countries.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Statistical software spotlight: R + RStudio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R is a free, open-source environment designed for statistical computing and graphics.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417320"/>
            <a:ext cx="1508760" cy="1508760"/>
          </a:xfrm>
          <a:prstGeom prst="ellipse">
            <a:avLst/>
          </a:prstGeom>
          <a:solidFill>
            <a:srgbClr val="DCEFF0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71907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07D7E"/>
                </a:solidFill>
              </a:rPr>
              <a:t>R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2834640" y="1417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What can it do?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862072" y="1828800"/>
            <a:ext cx="333756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B2430"/>
                </a:solidFill>
              </a:rPr>
              <a:t>• Clean and transform raw data.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B2430"/>
                </a:solidFill>
              </a:rPr>
              <a:t>• Run statistical tests, regressions, and simulations.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B2430"/>
                </a:solidFill>
              </a:rPr>
              <a:t>• Create publication-quality graphs.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B2430"/>
                </a:solidFill>
              </a:rPr>
              <a:t>• Build reproducible reports and dashboards.</a:t>
            </a:r>
            <a:endParaRPr lang="en-US" sz="1380" dirty="0"/>
          </a:p>
        </p:txBody>
      </p:sp>
      <p:sp>
        <p:nvSpPr>
          <p:cNvPr id="9" name="Text 7"/>
          <p:cNvSpPr/>
          <p:nvPr/>
        </p:nvSpPr>
        <p:spPr>
          <a:xfrm>
            <a:off x="6812280" y="141732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430"/>
                </a:solidFill>
              </a:rPr>
              <a:t>Best features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39712" y="1828800"/>
            <a:ext cx="411480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B2430"/>
                </a:solidFill>
              </a:rPr>
              <a:t>• Huge package ecosystem: tidyverse, ggplot2, lme4, survey, Shiny.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B2430"/>
                </a:solidFill>
              </a:rPr>
              <a:t>• Code-based workflow makes analysis reproducible.</a:t>
            </a:r>
            <a:endParaRPr lang="en-US" sz="1380" dirty="0"/>
          </a:p>
          <a:p>
            <a:pPr indent="0" marL="0">
              <a:buNone/>
            </a:pPr>
            <a:r>
              <a:rPr lang="en-US" sz="1380" dirty="0">
                <a:solidFill>
                  <a:srgbClr val="1B2430"/>
                </a:solidFill>
              </a:rPr>
              <a:t>• RStudio makes scripts, plots, data, and files easier to manage.</a:t>
            </a:r>
            <a:endParaRPr lang="en-US" sz="1380" dirty="0"/>
          </a:p>
        </p:txBody>
      </p:sp>
      <p:sp>
        <p:nvSpPr>
          <p:cNvPr id="11" name="Text 9"/>
          <p:cNvSpPr/>
          <p:nvPr/>
        </p:nvSpPr>
        <p:spPr>
          <a:xfrm>
            <a:off x="914400" y="4069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</a:rPr>
              <a:t>Applications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14400" y="4480560"/>
            <a:ext cx="484632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9636E"/>
                </a:solidFill>
              </a:rPr>
              <a:t>Public health • polling • market research • sports analytics • finance • machine learning • academic research</a:t>
            </a:r>
            <a:endParaRPr lang="en-US" sz="1420" dirty="0"/>
          </a:p>
        </p:txBody>
      </p:sp>
      <p:sp>
        <p:nvSpPr>
          <p:cNvPr id="13" name="Text 11"/>
          <p:cNvSpPr/>
          <p:nvPr/>
        </p:nvSpPr>
        <p:spPr>
          <a:xfrm>
            <a:off x="6812280" y="4069080"/>
            <a:ext cx="1920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430"/>
                </a:solidFill>
              </a:rPr>
              <a:t>Limitations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839712" y="4480560"/>
            <a:ext cx="41148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59636E"/>
                </a:solidFill>
              </a:rPr>
              <a:t>Steeper learning curve than spreadsheet tools; memory limits on very large data; code quality depends on the user documenting and organizing scripts.</a:t>
            </a:r>
            <a:endParaRPr lang="en-US" sz="1420" dirty="0"/>
          </a:p>
        </p:txBody>
      </p:sp>
      <p:sp>
        <p:nvSpPr>
          <p:cNvPr id="15" name="Shape 13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17" name="Text 15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 demo: recreate a priority-gap analysis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A small case study using the article’s mean ratings from Figure 5.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2194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430"/>
                </a:solidFill>
              </a:rPr>
              <a:t>Input data frame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685800" y="1719072"/>
            <a:ext cx="4297680" cy="155448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" y="1737360"/>
            <a:ext cx="4261104" cy="274320"/>
          </a:xfrm>
          <a:prstGeom prst="rect">
            <a:avLst/>
          </a:prstGeom>
          <a:solidFill>
            <a:srgbClr val="E8E5DD"/>
          </a:solidFill>
          <a:ln w="12700">
            <a:solidFill>
              <a:srgbClr val="E8E5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801368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1B2430"/>
                </a:solidFill>
              </a:rPr>
              <a:t>Goal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2724912" y="1801368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B2430"/>
                </a:solidFill>
              </a:rPr>
              <a:t>Perceived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3547872" y="1801368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B2430"/>
                </a:solidFill>
              </a:rPr>
              <a:t>Desired</a:t>
            </a:r>
            <a:endParaRPr lang="en-US" sz="920" dirty="0"/>
          </a:p>
        </p:txBody>
      </p:sp>
      <p:sp>
        <p:nvSpPr>
          <p:cNvPr id="11" name="Text 9"/>
          <p:cNvSpPr/>
          <p:nvPr/>
        </p:nvSpPr>
        <p:spPr>
          <a:xfrm>
            <a:off x="4279392" y="1801368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B2430"/>
                </a:solidFill>
              </a:rPr>
              <a:t>Gap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58952" y="2112264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Public health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2724912" y="2112264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3.81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3547872" y="2112264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4.49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4279392" y="211226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0.68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31520" y="2029968"/>
            <a:ext cx="420624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2423160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Energy problems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2724912" y="2423160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3.84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3547872" y="2423160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4.38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4279392" y="2423160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0.54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731520" y="2340864"/>
            <a:ext cx="420624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8952" y="2734056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Reduce poverty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2724912" y="2734056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2.98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3547872" y="2734056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4.09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4279392" y="2734056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1.11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731520" y="2651760"/>
            <a:ext cx="420624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8952" y="3044952"/>
            <a:ext cx="1920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Defense/military tech</a:t>
            </a:r>
            <a:endParaRPr lang="en-US" sz="920" dirty="0"/>
          </a:p>
        </p:txBody>
      </p:sp>
      <p:sp>
        <p:nvSpPr>
          <p:cNvPr id="28" name="Text 26"/>
          <p:cNvSpPr/>
          <p:nvPr/>
        </p:nvSpPr>
        <p:spPr>
          <a:xfrm>
            <a:off x="2724912" y="3044952"/>
            <a:ext cx="777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3.79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3547872" y="3044952"/>
            <a:ext cx="685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3.10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4279392" y="3044952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1B2430"/>
                </a:solidFill>
              </a:rPr>
              <a:t>-0.69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731520" y="2962656"/>
            <a:ext cx="420624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0" y="1325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1B2430"/>
                </a:solidFill>
              </a:rPr>
              <a:t>Example R code</a:t>
            </a:r>
            <a:endParaRPr lang="en-US" sz="1750" dirty="0"/>
          </a:p>
        </p:txBody>
      </p:sp>
      <p:sp>
        <p:nvSpPr>
          <p:cNvPr id="33" name="Shape 31"/>
          <p:cNvSpPr/>
          <p:nvPr/>
        </p:nvSpPr>
        <p:spPr>
          <a:xfrm>
            <a:off x="5486400" y="1719072"/>
            <a:ext cx="5394960" cy="1874520"/>
          </a:xfrm>
          <a:prstGeom prst="roundRect">
            <a:avLst>
              <a:gd name="adj" fmla="val 1951"/>
            </a:avLst>
          </a:prstGeom>
          <a:solidFill>
            <a:srgbClr val="252525"/>
          </a:solidFill>
          <a:ln w="12700">
            <a:solidFill>
              <a:srgbClr val="25252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50992" y="1874520"/>
            <a:ext cx="5074920" cy="1581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4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library(tidyverse)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priorities &lt;- tibble(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goal = c("Public health", "Energy",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"Poverty", "Defense tech"),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perceived = c(3.81, 3.84, 2.98, 3.79),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desired = c(4.49, 4.38, 4.09, 3.10)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%&gt;%</a:t>
            </a: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mutate(gap = desired - perceived)</a:t>
            </a:r>
            <a:endParaRPr lang="en-US" sz="940" dirty="0"/>
          </a:p>
          <a:p>
            <a:pPr indent="0" marL="0">
              <a:buNone/>
            </a:pPr>
            <a:endParaRPr lang="en-US" sz="940" dirty="0"/>
          </a:p>
          <a:p>
            <a:pPr indent="0" marL="0">
              <a:buNone/>
            </a:pPr>
            <a:r>
              <a:rPr lang="en-US" sz="940" dirty="0">
                <a:solidFill>
                  <a:srgbClr val="F4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priorities %&gt;% arrange(desc(abs(gap)))</a:t>
            </a:r>
            <a:endParaRPr lang="en-US" sz="940" dirty="0"/>
          </a:p>
        </p:txBody>
      </p:sp>
      <p:sp>
        <p:nvSpPr>
          <p:cNvPr id="35" name="Text 33"/>
          <p:cNvSpPr/>
          <p:nvPr/>
        </p:nvSpPr>
        <p:spPr>
          <a:xfrm>
            <a:off x="685800" y="413308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430"/>
                </a:solidFill>
              </a:rPr>
              <a:t>Output interpretation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713232" y="4517136"/>
            <a:ext cx="557784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B2430"/>
                </a:solidFill>
              </a:rPr>
              <a:t>• The largest absolute gap is poverty reduction: desired priority is much higher than perceived current focus.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B2430"/>
                </a:solidFill>
              </a:rPr>
              <a:t>• Defense/military technology is the only negative gap: people perceive more focus than they want.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B2430"/>
                </a:solidFill>
              </a:rPr>
              <a:t>• The same workflow can be extended to all countries, demographic subgroups, and uncertainty intervals.</a:t>
            </a:r>
            <a:endParaRPr lang="en-US" sz="1320" dirty="0"/>
          </a:p>
        </p:txBody>
      </p:sp>
      <p:sp>
        <p:nvSpPr>
          <p:cNvPr id="37" name="Shape 35"/>
          <p:cNvSpPr/>
          <p:nvPr/>
        </p:nvSpPr>
        <p:spPr>
          <a:xfrm>
            <a:off x="6629400" y="4069080"/>
            <a:ext cx="4160520" cy="1481328"/>
          </a:xfrm>
          <a:prstGeom prst="roundRect">
            <a:avLst>
              <a:gd name="adj" fmla="val 4938"/>
            </a:avLst>
          </a:prstGeom>
          <a:solidFill>
            <a:srgbClr val="DCEFF0"/>
          </a:solidFill>
          <a:ln w="12700">
            <a:solidFill>
              <a:srgbClr val="DCEF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03720" y="4343400"/>
            <a:ext cx="3611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007D7E"/>
                </a:solidFill>
              </a:rPr>
              <a:t>In class demo idea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6903720" y="4663440"/>
            <a:ext cx="36118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1B2430"/>
                </a:solidFill>
              </a:rPr>
              <a:t>Run the code, change the means, and watch how the ranked gaps update. This demonstrates reproducible data analysis in a simple way.</a:t>
            </a:r>
            <a:endParaRPr lang="en-US" sz="1240" dirty="0"/>
          </a:p>
        </p:txBody>
      </p:sp>
      <p:sp>
        <p:nvSpPr>
          <p:cNvPr id="40" name="Shape 38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42" name="Text 40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6072" y="38404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50" b="1" dirty="0">
                <a:solidFill>
                  <a:srgbClr val="1B243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wrap-up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94360" y="850392"/>
            <a:ext cx="7955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36E"/>
                </a:solidFill>
              </a:rPr>
              <a:t>Statistics helped the authors test a public claim with evidence.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15568"/>
            <a:ext cx="1143000" cy="45720"/>
          </a:xfrm>
          <a:prstGeom prst="rect">
            <a:avLst/>
          </a:prstGeom>
          <a:solidFill>
            <a:srgbClr val="007D7E"/>
          </a:solidFill>
          <a:ln w="12700">
            <a:solidFill>
              <a:srgbClr val="007D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7160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430"/>
                </a:solidFill>
              </a:rPr>
              <a:t>What this study shows about statistical analysis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1810512"/>
            <a:ext cx="530352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Good measurement matters: a 12-item scale is stronger than one vague question.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Weighting matters: survey data need adjustment to represent target populations.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Visualization matters: different graphs answer different questions.</a:t>
            </a:r>
            <a:endParaRPr lang="en-US" sz="1460" dirty="0"/>
          </a:p>
          <a:p>
            <a:pPr indent="0" marL="0">
              <a:buNone/>
            </a:pPr>
            <a:r>
              <a:rPr lang="en-US" sz="1460" dirty="0">
                <a:solidFill>
                  <a:srgbClr val="1B2430"/>
                </a:solidFill>
              </a:rPr>
              <a:t>• Modeling matters: regression helps separate small demographic effects from stronger attitudinal effects.</a:t>
            </a:r>
            <a:endParaRPr lang="en-US" sz="1460" dirty="0"/>
          </a:p>
        </p:txBody>
      </p:sp>
      <p:sp>
        <p:nvSpPr>
          <p:cNvPr id="7" name="Shape 5"/>
          <p:cNvSpPr/>
          <p:nvPr/>
        </p:nvSpPr>
        <p:spPr>
          <a:xfrm>
            <a:off x="6537960" y="1417320"/>
            <a:ext cx="420624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D6D2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03720" y="173736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7D7E"/>
                </a:solidFill>
              </a:rPr>
              <a:t>Rubric completion check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95160" y="2194560"/>
            <a:ext cx="3200400" cy="1600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• Study summary included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• Statistical tools explained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• Graphs and charts interpreted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• Conclusions and takeaways stated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B2430"/>
                </a:solidFill>
              </a:rPr>
              <a:t>• R software introduced with demo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49560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A1F2E"/>
                </a:solidFill>
              </a:rPr>
              <a:t>Discussion question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520440" y="4892040"/>
            <a:ext cx="694944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</a:rPr>
              <a:t>If scientists want to increase trust, should they focus more on transparency, public communication, or matching research priorities to public concerns?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02920" y="6473952"/>
            <a:ext cx="11155680" cy="0"/>
          </a:xfrm>
          <a:prstGeom prst="line">
            <a:avLst/>
          </a:prstGeom>
          <a:noFill/>
          <a:ln w="12700">
            <a:solidFill>
              <a:srgbClr val="D6D2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6528816"/>
            <a:ext cx="99669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7777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Nature Human Behaviour (2025), “Trust in scientists and their role in society across 68 countries,” doi:10.1038/s41562-024-02090-5</a:t>
            </a:r>
            <a:endParaRPr lang="en-US" sz="580" dirty="0"/>
          </a:p>
        </p:txBody>
      </p:sp>
      <p:sp>
        <p:nvSpPr>
          <p:cNvPr id="14" name="Text 12"/>
          <p:cNvSpPr/>
          <p:nvPr/>
        </p:nvSpPr>
        <p:spPr>
          <a:xfrm>
            <a:off x="11475720" y="6483096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007D7E"/>
                </a:solidFill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Trust in Scientists Across 68 Countries</dc:title>
  <dc:subject>Statistical study presentation</dc:subject>
  <dc:creator>OpenAI</dc:creator>
  <cp:lastModifiedBy>OpenAI</cp:lastModifiedBy>
  <cp:revision>1</cp:revision>
  <dcterms:created xsi:type="dcterms:W3CDTF">2026-07-16T01:53:39Z</dcterms:created>
  <dcterms:modified xsi:type="dcterms:W3CDTF">2026-07-16T01:53:39Z</dcterms:modified>
</cp:coreProperties>
</file>