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8" r:id="rId4"/>
    <p:sldId id="257" r:id="rId5"/>
    <p:sldId id="265" r:id="rId6"/>
    <p:sldId id="266" r:id="rId7"/>
    <p:sldId id="267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gD/Uj8j1yWAD7DmrWBQ9ngaBa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A9C4"/>
    <a:srgbClr val="F4F6F9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99" d="100"/>
          <a:sy n="99" d="100"/>
        </p:scale>
        <p:origin x="2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213D"/>
                </a:solidFill>
                <a:latin typeface="Arial"/>
              </a:rPr>
              <a:t>Mean Held-Out Test R² by Configuration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766-4E5B-90B1-2CF6037A1548}"/>
              </c:ext>
            </c:extLst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E766-4E5B-90B1-2CF6037A1548}"/>
              </c:ext>
            </c:extLst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766-4E5B-90B1-2CF6037A1548}"/>
              </c:ext>
            </c:extLst>
          </c:dPt>
          <c:dPt>
            <c:idx val="3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E766-4E5B-90B1-2CF6037A1548}"/>
              </c:ext>
            </c:extLst>
          </c:dPt>
          <c:dPt>
            <c:idx val="4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E766-4E5B-90B1-2CF6037A1548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52-4B40-91C2-7F20794A783B}"/>
              </c:ext>
            </c:extLst>
          </c:dPt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
GCN-2</c:v>
                </c:pt>
                <c:pt idx="1">
                  <c:v>+ Richer
Features</c:v>
                </c:pt>
                <c:pt idx="2">
                  <c:v>+ Graph
Features</c:v>
                </c:pt>
                <c:pt idx="3">
                  <c:v>+ Target
Norm.</c:v>
                </c:pt>
                <c:pt idx="4">
                  <c:v>GCN-3
</c:v>
                </c:pt>
                <c:pt idx="5">
                  <c:v>GCN-3 Ensemble
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0.91479999999999995</c:v>
                </c:pt>
                <c:pt idx="1">
                  <c:v>0.93799999999999994</c:v>
                </c:pt>
                <c:pt idx="2">
                  <c:v>0.94110000000000005</c:v>
                </c:pt>
                <c:pt idx="3">
                  <c:v>0.94469999999999998</c:v>
                </c:pt>
                <c:pt idx="4">
                  <c:v>0.94562500000000005</c:v>
                </c:pt>
                <c:pt idx="5">
                  <c:v>0.945631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766-4E5B-90B1-2CF6037A1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5F2D82-25AB-0336-EC85-A73376E2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28F8D35E-7A50-4FDF-E8F3-5ED49635E8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703A2FF7-8F35-871C-0F48-9AF6FC2AB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A4A048DD-CBB7-A482-A67F-36086D902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61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4EC564-936F-07AF-EAFE-A9B221CF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B710526D-E2C0-9F20-71B5-3F8ECC1D4E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E86D0B26-0BBE-026B-2A5E-2F95A0966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CCF880E2-9D24-C87D-1DBE-EC486A4D9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Alzheimer’s therapeutics. Clean energy. Hypersonic flight. Every one of them stalls at the same wall what materials can actually do. This project is built to move that wall.</a:t>
            </a:r>
            <a:r>
              <a:rPr lang="en-US" sz="1200" dirty="0">
                <a:solidFill>
                  <a:srgbClr val="8DA9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$1.2T+ global advanced materials market underwrites all four — this is not a niche problem.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2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3457CB3-B59D-EC23-A979-0B610A88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29956D9E-26B4-A096-F6DE-61AE32A2EB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6A1566B0-8B33-22B9-30B3-1722DF136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40CC4A03-90FC-40F0-3DDC-EA951078C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6612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A98F9BA-F931-CC8E-2338-35937B25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67501FE7-D9B8-50D6-513B-825B3C940C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13C6B988-DDE0-0927-A7F9-6C02E8243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CC60B491-CC98-799E-56D7-E1C5579C6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5109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8D4480F-FD76-9655-956B-5775E068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B40F7A64-84F4-FDB1-E22E-5E19A31A41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8A50B8DA-C744-A178-3E26-55F731730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51699FBD-1FC3-28F4-7DDC-A16E68782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Graph:</a:t>
            </a:r>
            <a:r>
              <a:rPr lang="en-US" dirty="0"/>
              <a:t> In mathematics and computer science, a graph is a collection of nodes connected by edges. </a:t>
            </a:r>
            <a:r>
              <a:rPr lang="en-US" b="1" dirty="0"/>
              <a:t>Node:</a:t>
            </a:r>
            <a:r>
              <a:rPr lang="en-US" dirty="0"/>
              <a:t> Represents a joint where lattice beams meet. </a:t>
            </a:r>
            <a:r>
              <a:rPr lang="en-US" b="1" dirty="0"/>
              <a:t>Edge:</a:t>
            </a:r>
            <a:r>
              <a:rPr lang="en-US" dirty="0"/>
              <a:t> Represents a beam connecting two joints. </a:t>
            </a:r>
            <a:r>
              <a:rPr lang="en-US" b="1" dirty="0"/>
              <a:t>Graph Neural Network:</a:t>
            </a:r>
            <a:r>
              <a:rPr lang="en-US" dirty="0"/>
              <a:t> Learns by allowing neighboring nodes to repeatedly exchange information. </a:t>
            </a:r>
            <a:r>
              <a:rPr lang="en-US" b="1" dirty="0"/>
              <a:t>Feature:</a:t>
            </a:r>
            <a:r>
              <a:rPr lang="en-US" dirty="0"/>
              <a:t> Information describing the geometry, such as position, connectivity, or whether a node is on the boundary.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0616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23A9804-7214-0A48-604E-09469387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739E5DE6-FC4B-6BD8-9B48-F5DC0D8AF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7130FCE4-40EF-E867-310B-4C4405D11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AB0E37DA-BAC6-A0EA-9E8D-7331B6D01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R² (R-squared):</a:t>
            </a:r>
            <a:r>
              <a:rPr lang="en-US" dirty="0"/>
              <a:t> Measures how closely predictions match the true values. Values closer to 1 indicate better performance. </a:t>
            </a:r>
            <a:r>
              <a:rPr lang="en-US" b="1" dirty="0"/>
              <a:t>RMSE (Root Mean Square Error):</a:t>
            </a:r>
            <a:r>
              <a:rPr lang="en-US" dirty="0"/>
              <a:t> Measures the average prediction error. Smaller values are better. </a:t>
            </a:r>
            <a:r>
              <a:rPr lang="en-US" b="1" dirty="0"/>
              <a:t>Baseline:</a:t>
            </a:r>
            <a:r>
              <a:rPr lang="en-US" dirty="0"/>
              <a:t> The original model used as the starting point for comparison. Emphasize that improvements came from better representing the lattice, not simply changing training settings.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437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D709B33-1776-F30E-70B8-352CBDBF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>
            <a:extLst>
              <a:ext uri="{FF2B5EF4-FFF2-40B4-BE49-F238E27FC236}">
                <a16:creationId xmlns:a16="http://schemas.microsoft.com/office/drawing/2014/main" id="{1FE90669-ACF9-55C4-F590-B194A4794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:notes">
            <a:extLst>
              <a:ext uri="{FF2B5EF4-FFF2-40B4-BE49-F238E27FC236}">
                <a16:creationId xmlns:a16="http://schemas.microsoft.com/office/drawing/2014/main" id="{3FEE9051-7081-490D-1A97-86C241AAC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9:notes">
            <a:extLst>
              <a:ext uri="{FF2B5EF4-FFF2-40B4-BE49-F238E27FC236}">
                <a16:creationId xmlns:a16="http://schemas.microsoft.com/office/drawing/2014/main" id="{51580D00-78ED-6316-CE1F-341618FF0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72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0" y="6013174"/>
            <a:ext cx="12192000" cy="855939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5" descr="NJIT_C_SD3_ko.ep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8200" y="6155673"/>
            <a:ext cx="3008243" cy="59783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4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3D63B7-7E77-D59D-5C79-5E015575DAA8}"/>
              </a:ext>
            </a:extLst>
          </p:cNvPr>
          <p:cNvSpPr txBox="1"/>
          <p:nvPr/>
        </p:nvSpPr>
        <p:spPr>
          <a:xfrm>
            <a:off x="1774517" y="4260056"/>
            <a:ext cx="86429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b="1" dirty="0"/>
              <a:t>Alexander </a:t>
            </a:r>
            <a:r>
              <a:rPr lang="en-US" altLang="en-US" b="1" dirty="0" err="1"/>
              <a:t>Adams</a:t>
            </a:r>
            <a:r>
              <a:rPr lang="en-US" altLang="en-US" b="1" baseline="30000" dirty="0" err="1"/>
              <a:t>a</a:t>
            </a:r>
            <a:r>
              <a:rPr lang="en-US" altLang="en-US" b="1" dirty="0"/>
              <a:t>, Helder </a:t>
            </a:r>
            <a:r>
              <a:rPr lang="en-US" altLang="en-US" b="1" dirty="0" err="1"/>
              <a:t>Rebelo</a:t>
            </a:r>
            <a:r>
              <a:rPr lang="en-US" altLang="en-US" b="1" baseline="30000" dirty="0" err="1"/>
              <a:t>b</a:t>
            </a:r>
            <a:r>
              <a:rPr lang="en-US" altLang="en-US" b="1" dirty="0"/>
              <a:t>, Dr. Xing </a:t>
            </a:r>
            <a:r>
              <a:rPr lang="en-US" altLang="en-US" b="1" dirty="0" err="1"/>
              <a:t>Liu</a:t>
            </a:r>
            <a:r>
              <a:rPr lang="en-US" altLang="en-US" b="1" baseline="30000" dirty="0" err="1"/>
              <a:t>b</a:t>
            </a:r>
            <a:r>
              <a:rPr lang="en-US" altLang="en-US" b="1" baseline="30000" dirty="0"/>
              <a:t> </a:t>
            </a:r>
            <a:r>
              <a:rPr lang="en-US" altLang="en-US" b="1" dirty="0"/>
              <a:t>(Advisor)</a:t>
            </a:r>
            <a:r>
              <a:rPr lang="en-US" altLang="en-US" b="1" baseline="30000" dirty="0"/>
              <a:t> </a:t>
            </a:r>
            <a:endParaRPr lang="en-US" altLang="en-US" b="1" dirty="0"/>
          </a:p>
          <a:p>
            <a:pPr algn="ctr"/>
            <a:r>
              <a:rPr lang="en-US" altLang="en-US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79A4656C-AEB4-C6F8-84E5-72E1D0544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7789" y="1847006"/>
            <a:ext cx="9456420" cy="201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/>
              <a:t>Predicting the Mechanical Properties of Complex Lattice Metamaterials Using Graph Neural Networks (GNNs) </a:t>
            </a:r>
            <a:endParaRPr lang="en-US" altLang="en-US" sz="4000" dirty="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2C0EAE-D19E-735F-77C9-2D57C0270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A7BD6F-476C-689F-24F6-A5F5199BE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9" y="6044548"/>
            <a:ext cx="2720339" cy="836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6"/>
    </mc:Choice>
    <mc:Fallback>
      <p:transition spd="slow" advTm="11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DC32F0A-9A91-7AEE-2DC9-F2E091F4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7">
            <a:extLst>
              <a:ext uri="{FF2B5EF4-FFF2-40B4-BE49-F238E27FC236}">
                <a16:creationId xmlns:a16="http://schemas.microsoft.com/office/drawing/2014/main" id="{4A2B64AA-A862-7028-E694-80CC96C452C8}"/>
              </a:ext>
            </a:extLst>
          </p:cNvPr>
          <p:cNvSpPr/>
          <p:nvPr/>
        </p:nvSpPr>
        <p:spPr>
          <a:xfrm>
            <a:off x="424180" y="1064865"/>
            <a:ext cx="5212080" cy="4552130"/>
          </a:xfrm>
          <a:prstGeom prst="roundRect">
            <a:avLst>
              <a:gd name="adj" fmla="val 1429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5AECD43B-2F82-ECF0-239D-5CCDFA9FEA0A}"/>
              </a:ext>
            </a:extLst>
          </p:cNvPr>
          <p:cNvSpPr/>
          <p:nvPr/>
        </p:nvSpPr>
        <p:spPr>
          <a:xfrm>
            <a:off x="789940" y="1182155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6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$1.2T+</a:t>
            </a:r>
            <a:endParaRPr lang="en-US" sz="4600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8471FB89-2501-A1FA-8F9F-DE361B06FFEF}"/>
              </a:ext>
            </a:extLst>
          </p:cNvPr>
          <p:cNvSpPr/>
          <p:nvPr/>
        </p:nvSpPr>
        <p:spPr>
          <a:xfrm>
            <a:off x="789940" y="1913675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advanced materials market (2023)</a:t>
            </a: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62C84EAA-ECA1-9ED0-258E-B8D695D66E76}"/>
              </a:ext>
            </a:extLst>
          </p:cNvPr>
          <p:cNvSpPr/>
          <p:nvPr/>
        </p:nvSpPr>
        <p:spPr>
          <a:xfrm>
            <a:off x="627895" y="256533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B64CDBBA-22E7-0C65-4645-B8F097257806}"/>
              </a:ext>
            </a:extLst>
          </p:cNvPr>
          <p:cNvSpPr/>
          <p:nvPr/>
        </p:nvSpPr>
        <p:spPr>
          <a:xfrm>
            <a:off x="789940" y="2736635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$110–133B → $205–313B</a:t>
            </a:r>
            <a:endParaRPr lang="en-US" sz="3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E601C1E1-E41A-33FB-7920-5654826B870E}"/>
              </a:ext>
            </a:extLst>
          </p:cNvPr>
          <p:cNvSpPr/>
          <p:nvPr/>
        </p:nvSpPr>
        <p:spPr>
          <a:xfrm>
            <a:off x="789940" y="3376715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composites &amp; lattice materials, 2024 → 2032–34 (~8–9% CAGR)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8A75D549-12A3-03DB-A0CE-7A5CA52E5904}"/>
              </a:ext>
            </a:extLst>
          </p:cNvPr>
          <p:cNvSpPr/>
          <p:nvPr/>
        </p:nvSpPr>
        <p:spPr>
          <a:xfrm>
            <a:off x="627895" y="4085665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12BAF472-5003-F7C9-B989-12849AA714C1}"/>
              </a:ext>
            </a:extLst>
          </p:cNvPr>
          <p:cNvSpPr/>
          <p:nvPr/>
        </p:nvSpPr>
        <p:spPr>
          <a:xfrm>
            <a:off x="789940" y="4245395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30–50%  /  40%+</a:t>
            </a:r>
            <a:endParaRPr lang="en-US" sz="2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A7A2D035-3BD5-BF0E-04EE-6D7C184B10B4}"/>
              </a:ext>
            </a:extLst>
          </p:cNvPr>
          <p:cNvSpPr/>
          <p:nvPr/>
        </p:nvSpPr>
        <p:spPr>
          <a:xfrm>
            <a:off x="789940" y="4794035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Stiffness-to-weight gain over foams  /  possible weight reduction from lattice design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F387E73-C4BC-2C08-EFC7-30472AA77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31" name="Picture 30" descr="Seal 2color 2 line.png">
            <a:extLst>
              <a:ext uri="{FF2B5EF4-FFF2-40B4-BE49-F238E27FC236}">
                <a16:creationId xmlns:a16="http://schemas.microsoft.com/office/drawing/2014/main" id="{8DA6EDFA-9D06-BDF0-1BFE-175C0AF2772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E82D84A-EB71-A7F8-3F66-C15A0898416C}"/>
              </a:ext>
            </a:extLst>
          </p:cNvPr>
          <p:cNvSpPr txBox="1"/>
          <p:nvPr/>
        </p:nvSpPr>
        <p:spPr>
          <a:xfrm>
            <a:off x="424180" y="88910"/>
            <a:ext cx="6406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ECONOMICS OF ADVANCED MATERIALS</a:t>
            </a:r>
          </a:p>
        </p:txBody>
      </p:sp>
      <p:pic>
        <p:nvPicPr>
          <p:cNvPr id="17" name="Picture 14" descr="Composites Market ">
            <a:extLst>
              <a:ext uri="{FF2B5EF4-FFF2-40B4-BE49-F238E27FC236}">
                <a16:creationId xmlns:a16="http://schemas.microsoft.com/office/drawing/2014/main" id="{5BB28329-EAF8-CE3A-00CE-C978D2C68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230" y="11780722"/>
            <a:ext cx="10520414" cy="525527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4" descr="Composites Market ">
            <a:extLst>
              <a:ext uri="{FF2B5EF4-FFF2-40B4-BE49-F238E27FC236}">
                <a16:creationId xmlns:a16="http://schemas.microsoft.com/office/drawing/2014/main" id="{961E8F36-CAD0-5392-BF6C-E086974EC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30" y="11933122"/>
            <a:ext cx="10520414" cy="525527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D666384-1B64-2388-CE44-F3B3A0CF59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89"/>
          <a:stretch>
            <a:fillRect/>
          </a:stretch>
        </p:blipFill>
        <p:spPr>
          <a:xfrm>
            <a:off x="5805482" y="1598174"/>
            <a:ext cx="6217162" cy="33568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 9">
            <a:extLst>
              <a:ext uri="{FF2B5EF4-FFF2-40B4-BE49-F238E27FC236}">
                <a16:creationId xmlns:a16="http://schemas.microsoft.com/office/drawing/2014/main" id="{16F0A5CA-45A8-4AA4-A692-4AC6EAF9F318}"/>
              </a:ext>
            </a:extLst>
          </p:cNvPr>
          <p:cNvSpPr/>
          <p:nvPr/>
        </p:nvSpPr>
        <p:spPr>
          <a:xfrm>
            <a:off x="533400" y="548009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Lattice: the internal structured pattern of a material that dictates how it behaves.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72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37C2B54-FC18-E842-AC0D-3383121D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25E39-8B57-01EE-87BD-5E799D0A3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7A48AC3A-6E7F-19DA-6A5A-E46BC7E4EB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82FF8B88-A0E7-A762-9E72-3295A6CECBF8}"/>
              </a:ext>
            </a:extLst>
          </p:cNvPr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Materials Ceiling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0DC4E41-FF63-F8E4-3AEF-6D1999927BD9}"/>
              </a:ext>
            </a:extLst>
          </p:cNvPr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high-stakes field runs into the same wall no matter how urgent the mission</a:t>
            </a: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2D4E4B3-3B77-B4E3-AA31-39CB6A00E350}"/>
              </a:ext>
            </a:extLst>
          </p:cNvPr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77B178F-B495-1A3F-B356-C85B14FB7C7E}"/>
              </a:ext>
            </a:extLst>
          </p:cNvPr>
          <p:cNvSpPr/>
          <p:nvPr/>
        </p:nvSpPr>
        <p:spPr>
          <a:xfrm>
            <a:off x="785115" y="1693652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Medicine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1A36BA1-9EEC-CAE5-3CEB-6790265439B6}"/>
              </a:ext>
            </a:extLst>
          </p:cNvPr>
          <p:cNvSpPr/>
          <p:nvPr/>
        </p:nvSpPr>
        <p:spPr>
          <a:xfrm>
            <a:off x="647895" y="4437778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Neurodegenerative drug carriers and implants are only as good as the material that holds them together.</a:t>
            </a: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5706B1AC-8870-B6A6-46DD-EDEE6D8D723E}"/>
              </a:ext>
            </a:extLst>
          </p:cNvPr>
          <p:cNvSpPr/>
          <p:nvPr/>
        </p:nvSpPr>
        <p:spPr>
          <a:xfrm>
            <a:off x="3502152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67CE4E56-AB0D-E058-3A76-1921F80B4D45}"/>
              </a:ext>
            </a:extLst>
          </p:cNvPr>
          <p:cNvSpPr/>
          <p:nvPr/>
        </p:nvSpPr>
        <p:spPr>
          <a:xfrm>
            <a:off x="3639312" y="1691640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3208B34-80EF-1F38-87EE-4BFF26FCF0EC}"/>
              </a:ext>
            </a:extLst>
          </p:cNvPr>
          <p:cNvSpPr/>
          <p:nvPr/>
        </p:nvSpPr>
        <p:spPr>
          <a:xfrm>
            <a:off x="3509969" y="4453314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density and solar efficiency stall without lighter, stronger structural and storage materials.</a:t>
            </a: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7230FA3-6C0E-A182-A189-AF4E1DE99704}"/>
              </a:ext>
            </a:extLst>
          </p:cNvPr>
          <p:cNvSpPr/>
          <p:nvPr/>
        </p:nvSpPr>
        <p:spPr>
          <a:xfrm>
            <a:off x="6364224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487EADAF-4630-A910-9944-D54A9C08CB41}"/>
              </a:ext>
            </a:extLst>
          </p:cNvPr>
          <p:cNvSpPr/>
          <p:nvPr/>
        </p:nvSpPr>
        <p:spPr>
          <a:xfrm>
            <a:off x="6501383" y="1691640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Aerospace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9F5157B-80F3-42CF-1061-B7F2C26FCD4A}"/>
              </a:ext>
            </a:extLst>
          </p:cNvPr>
          <p:cNvSpPr/>
          <p:nvPr/>
        </p:nvSpPr>
        <p:spPr>
          <a:xfrm>
            <a:off x="6372041" y="4437778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efficiency gain in flight is a materials problem before it is ever an aerodynamics problem.</a:t>
            </a: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558B92CE-CCC8-F5C2-915E-EAC7D7DB5F80}"/>
              </a:ext>
            </a:extLst>
          </p:cNvPr>
          <p:cNvSpPr/>
          <p:nvPr/>
        </p:nvSpPr>
        <p:spPr>
          <a:xfrm>
            <a:off x="9226296" y="1691640"/>
            <a:ext cx="2606040" cy="2331720"/>
          </a:xfrm>
          <a:prstGeom prst="roundRect">
            <a:avLst>
              <a:gd name="adj" fmla="val 2745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DDC035BB-67BC-AAA6-F54E-BA0267297A72}"/>
              </a:ext>
            </a:extLst>
          </p:cNvPr>
          <p:cNvSpPr/>
          <p:nvPr/>
        </p:nvSpPr>
        <p:spPr>
          <a:xfrm>
            <a:off x="9339270" y="1691640"/>
            <a:ext cx="233172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027AECCA-1B51-CBF8-86A3-028EA210D71B}"/>
              </a:ext>
            </a:extLst>
          </p:cNvPr>
          <p:cNvSpPr/>
          <p:nvPr/>
        </p:nvSpPr>
        <p:spPr>
          <a:xfrm>
            <a:off x="9188393" y="4437778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Protection-to-weight ratio is dictated by the material itself, not by the mission built around it.</a:t>
            </a:r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839B48B0-70ED-6A45-00D1-B55B09A2A908}"/>
              </a:ext>
            </a:extLst>
          </p:cNvPr>
          <p:cNvSpPr/>
          <p:nvPr/>
        </p:nvSpPr>
        <p:spPr>
          <a:xfrm>
            <a:off x="4040320" y="4317690"/>
            <a:ext cx="4299549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pic>
        <p:nvPicPr>
          <p:cNvPr id="60" name="Picture 59" descr="Biomedical Materials - an overview | ScienceDirect Topics">
            <a:extLst>
              <a:ext uri="{FF2B5EF4-FFF2-40B4-BE49-F238E27FC236}">
                <a16:creationId xmlns:a16="http://schemas.microsoft.com/office/drawing/2014/main" id="{59EC09A5-83A4-EF7A-4C41-2E754AEC6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79" y="2059412"/>
            <a:ext cx="2450740" cy="19360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 descr="Solar panel | Definition &amp; Facts | Britannica">
            <a:extLst>
              <a:ext uri="{FF2B5EF4-FFF2-40B4-BE49-F238E27FC236}">
                <a16:creationId xmlns:a16="http://schemas.microsoft.com/office/drawing/2014/main" id="{FB252E1D-4DA1-6DD8-3366-25B117C5E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332" y="2157911"/>
            <a:ext cx="1414584" cy="17940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3" name="Picture 62" descr="Aerospace Materials – Introduction to Aerospace Flight Vehicles">
            <a:extLst>
              <a:ext uri="{FF2B5EF4-FFF2-40B4-BE49-F238E27FC236}">
                <a16:creationId xmlns:a16="http://schemas.microsoft.com/office/drawing/2014/main" id="{35B18B9C-2832-51FE-4FFB-6188A0F1D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054" y="2318515"/>
            <a:ext cx="2546377" cy="15218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Picture 64" descr="The Core Components Used in Body Armor Production– Custom Armor Group">
            <a:extLst>
              <a:ext uri="{FF2B5EF4-FFF2-40B4-BE49-F238E27FC236}">
                <a16:creationId xmlns:a16="http://schemas.microsoft.com/office/drawing/2014/main" id="{6991AD2D-8921-90F1-AAD4-5F58DC23F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6266" y="2036790"/>
            <a:ext cx="1953358" cy="19533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2296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9F6D913-A142-6DA8-461F-648FE2F6F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31" name="Picture 30" descr="Seal 2color 2 line.png">
            <a:extLst>
              <a:ext uri="{FF2B5EF4-FFF2-40B4-BE49-F238E27FC236}">
                <a16:creationId xmlns:a16="http://schemas.microsoft.com/office/drawing/2014/main" id="{69228E9D-C26B-8142-A694-74DC0428E6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AC153377-88B6-D1CC-B930-6B76D7DAF3F9}"/>
              </a:ext>
            </a:extLst>
          </p:cNvPr>
          <p:cNvSpPr/>
          <p:nvPr/>
        </p:nvSpPr>
        <p:spPr>
          <a:xfrm>
            <a:off x="420810" y="1102613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assumes perfectly periodic lattices; reality introduces feature variance; classical models fail to predict real behavior.</a:t>
            </a:r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physics solvers are both time and resource intensive</a:t>
            </a:r>
            <a:endParaRPr lang="en-US" sz="2000" dirty="0"/>
          </a:p>
        </p:txBody>
      </p:sp>
      <p:pic>
        <p:nvPicPr>
          <p:cNvPr id="39" name="Image 1" descr="icons_bullseye_white.png">
            <a:extLst>
              <a:ext uri="{FF2B5EF4-FFF2-40B4-BE49-F238E27FC236}">
                <a16:creationId xmlns:a16="http://schemas.microsoft.com/office/drawing/2014/main" id="{D910A5DF-98FD-8334-AAA4-8FCC41E91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63" y="3267456"/>
            <a:ext cx="237744" cy="237744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56C517ED-B1B1-CD48-1190-1619343EB3A4}"/>
              </a:ext>
            </a:extLst>
          </p:cNvPr>
          <p:cNvSpPr/>
          <p:nvPr/>
        </p:nvSpPr>
        <p:spPr>
          <a:xfrm>
            <a:off x="420810" y="30449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D1919F30-4FC6-77AB-DA04-B875F1582903}"/>
              </a:ext>
            </a:extLst>
          </p:cNvPr>
          <p:cNvSpPr/>
          <p:nvPr/>
        </p:nvSpPr>
        <p:spPr>
          <a:xfrm>
            <a:off x="420810" y="37577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neural network that predicts lattice stiffness directly from imperfect, real-world geometry, fast enough for iterative design, accurate enough to trust in place of full simulation.</a:t>
            </a:r>
            <a:endParaRPr lang="en-US" sz="2000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479C38F9-7AE8-DCA1-AE38-BEDFF156CF18}"/>
              </a:ext>
            </a:extLst>
          </p:cNvPr>
          <p:cNvSpPr/>
          <p:nvPr/>
        </p:nvSpPr>
        <p:spPr>
          <a:xfrm>
            <a:off x="420811" y="565403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pic>
        <p:nvPicPr>
          <p:cNvPr id="2" name="Picture 1" descr="Lattice Structures in Crystalline Solids – Chemistry">
            <a:extLst>
              <a:ext uri="{FF2B5EF4-FFF2-40B4-BE49-F238E27FC236}">
                <a16:creationId xmlns:a16="http://schemas.microsoft.com/office/drawing/2014/main" id="{B8A37B8F-0733-1880-2333-0880BF90A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112" y="373379"/>
            <a:ext cx="4524111" cy="2491741"/>
          </a:xfrm>
          <a:prstGeom prst="rect">
            <a:avLst/>
          </a:prstGeom>
        </p:spPr>
      </p:pic>
      <p:pic>
        <p:nvPicPr>
          <p:cNvPr id="14" name="Picture 13" descr="Graph Convolutional Networks | Thomas Kipf | Google DeepMind">
            <a:extLst>
              <a:ext uri="{FF2B5EF4-FFF2-40B4-BE49-F238E27FC236}">
                <a16:creationId xmlns:a16="http://schemas.microsoft.com/office/drawing/2014/main" id="{2D88F6D6-4042-DD62-C7AD-C072C43B7C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908" y="3249577"/>
            <a:ext cx="5212080" cy="2702836"/>
          </a:xfrm>
          <a:prstGeom prst="rect">
            <a:avLst/>
          </a:prstGeom>
        </p:spPr>
      </p:pic>
      <p:sp>
        <p:nvSpPr>
          <p:cNvPr id="4" name="Text 9">
            <a:extLst>
              <a:ext uri="{FF2B5EF4-FFF2-40B4-BE49-F238E27FC236}">
                <a16:creationId xmlns:a16="http://schemas.microsoft.com/office/drawing/2014/main" id="{F5F85070-DC51-0C5E-7009-786D2615D6F0}"/>
              </a:ext>
            </a:extLst>
          </p:cNvPr>
          <p:cNvSpPr/>
          <p:nvPr/>
        </p:nvSpPr>
        <p:spPr>
          <a:xfrm>
            <a:off x="6396908" y="2737309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Lattice: the internal structured pattern of a material that dictates how it behaves.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BE31897-8936-AE45-E3BE-23436BD6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7E564-A81D-A890-EF26-ABE9E91FC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FAD7115-E08A-C005-0353-4309467E479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4CDCB53-0EDE-8351-A018-A447C3434B0B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Approach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89A3A0B-749F-31DD-3BEF-C366BCE40B7B}"/>
              </a:ext>
            </a:extLst>
          </p:cNvPr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neural network learns directly on lattice geometry, no meshing or billions of degrees of freedom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CA0E0B3-9D11-ECFC-8A6D-4A8B4616DD27}"/>
              </a:ext>
            </a:extLst>
          </p:cNvPr>
          <p:cNvSpPr/>
          <p:nvPr/>
        </p:nvSpPr>
        <p:spPr>
          <a:xfrm>
            <a:off x="523033" y="1531008"/>
            <a:ext cx="2556859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 Geometry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89A8A87-E8D2-E750-C1A4-1203DA18D2E6}"/>
              </a:ext>
            </a:extLst>
          </p:cNvPr>
          <p:cNvSpPr/>
          <p:nvPr/>
        </p:nvSpPr>
        <p:spPr>
          <a:xfrm>
            <a:off x="307267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19B669A0-9DC9-80EA-710C-900455C70FFC}"/>
              </a:ext>
            </a:extLst>
          </p:cNvPr>
          <p:cNvSpPr/>
          <p:nvPr/>
        </p:nvSpPr>
        <p:spPr>
          <a:xfrm>
            <a:off x="3401568" y="1533998"/>
            <a:ext cx="2514600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Construction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979D402-A536-E597-9906-FE4664402D79}"/>
              </a:ext>
            </a:extLst>
          </p:cNvPr>
          <p:cNvSpPr/>
          <p:nvPr/>
        </p:nvSpPr>
        <p:spPr>
          <a:xfrm>
            <a:off x="590550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7EEB5F73-B90E-004E-FD38-F7BA7FE56EE4}"/>
              </a:ext>
            </a:extLst>
          </p:cNvPr>
          <p:cNvSpPr/>
          <p:nvPr/>
        </p:nvSpPr>
        <p:spPr>
          <a:xfrm>
            <a:off x="6188964" y="1532416"/>
            <a:ext cx="2556859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 Model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DF2EDF64-D852-3287-418F-FAF988E5856A}"/>
              </a:ext>
            </a:extLst>
          </p:cNvPr>
          <p:cNvSpPr/>
          <p:nvPr/>
        </p:nvSpPr>
        <p:spPr>
          <a:xfrm>
            <a:off x="8819670" y="2566278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▸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7EA66EC-47E5-9B97-920E-FD37B3F89023}"/>
              </a:ext>
            </a:extLst>
          </p:cNvPr>
          <p:cNvSpPr/>
          <p:nvPr/>
        </p:nvSpPr>
        <p:spPr>
          <a:xfrm>
            <a:off x="9116379" y="1524558"/>
            <a:ext cx="2431894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Stiffness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A5D19DC7-489C-4981-CA65-46C45AAF2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379" y="2090368"/>
            <a:ext cx="2431895" cy="15869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87" name="Picture 86" descr="Graph in Data Structure | Types &amp; Explanation">
            <a:extLst>
              <a:ext uri="{FF2B5EF4-FFF2-40B4-BE49-F238E27FC236}">
                <a16:creationId xmlns:a16="http://schemas.microsoft.com/office/drawing/2014/main" id="{0BC173E2-F485-46EA-9584-F927B52E86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322" t="13966" r="21842" b="26948"/>
          <a:stretch>
            <a:fillRect/>
          </a:stretch>
        </p:blipFill>
        <p:spPr>
          <a:xfrm>
            <a:off x="3401568" y="2107876"/>
            <a:ext cx="2514600" cy="14204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9" name="Picture 88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C56326FB-D152-7060-7E0C-B9DDC25C19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7" y="2088997"/>
            <a:ext cx="2653269" cy="1576354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04CCA063-FD82-B096-53C8-FAC157EEF1DA}"/>
              </a:ext>
            </a:extLst>
          </p:cNvPr>
          <p:cNvSpPr/>
          <p:nvPr/>
        </p:nvSpPr>
        <p:spPr>
          <a:xfrm>
            <a:off x="647895" y="4062639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3000 Voronoi-Lattice Samples Were Generated using Abaqus (FEA Software)</a:t>
            </a: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D18B3EDF-514D-D34D-C7DB-064DB0DCD96C}"/>
              </a:ext>
            </a:extLst>
          </p:cNvPr>
          <p:cNvSpPr/>
          <p:nvPr/>
        </p:nvSpPr>
        <p:spPr>
          <a:xfrm>
            <a:off x="3509969" y="4078175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Lattice samples represented as a graph through the use of the lab’s python script</a:t>
            </a: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33E4DDFD-E83D-71F9-B234-8AE499D20A1D}"/>
              </a:ext>
            </a:extLst>
          </p:cNvPr>
          <p:cNvSpPr/>
          <p:nvPr/>
        </p:nvSpPr>
        <p:spPr>
          <a:xfrm>
            <a:off x="6372041" y="4062639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network trained on the graph inputs, continually optimized based on prior performance</a:t>
            </a: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88F2E198-3ADB-6896-BADE-3FC9E8F113DA}"/>
              </a:ext>
            </a:extLst>
          </p:cNvPr>
          <p:cNvSpPr/>
          <p:nvPr/>
        </p:nvSpPr>
        <p:spPr>
          <a:xfrm>
            <a:off x="9188393" y="4062639"/>
            <a:ext cx="2633474" cy="1155774"/>
          </a:xfrm>
          <a:prstGeom prst="rect">
            <a:avLst/>
          </a:prstGeom>
          <a:solidFill>
            <a:srgbClr val="F4F6F9"/>
          </a:solidFill>
          <a:ln>
            <a:solidFill>
              <a:srgbClr val="8DA9C4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 will be able to predict the stiffness of a given material based on its lattice structure</a:t>
            </a:r>
          </a:p>
        </p:txBody>
      </p:sp>
      <p:pic>
        <p:nvPicPr>
          <p:cNvPr id="2" name="Picture 1" descr="Parametric design of Voronoi-based lattice porous structures - ScienceDirect">
            <a:extLst>
              <a:ext uri="{FF2B5EF4-FFF2-40B4-BE49-F238E27FC236}">
                <a16:creationId xmlns:a16="http://schemas.microsoft.com/office/drawing/2014/main" id="{7AC99CCE-DDDE-CB83-8BE1-1A10999E58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694" y="1975258"/>
            <a:ext cx="2223535" cy="181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BA85D0D-A045-C2CE-04B6-9F85B51F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CB947B-D773-7928-BE0F-E30DEE66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43FBA5B8-46DE-0294-4FD3-B06A9269E00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556D1C3-AB3D-BCB8-E710-78F20D95EE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1" t="4231" r="2646" b="3006"/>
          <a:stretch>
            <a:fillRect/>
          </a:stretch>
        </p:blipFill>
        <p:spPr>
          <a:xfrm>
            <a:off x="715769" y="85708"/>
            <a:ext cx="10760461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7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D287BDB-99A3-4C68-CA32-3726C574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34273-0FC4-8776-8D52-CC580C84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06F04559-CB84-058D-3115-EC79443D933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6EF5EF-573A-03CF-C33A-D63678B762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33"/>
          <a:stretch>
            <a:fillRect/>
          </a:stretch>
        </p:blipFill>
        <p:spPr>
          <a:xfrm>
            <a:off x="504014" y="0"/>
            <a:ext cx="11183972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5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FF74A57-7FAD-D50D-9350-6390F765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DA6C4-6018-9F93-EAED-0C8AF38D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22373" y="6041182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A426821B-DAD6-357C-3C62-511F0024C98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4800" y="6068142"/>
            <a:ext cx="774485" cy="7744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1808304-410C-17FB-6DFF-BE2DB962E2C6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C5077C4-D172-B297-27F3-331D6F6A2FF2}"/>
              </a:ext>
            </a:extLst>
          </p:cNvPr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upgrades (not optimizer tuning) drove the accuracy gain</a:t>
            </a:r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C167786B-A853-BEB8-DDB8-B0E69F1F43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0834404"/>
              </p:ext>
            </p:extLst>
          </p:nvPr>
        </p:nvGraphicFramePr>
        <p:xfrm>
          <a:off x="502920" y="1508760"/>
          <a:ext cx="6492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977E57CD-DA6B-655E-8A86-CDBA1AC35EF1}"/>
              </a:ext>
            </a:extLst>
          </p:cNvPr>
          <p:cNvSpPr/>
          <p:nvPr/>
        </p:nvSpPr>
        <p:spPr>
          <a:xfrm>
            <a:off x="731520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424842F-DC3D-E4F0-E044-55B402DF634C}"/>
              </a:ext>
            </a:extLst>
          </p:cNvPr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R²:  0.9148  →  0.94563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BE9D207-9CB5-961D-ABE1-54A094D85642}"/>
              </a:ext>
            </a:extLst>
          </p:cNvPr>
          <p:cNvSpPr/>
          <p:nvPr/>
        </p:nvSpPr>
        <p:spPr>
          <a:xfrm>
            <a:off x="758952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vs. best multi-seed configuration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17ABF64-AAC5-4E3A-6100-5F2CF68F6978}"/>
              </a:ext>
            </a:extLst>
          </p:cNvPr>
          <p:cNvSpPr/>
          <p:nvPr/>
        </p:nvSpPr>
        <p:spPr>
          <a:xfrm>
            <a:off x="75895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 0.00382  →  0.00288  (−24%)</a:t>
            </a:r>
            <a:endParaRPr lang="en-US" sz="15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90053E0-E443-672B-F809-CFB1FBCBCC6C}"/>
              </a:ext>
            </a:extLst>
          </p:cNvPr>
          <p:cNvSpPr/>
          <p:nvPr/>
        </p:nvSpPr>
        <p:spPr>
          <a:xfrm>
            <a:off x="7315200" y="3383280"/>
            <a:ext cx="4343400" cy="2148840"/>
          </a:xfrm>
          <a:prstGeom prst="roundRect">
            <a:avLst>
              <a:gd name="adj" fmla="val 340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874E4A7-6B2A-9E90-D720-CCDB9301DE65}"/>
              </a:ext>
            </a:extLst>
          </p:cNvPr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Across 5 Seeds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07A19EF-4473-FC7D-D81C-406D60A9FEBF}"/>
              </a:ext>
            </a:extLst>
          </p:cNvPr>
          <p:cNvSpPr/>
          <p:nvPr/>
        </p:nvSpPr>
        <p:spPr>
          <a:xfrm>
            <a:off x="7589520" y="3977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R² range: 0.934 – 0.955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 remains the strongest optimizer (</a:t>
            </a:r>
            <a:r>
              <a:rPr lang="en-US" sz="13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AdamW</a:t>
            </a: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SGD variants underperform)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GCN-3 modestly outperforms GCN-2; GraphSAGE and GIN did not improve results</a:t>
            </a: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outperforms plain GCN-3 by small margin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AF990BE2-2D78-A535-D2FB-ADD7AE7A7185}"/>
              </a:ext>
            </a:extLst>
          </p:cNvPr>
          <p:cNvSpPr/>
          <p:nvPr/>
        </p:nvSpPr>
        <p:spPr>
          <a:xfrm>
            <a:off x="533400" y="548009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question: out-of-distribution (prediction-set) generalization still trails held-out test accuracy, focus of ongoing work.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94C3E8-EEF0-FAC5-D837-040389E6463A}"/>
              </a:ext>
            </a:extLst>
          </p:cNvPr>
          <p:cNvSpPr/>
          <p:nvPr/>
        </p:nvSpPr>
        <p:spPr>
          <a:xfrm>
            <a:off x="5990095" y="1991532"/>
            <a:ext cx="743919" cy="3488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6B2E73-76A3-44D7-A763-8F4E03D630C0}"/>
              </a:ext>
            </a:extLst>
          </p:cNvPr>
          <p:cNvSpPr/>
          <p:nvPr/>
        </p:nvSpPr>
        <p:spPr>
          <a:xfrm>
            <a:off x="1128794" y="2043561"/>
            <a:ext cx="743919" cy="3488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6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4FE01B6-64C4-EE2E-0005-A94ABE28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423FD-EC9B-AF8C-9A5C-BCA84195A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33"/>
          <a:stretch>
            <a:fillRect/>
          </a:stretch>
        </p:blipFill>
        <p:spPr>
          <a:xfrm>
            <a:off x="11338560" y="6029594"/>
            <a:ext cx="774485" cy="828406"/>
          </a:xfrm>
          <a:prstGeom prst="rect">
            <a:avLst/>
          </a:prstGeom>
        </p:spPr>
      </p:pic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26C258E6-2D3B-CDB2-0E85-F840014164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8355" y="6056554"/>
            <a:ext cx="774485" cy="774485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F21E8B5-0D7B-A8D8-BECD-07E540E467A9}"/>
              </a:ext>
            </a:extLst>
          </p:cNvPr>
          <p:cNvSpPr/>
          <p:nvPr/>
        </p:nvSpPr>
        <p:spPr>
          <a:xfrm>
            <a:off x="640080" y="14647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&amp; Future Work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2AD38D-6410-CD33-208E-BEAED16290AC}"/>
              </a:ext>
            </a:extLst>
          </p:cNvPr>
          <p:cNvSpPr/>
          <p:nvPr/>
        </p:nvSpPr>
        <p:spPr>
          <a:xfrm>
            <a:off x="640080" y="11128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this stands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EEB9CD9-9167-9DA9-CD7B-9802ED863795}"/>
              </a:ext>
            </a:extLst>
          </p:cNvPr>
          <p:cNvSpPr/>
          <p:nvPr/>
        </p:nvSpPr>
        <p:spPr>
          <a:xfrm>
            <a:off x="640080" y="151807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fast, defect-aware GCN surrogate now predicts lattice stiffness at 0.95 test R², replacing costly FE simulation and enabling rapid design iteration across defective, real-world lattice geometries.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F9F8EF-2F3F-9038-A57D-E29C3CFD1447}"/>
              </a:ext>
            </a:extLst>
          </p:cNvPr>
          <p:cNvSpPr/>
          <p:nvPr/>
        </p:nvSpPr>
        <p:spPr>
          <a:xfrm>
            <a:off x="640080" y="316399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03D89C5-0F0D-CD39-8212-232D263F47B5}"/>
              </a:ext>
            </a:extLst>
          </p:cNvPr>
          <p:cNvSpPr/>
          <p:nvPr/>
        </p:nvSpPr>
        <p:spPr>
          <a:xfrm>
            <a:off x="640080" y="371263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Multi-seed validation of OOD domain adaption testing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Stabilize residual GCN-3 to close the out-of-distribution gap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beyond stiffness to failure-mode / fracture prediction</a:t>
            </a: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59C0354-D81D-BB32-7B99-69CB36DA62F9}"/>
              </a:ext>
            </a:extLst>
          </p:cNvPr>
          <p:cNvSpPr/>
          <p:nvPr/>
        </p:nvSpPr>
        <p:spPr>
          <a:xfrm>
            <a:off x="6446520" y="110659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bg1">
              <a:lumMod val="75000"/>
            </a:schemeClr>
          </a:solidFill>
          <a:ln w="28575">
            <a:solidFill>
              <a:srgbClr val="FF0000"/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E53DCB3-2652-423B-F67B-76B8683FEABD}"/>
              </a:ext>
            </a:extLst>
          </p:cNvPr>
          <p:cNvSpPr/>
          <p:nvPr/>
        </p:nvSpPr>
        <p:spPr>
          <a:xfrm>
            <a:off x="6766560" y="131690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BIGGER PICTURE</a:t>
            </a:r>
            <a:endParaRPr lang="en-US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D871F2D-617A-00A5-AD60-0808FAD0B941}"/>
              </a:ext>
            </a:extLst>
          </p:cNvPr>
          <p:cNvSpPr/>
          <p:nvPr/>
        </p:nvSpPr>
        <p:spPr>
          <a:xfrm>
            <a:off x="6766560" y="151807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Materials set the ceiling for aerospace, energy, medicine, and defense alike. Faster, defect-aware design tools push that ceiling higher across a $1.2T+ market moving toward $200–300B+ in architected materials alone.</a:t>
            </a: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6B8B438-B382-613D-9782-A4E91E3A9291}"/>
              </a:ext>
            </a:extLst>
          </p:cNvPr>
          <p:cNvSpPr/>
          <p:nvPr/>
        </p:nvSpPr>
        <p:spPr>
          <a:xfrm>
            <a:off x="6446520" y="3712630"/>
            <a:ext cx="5120640" cy="2148840"/>
          </a:xfrm>
          <a:prstGeom prst="roundRect">
            <a:avLst>
              <a:gd name="adj" fmla="val 3404"/>
            </a:avLst>
          </a:prstGeom>
          <a:solidFill>
            <a:schemeClr val="bg1">
              <a:lumMod val="75000"/>
            </a:scheme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C21C66A-6CB7-32CE-3CA2-7F4598A59345}"/>
              </a:ext>
            </a:extLst>
          </p:cNvPr>
          <p:cNvSpPr/>
          <p:nvPr/>
        </p:nvSpPr>
        <p:spPr>
          <a:xfrm>
            <a:off x="6766560" y="391379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ACKNOWLEDGEMENT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DDA7E5C-A705-B8FF-742B-D9CF3E68842A}"/>
              </a:ext>
            </a:extLst>
          </p:cNvPr>
          <p:cNvSpPr/>
          <p:nvPr/>
        </p:nvSpPr>
        <p:spPr>
          <a:xfrm>
            <a:off x="6766560" y="426127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Xing Liu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Dept. of Mechanical &amp; Industrial Engineering, NJIT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Computational Mechanics &amp; Physics Lab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Dept. of Mechanical &amp; Industrial Engineering, NJIT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NSF REU Site: Optics &amp; Photonics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Jersey Institute of Technology, Summer 2026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8140</TotalTime>
  <Words>977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Atam Dhawan</dc:creator>
  <cp:lastModifiedBy>Adams, Alex</cp:lastModifiedBy>
  <cp:revision>10</cp:revision>
  <dcterms:created xsi:type="dcterms:W3CDTF">2022-05-22T14:31:28Z</dcterms:created>
  <dcterms:modified xsi:type="dcterms:W3CDTF">2026-07-29T21:14:36Z</dcterms:modified>
</cp:coreProperties>
</file>