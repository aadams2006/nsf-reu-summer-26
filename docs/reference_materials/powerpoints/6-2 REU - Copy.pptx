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052" autoAdjust="0"/>
  </p:normalViewPr>
  <p:slideViewPr>
    <p:cSldViewPr>
      <p:cViewPr varScale="1">
        <p:scale>
          <a:sx n="99" d="100"/>
          <a:sy n="99" d="100"/>
        </p:scale>
        <p:origin x="931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6/7/2026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Berkache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 used micropolar continuum theory to derive analytical scaling laws for hexagonal, triangular, and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kagome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lattices.</a:t>
            </a:r>
            <a:b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</a:b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Shaikeea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 et al. (2022): fracture in 3D octet-truss metamaterials depends on T-stress AND Kᴵ, not Kᴵ alone. Standard testing protocols developed for continua are fundamentally inadequate.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Fleck, Deshpande &amp; Ashby (2010) show fracture toughness Kᴵᴶ ∝ ρ̄ᵈ via full lattice simulations.</a:t>
            </a:r>
            <a:endParaRPr lang="en-US" b="0" dirty="0">
              <a:effectLst/>
            </a:endParaRP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6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Features (atom types)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1: aggregate 1-hop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[GCN Layer 2: aggregate 2-hop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[GCN Layer 3: aggregate 3-hop neighbors]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[Global Mean Pooling: graph-level representation]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[MLP Head: 64→32→16→1 dimensions]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Stability Prediction (0-1)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43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model automatically saved during training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15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04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📊 Four Key Plots Generated: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1. Loss Curves: Train vs validation loss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Shows convergence and overfitting patterns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2. MAE Progression: Validation mean absolute error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Steady decrease indicates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3. R² Score: Validation goodness of fit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Increases toward 1.0 (excellent fit)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4. Predictions vs Ground Truth: Scatter plot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   → Points near diagonal = accurate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rPr lang="en-US" dirty="0"/>
              <a:t>📁 All plots saved to: results/training_results.png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1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Data Representation: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Graph representation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Node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Edge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Batch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Model Architecture: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GCN layers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Message passing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Global pooling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MLP head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Training Methodology: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Data splitting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Validation strategy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Early stopping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Hyperparameter tuning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Evaluation: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Multi-metric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Error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✓ Interpretation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02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1461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Simplified Use-Case of Graph Neural Networks (GNNs) Predicting Synthetic Lattice Stability </a:t>
            </a: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</a:t>
            </a:r>
            <a:r>
              <a:rPr lang="en-US" altLang="en-US" sz="1050" b="1" dirty="0" err="1"/>
              <a:t>Adams</a:t>
            </a:r>
            <a:r>
              <a:rPr lang="en-US" altLang="en-US" sz="1050" b="1" baseline="30000" dirty="0" err="1"/>
              <a:t>a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and Dr. Xing </a:t>
            </a:r>
            <a:r>
              <a:rPr lang="en-US" altLang="en-US" sz="1050" b="1" dirty="0" err="1"/>
              <a:t>Liu</a:t>
            </a:r>
            <a:r>
              <a:rPr lang="en-US" altLang="en-US" sz="1050" b="1" baseline="30000" dirty="0" err="1"/>
              <a:t>b</a:t>
            </a:r>
            <a:endParaRPr lang="en-US" altLang="en-US" sz="1050" b="1" dirty="0"/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a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b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and Industrial Engineering, New Jersey Institute of Technology, Newark, NJ 07102</a:t>
            </a:r>
            <a:endParaRPr 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9</a:t>
            </a:r>
            <a:r>
              <a:rPr lang="en-US" sz="1050" b="1" baseline="30000" dirty="0"/>
              <a:t>th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22060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721A8-0318-854E-7D19-32D46A7FF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096250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DC3B-C2E2-C492-FB4A-37701EC2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51052-277A-6507-E8CA-82CE6C23A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37742-CAC9-13E0-EA25-ED546BD2D344}"/>
              </a:ext>
            </a:extLst>
          </p:cNvPr>
          <p:cNvSpPr txBox="1"/>
          <p:nvPr/>
        </p:nvSpPr>
        <p:spPr>
          <a:xfrm>
            <a:off x="2209800" y="58271"/>
            <a:ext cx="59650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1: Synthetic Data Generation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24D3FD-A2C8-083D-3019-0F5059FD9E2D}"/>
              </a:ext>
            </a:extLst>
          </p:cNvPr>
          <p:cNvSpPr txBox="1"/>
          <p:nvPr/>
        </p:nvSpPr>
        <p:spPr>
          <a:xfrm>
            <a:off x="274864" y="1295400"/>
            <a:ext cx="491748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100 cubic lattice structures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Sizes: 2×2×2 to 4×4×4 atoms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Node features: Atom types (0 or 1)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Edge features: Bond strengths (0.7-1.0)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Stability labels computed from: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 degree (connectivity)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bond strength (quality)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connectivity (integrity)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noise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5" name="Picture 24" descr="Types of Unit Cells: Body-Centered Cubic and Face-Centered Cubic (M11Q5) –  UW-Madison Chemistry 103/104 Resource Book">
            <a:extLst>
              <a:ext uri="{FF2B5EF4-FFF2-40B4-BE49-F238E27FC236}">
                <a16:creationId xmlns:a16="http://schemas.microsoft.com/office/drawing/2014/main" id="{9483B281-388E-689A-2277-137A10A08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981528"/>
            <a:ext cx="4338454" cy="289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8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B187-25D8-EDEA-55EE-C6D36BDF7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287F1-9157-51AC-F830-3AEF1FB129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58530-D60F-5715-D051-9D7BE7674512}"/>
              </a:ext>
            </a:extLst>
          </p:cNvPr>
          <p:cNvSpPr txBox="1"/>
          <p:nvPr/>
        </p:nvSpPr>
        <p:spPr>
          <a:xfrm>
            <a:off x="2209800" y="58271"/>
            <a:ext cx="35533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559D1C-405F-1E43-91D3-3400344A886E}"/>
              </a:ext>
            </a:extLst>
          </p:cNvPr>
          <p:cNvSpPr txBox="1"/>
          <p:nvPr/>
        </p:nvSpPr>
        <p:spPr>
          <a:xfrm>
            <a:off x="519372" y="1166842"/>
            <a:ext cx="6934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Structure Statistics: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nodes per structure: ~31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Average edges per structure: ~71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Stability range: [0.31, 0.89]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Train/Validation/Test Split: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Training: 70 samples (70%)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Validation: 15 samples (15%)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Testing: 15 samples (15%)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Batch Processing: 8 samples per batch</a:t>
            </a:r>
          </a:p>
        </p:txBody>
      </p:sp>
      <p:pic>
        <p:nvPicPr>
          <p:cNvPr id="13" name="Picture 12" descr="Graph in Data Structure | Types &amp; Explanation">
            <a:extLst>
              <a:ext uri="{FF2B5EF4-FFF2-40B4-BE49-F238E27FC236}">
                <a16:creationId xmlns:a16="http://schemas.microsoft.com/office/drawing/2014/main" id="{0FF8F954-47BD-6C7F-40FA-B2F10041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22" t="13966" r="21842" b="26948"/>
          <a:stretch>
            <a:fillRect/>
          </a:stretch>
        </p:blipFill>
        <p:spPr>
          <a:xfrm>
            <a:off x="5181600" y="1166842"/>
            <a:ext cx="2743200" cy="154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14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4817A-EC99-243C-BACC-03066046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07A47-B4E5-E1E6-6628-A1C6A8269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8B8F8-11F3-1B67-2C9C-316F50FB730E}"/>
              </a:ext>
            </a:extLst>
          </p:cNvPr>
          <p:cNvSpPr txBox="1"/>
          <p:nvPr/>
        </p:nvSpPr>
        <p:spPr>
          <a:xfrm>
            <a:off x="2209800" y="58271"/>
            <a:ext cx="3898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2: GCN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1FE21-E569-AB1E-2ABA-38A41808627C}"/>
              </a:ext>
            </a:extLst>
          </p:cNvPr>
          <p:cNvSpPr txBox="1"/>
          <p:nvPr/>
        </p:nvSpPr>
        <p:spPr>
          <a:xfrm>
            <a:off x="151143" y="990601"/>
            <a:ext cx="4420857" cy="554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Design: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→ Linear Projection (1→64) → [GCN Layer]×3 → Global Mean Pooling → MLP Head (64→32→16→1)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 Passing (per layer):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Each node aggregates features from neighbors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Information propagates through graph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3 layers = 3-hop neighborhoods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Regularization: 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Dropout (0.2) + Residual connections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Parameters: </a:t>
            </a:r>
          </a:p>
          <a:p>
            <a:pPr marL="285750" indent="-28575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~12,400</a:t>
            </a:r>
          </a:p>
        </p:txBody>
      </p:sp>
      <p:pic>
        <p:nvPicPr>
          <p:cNvPr id="6" name="Picture 5" descr="Overview of different architectures of GNN, CNN, GCN, and GAT. | Download  Scientific Diagram">
            <a:extLst>
              <a:ext uri="{FF2B5EF4-FFF2-40B4-BE49-F238E27FC236}">
                <a16:creationId xmlns:a16="http://schemas.microsoft.com/office/drawing/2014/main" id="{FF51F859-CBB5-192F-34EF-71204510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48472"/>
            <a:ext cx="4647321" cy="276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F1E32-24C4-FF22-589D-749D8ED9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8663CF-06A0-E316-A4E6-FADD42733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B90A3-15AD-2846-1EBF-B8F6E0F41CBD}"/>
              </a:ext>
            </a:extLst>
          </p:cNvPr>
          <p:cNvSpPr txBox="1"/>
          <p:nvPr/>
        </p:nvSpPr>
        <p:spPr>
          <a:xfrm>
            <a:off x="2209800" y="58271"/>
            <a:ext cx="2940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Forward Pass</a:t>
            </a:r>
          </a:p>
        </p:txBody>
      </p:sp>
      <p:pic>
        <p:nvPicPr>
          <p:cNvPr id="5" name="Picture 4" descr="Model of a single node's forward pass for the j th layer of the GNN architecture. The output of the previous layer is aggregated over the neighborhood of the target node. The aggregated output is passed into a NN. The output of the NN is the input to the j th layer activation function. The activation function also appends a bias. The activated output serves as an input for the next GNN layer [45].">
            <a:extLst>
              <a:ext uri="{FF2B5EF4-FFF2-40B4-BE49-F238E27FC236}">
                <a16:creationId xmlns:a16="http://schemas.microsoft.com/office/drawing/2014/main" id="{C2325581-0DA4-4B67-06E5-0971E12C2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44" y="1534715"/>
            <a:ext cx="8232111" cy="37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3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7253-F9A6-A481-94C4-FA15A8DA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03C14E-ECD4-DC36-9D4C-A2501CFCC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C2971-DFFC-B0F9-C92F-0373C31402AB}"/>
              </a:ext>
            </a:extLst>
          </p:cNvPr>
          <p:cNvSpPr txBox="1"/>
          <p:nvPr/>
        </p:nvSpPr>
        <p:spPr>
          <a:xfrm>
            <a:off x="2209800" y="58271"/>
            <a:ext cx="4113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3: Training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3D42A-2F72-18DF-70B2-56106972674E}"/>
              </a:ext>
            </a:extLst>
          </p:cNvPr>
          <p:cNvSpPr txBox="1"/>
          <p:nvPr/>
        </p:nvSpPr>
        <p:spPr>
          <a:xfrm>
            <a:off x="152400" y="975359"/>
            <a:ext cx="883920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Setup: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Optimizer: Adam (learning rate 0.001)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Loss Function: Mean Squared Error (MSE)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Early Stopping: patience = 15 epochs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Max Epochs: 100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Process: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1. Forward pass through batch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2. Compute MSE loss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3. Backward pass (compute gradients)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4. Update weights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5. Validate on validation set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 descr="Intro to optimization in deep learning: Momentum, RMSProp and Adam |  DigitalOcean">
            <a:extLst>
              <a:ext uri="{FF2B5EF4-FFF2-40B4-BE49-F238E27FC236}">
                <a16:creationId xmlns:a16="http://schemas.microsoft.com/office/drawing/2014/main" id="{159A5FF4-7EC1-3558-F875-F4C148E3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16" t="10500" r="10767" b="16002"/>
          <a:stretch>
            <a:fillRect/>
          </a:stretch>
        </p:blipFill>
        <p:spPr>
          <a:xfrm>
            <a:off x="5334000" y="990599"/>
            <a:ext cx="3472542" cy="2209801"/>
          </a:xfrm>
          <a:prstGeom prst="rect">
            <a:avLst/>
          </a:prstGeom>
        </p:spPr>
      </p:pic>
      <p:pic>
        <p:nvPicPr>
          <p:cNvPr id="7" name="Picture 6" descr="optimization - How Adam optimizer influence the learning rate? - Data  Science Stack Exchange">
            <a:extLst>
              <a:ext uri="{FF2B5EF4-FFF2-40B4-BE49-F238E27FC236}">
                <a16:creationId xmlns:a16="http://schemas.microsoft.com/office/drawing/2014/main" id="{834C9BAB-AC9E-1BB2-B117-EBC5EF823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3915918"/>
            <a:ext cx="2819400" cy="195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3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161F-04DF-F15D-50C7-6CA0E16B0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6284E-C1EE-63E7-EFA3-E71CB34A7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595AA6-7355-CCA3-7037-2999AF44D6B6}"/>
              </a:ext>
            </a:extLst>
          </p:cNvPr>
          <p:cNvSpPr txBox="1"/>
          <p:nvPr/>
        </p:nvSpPr>
        <p:spPr>
          <a:xfrm>
            <a:off x="2209800" y="58271"/>
            <a:ext cx="4697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 4: Results &amp; Performance</a:t>
            </a: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F312D416-3EAA-BFC2-8561-B32E5B7DF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091518"/>
              </p:ext>
            </p:extLst>
          </p:nvPr>
        </p:nvGraphicFramePr>
        <p:xfrm>
          <a:off x="365760" y="1600200"/>
          <a:ext cx="8412480" cy="2834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Achieved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R² Score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&gt; 0.85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0.92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Explains 92% of variance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MAE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&lt; 0.12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0.089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Avg error: ±0.089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RMSE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</a:rPr>
                        <a:t>0.112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Root mean squared error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Training Time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~1 min (CPU)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D4ED8"/>
                          </a:solidFill>
                        </a:rPr>
                        <a:t>~10 sec (GPU)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Fast GPU inference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92E1120C-6C01-B7D9-AFD5-D1A895C18336}"/>
              </a:ext>
            </a:extLst>
          </p:cNvPr>
          <p:cNvSpPr/>
          <p:nvPr/>
        </p:nvSpPr>
        <p:spPr>
          <a:xfrm>
            <a:off x="457200" y="5029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Quality Assessment</a:t>
            </a:r>
            <a:endParaRPr lang="en-US" sz="13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73DA63C5-9B6A-35C8-D6D4-0C3EA8A66C1D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326C6AF-EAAE-4F8B-4212-727035EF5721}"/>
              </a:ext>
            </a:extLst>
          </p:cNvPr>
          <p:cNvSpPr/>
          <p:nvPr/>
        </p:nvSpPr>
        <p:spPr>
          <a:xfrm>
            <a:off x="91440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Convergence</a:t>
            </a:r>
            <a:endParaRPr lang="en-US" sz="10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34CABB14-4581-93AE-419A-2D51BCB19C4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B3B9E9A-2CA3-5B25-CD69-298BC8C19CD2}"/>
              </a:ext>
            </a:extLst>
          </p:cNvPr>
          <p:cNvSpPr/>
          <p:nvPr/>
        </p:nvSpPr>
        <p:spPr>
          <a:xfrm>
            <a:off x="352044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Detected</a:t>
            </a:r>
            <a:endParaRPr lang="en-US" sz="10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A1D72464-49F9-4161-974A-3602A610990C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oundRect">
            <a:avLst>
              <a:gd name="adj" fmla="val 2105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C5A7352-B41D-D64D-F6DD-F16323411F87}"/>
              </a:ext>
            </a:extLst>
          </p:cNvPr>
          <p:cNvSpPr/>
          <p:nvPr/>
        </p:nvSpPr>
        <p:spPr>
          <a:xfrm>
            <a:off x="6126480" y="5394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Well-Calibrated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54276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6B65D-368B-5709-94DF-A157CAB29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E10E6-CAA8-8BDD-B2A0-46C737347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2896E4-9822-3973-8152-6F5AFFE7309C}"/>
              </a:ext>
            </a:extLst>
          </p:cNvPr>
          <p:cNvSpPr txBox="1"/>
          <p:nvPr/>
        </p:nvSpPr>
        <p:spPr>
          <a:xfrm>
            <a:off x="2209800" y="58271"/>
            <a:ext cx="3389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Visualization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F7F7D2-3A42-A9E2-FDA0-89EE60CF8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066800"/>
            <a:ext cx="7340455" cy="522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0312-3597-40BB-7816-EE3DE3F20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4A9FB6-A116-CC82-EB90-5F8B7468E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FCA5-9EE9-0C00-D6D2-2E569BA24E7A}"/>
              </a:ext>
            </a:extLst>
          </p:cNvPr>
          <p:cNvSpPr txBox="1"/>
          <p:nvPr/>
        </p:nvSpPr>
        <p:spPr>
          <a:xfrm>
            <a:off x="2209800" y="58271"/>
            <a:ext cx="3919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Model Learned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A842D-FEBB-1491-4931-2D6AFAFC12D8}"/>
              </a:ext>
            </a:extLst>
          </p:cNvPr>
          <p:cNvSpPr txBox="1"/>
          <p:nvPr/>
        </p:nvSpPr>
        <p:spPr>
          <a:xfrm>
            <a:off x="228600" y="914400"/>
            <a:ext cx="60960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Message Passing: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Model learns to aggregate neighbor information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Connectivity Importance: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Higher degree → higher stability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Bond Strength: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Stronger bonds → higher stability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Graph-Level Features: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Model captures global structure properties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predictions align with physical intuition</a:t>
            </a:r>
          </a:p>
        </p:txBody>
      </p:sp>
    </p:spTree>
    <p:extLst>
      <p:ext uri="{BB962C8B-B14F-4D97-AF65-F5344CB8AC3E}">
        <p14:creationId xmlns:p14="http://schemas.microsoft.com/office/powerpoint/2010/main" val="350614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E020-E11F-30CA-9FF9-1F828335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19A86-0F9B-1C72-B03B-D5E3B56DD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2C519-106E-FE53-5186-C9B91885172C}"/>
              </a:ext>
            </a:extLst>
          </p:cNvPr>
          <p:cNvSpPr txBox="1"/>
          <p:nvPr/>
        </p:nvSpPr>
        <p:spPr>
          <a:xfrm>
            <a:off x="2209800" y="58271"/>
            <a:ext cx="5080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Connection to NSF-REU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550AF-C60E-6CEC-F216-56DAC5B98D61}"/>
              </a:ext>
            </a:extLst>
          </p:cNvPr>
          <p:cNvSpPr txBox="1"/>
          <p:nvPr/>
        </p:nvSpPr>
        <p:spPr>
          <a:xfrm>
            <a:off x="152400" y="762000"/>
            <a:ext cx="66294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Mock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Synthetic cubic lattices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Random atom types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Arbitrary stability labels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100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Project Characteristics: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Real crystal structures (ICSD, Materials Project)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DFT-computed properties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Actual material strength measurements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Thousands of samples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concepts, techniques, and pipeline directly transfer</a:t>
            </a:r>
          </a:p>
        </p:txBody>
      </p:sp>
    </p:spTree>
    <p:extLst>
      <p:ext uri="{BB962C8B-B14F-4D97-AF65-F5344CB8AC3E}">
        <p14:creationId xmlns:p14="http://schemas.microsoft.com/office/powerpoint/2010/main" val="2095827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E1648-7D59-355E-A4E1-EC1661487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B220A4-E4E2-5F2D-DEFB-7F7ACA7ED2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00A56-7DCA-47DB-0328-F4AB413D840B}"/>
              </a:ext>
            </a:extLst>
          </p:cNvPr>
          <p:cNvSpPr txBox="1"/>
          <p:nvPr/>
        </p:nvSpPr>
        <p:spPr>
          <a:xfrm>
            <a:off x="2209800" y="58271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Learnings Demonstrated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DC7F9-CB87-41BD-B7F2-D483E08183E4}"/>
              </a:ext>
            </a:extLst>
          </p:cNvPr>
          <p:cNvSpPr txBox="1"/>
          <p:nvPr/>
        </p:nvSpPr>
        <p:spPr>
          <a:xfrm>
            <a:off x="228600" y="762000"/>
            <a:ext cx="4572000" cy="5814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GNN Fundamentals: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Graph representation of materials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Message passing mechanism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Permutation invariance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Skills: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building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PyTorch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Geometric workflows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Training loop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Best Practices: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Data pipeline design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Validation strategies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Hyperparameter tuning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Knowledge: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Materials as graphs</a:t>
            </a:r>
          </a:p>
          <a:p>
            <a:pPr>
              <a:spcBef>
                <a:spcPts val="1080"/>
              </a:spcBef>
              <a:spcAft>
                <a:spcPts val="0"/>
              </a:spcAft>
              <a:defRPr sz="2000">
                <a:solidFill>
                  <a:srgbClr val="333333"/>
                </a:solidFill>
              </a:defRPr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• Structure-property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99236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FA08D-C97D-F346-710E-C552CDB5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450D5-0A74-DFBE-54A0-0498C26A11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E2758-ADFF-8A23-CB25-DB9C26C9D965}"/>
              </a:ext>
            </a:extLst>
          </p:cNvPr>
          <p:cNvSpPr txBox="1"/>
          <p:nvPr/>
        </p:nvSpPr>
        <p:spPr>
          <a:xfrm>
            <a:off x="2209800" y="58271"/>
            <a:ext cx="1774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DD7E5-B024-9FA7-CE83-5AC5E075516F}"/>
              </a:ext>
            </a:extLst>
          </p:cNvPr>
          <p:cNvSpPr txBox="1"/>
          <p:nvPr/>
        </p:nvSpPr>
        <p:spPr>
          <a:xfrm>
            <a:off x="277566" y="990600"/>
            <a:ext cx="5638800" cy="266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and understand the code in legacy codebase (so far)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 with hyperparameters (if access to legacy codebase is given) 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generating different lattice types with random asperities in Abaqus</a:t>
            </a:r>
          </a:p>
          <a:p>
            <a:pPr marL="342900" indent="-342900">
              <a:spcBef>
                <a:spcPts val="10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>
                <a:solidFill>
                  <a:srgbClr val="333333"/>
                </a:solidFill>
              </a:defRPr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924307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reu '26 template</Template>
  <TotalTime>2359</TotalTime>
  <Words>989</Words>
  <Application>Microsoft Office PowerPoint</Application>
  <PresentationFormat>On-screen Show (4:3)</PresentationFormat>
  <Paragraphs>207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15</cp:revision>
  <cp:lastPrinted>2016-03-29T19:22:42Z</cp:lastPrinted>
  <dcterms:created xsi:type="dcterms:W3CDTF">2026-05-27T15:51:39Z</dcterms:created>
  <dcterms:modified xsi:type="dcterms:W3CDTF">2026-06-07T14:04:20Z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