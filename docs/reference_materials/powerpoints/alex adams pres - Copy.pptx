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58" r:id="rId4"/>
    <p:sldId id="257" r:id="rId5"/>
    <p:sldId id="265" r:id="rId6"/>
    <p:sldId id="266" r:id="rId7"/>
    <p:sldId id="267" r:id="rId8"/>
    <p:sldId id="260" r:id="rId9"/>
    <p:sldId id="261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gD/Uj8j1yWAD7DmrWBQ9ngaBa/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A9C4"/>
    <a:srgbClr val="F4F6F9"/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4213D"/>
                </a:solidFill>
                <a:latin typeface="Arial"/>
              </a:rPr>
              <a:t>Mean Held-Out Test R² by Configuration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E766-4E5B-90B1-2CF6037A1548}"/>
              </c:ext>
            </c:extLst>
          </c:dPt>
          <c:dPt>
            <c:idx val="1"/>
            <c:invertIfNegative val="0"/>
            <c:bubble3D val="0"/>
            <c:spPr>
              <a:solidFill>
                <a:srgbClr val="8DA9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E766-4E5B-90B1-2CF6037A1548}"/>
              </c:ext>
            </c:extLst>
          </c:dPt>
          <c:dPt>
            <c:idx val="2"/>
            <c:invertIfNegative val="0"/>
            <c:bubble3D val="0"/>
            <c:spPr>
              <a:solidFill>
                <a:srgbClr val="8DA9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E766-4E5B-90B1-2CF6037A1548}"/>
              </c:ext>
            </c:extLst>
          </c:dPt>
          <c:dPt>
            <c:idx val="3"/>
            <c:invertIfNegative val="0"/>
            <c:bubble3D val="0"/>
            <c:spPr>
              <a:solidFill>
                <a:srgbClr val="8DA9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E766-4E5B-90B1-2CF6037A1548}"/>
              </c:ext>
            </c:extLst>
          </c:dPt>
          <c:dPt>
            <c:idx val="4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E766-4E5B-90B1-2CF6037A1548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E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Baseline
GCN-2</c:v>
                </c:pt>
                <c:pt idx="1">
                  <c:v>+ Richer
Features</c:v>
                </c:pt>
                <c:pt idx="2">
                  <c:v>+ Graph
Features</c:v>
                </c:pt>
                <c:pt idx="3">
                  <c:v>+ Target
Norm.</c:v>
                </c:pt>
                <c:pt idx="4">
                  <c:v>GCN-3
(best)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0.91479999999999995</c:v>
                </c:pt>
                <c:pt idx="1">
                  <c:v>0.93799999999999994</c:v>
                </c:pt>
                <c:pt idx="2">
                  <c:v>0.94110000000000005</c:v>
                </c:pt>
                <c:pt idx="3">
                  <c:v>0.94469999999999998</c:v>
                </c:pt>
                <c:pt idx="4">
                  <c:v>0.9456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766-4E5B-90B1-2CF6037A15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6"/>
          <c:min val="0.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C15F2D82-25AB-0336-EC85-A73376E2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28F8D35E-7A50-4FDF-E8F3-5ED49635E8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703A2FF7-8F35-871C-0F48-9AF6FC2ABD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A4A048DD-CBB7-A482-A67F-36086D902B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6619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C14EC564-936F-07AF-EAFE-A9B221CFF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B710526D-E2C0-9F20-71B5-3F8ECC1D4E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E86D0B26-0BBE-026B-2A5E-2F95A09668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CCF880E2-9D24-C87D-1DBE-EC486A4D98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Alzheimer’s therapeutics. Clean energy. Hypersonic flight. Every one of them stalls at the same wall what materials can actually do. This project is built to move that wall.</a:t>
            </a:r>
            <a:r>
              <a:rPr lang="en-US" sz="1200" dirty="0">
                <a:solidFill>
                  <a:srgbClr val="8DA9C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$1.2T+ global advanced materials market underwrites all four — this is not a niche problem.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82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3457CB3-B59D-EC23-A979-0B610A887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29956D9E-26B4-A096-F6DE-61AE32A2EB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6A1566B0-8B33-22B9-30B3-1722DF136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40CC4A03-90FC-40F0-3DDC-EA951078CE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Graph:</a:t>
            </a:r>
            <a:r>
              <a:rPr lang="en-US" dirty="0"/>
              <a:t> In mathematics and computer science, a graph is a collection of nodes connected by edges. </a:t>
            </a:r>
            <a:r>
              <a:rPr lang="en-US" b="1" dirty="0"/>
              <a:t>Node:</a:t>
            </a:r>
            <a:r>
              <a:rPr lang="en-US" dirty="0"/>
              <a:t> Represents a joint where lattice beams meet. </a:t>
            </a:r>
            <a:r>
              <a:rPr lang="en-US" b="1" dirty="0"/>
              <a:t>Edge:</a:t>
            </a:r>
            <a:r>
              <a:rPr lang="en-US" dirty="0"/>
              <a:t> Represents a beam connecting two joints. </a:t>
            </a:r>
            <a:r>
              <a:rPr lang="en-US" b="1" dirty="0"/>
              <a:t>Graph Neural Network:</a:t>
            </a:r>
            <a:r>
              <a:rPr lang="en-US" dirty="0"/>
              <a:t> Learns by allowing neighboring nodes to repeatedly exchange information. </a:t>
            </a:r>
            <a:r>
              <a:rPr lang="en-US" b="1" dirty="0"/>
              <a:t>Feature:</a:t>
            </a:r>
            <a:r>
              <a:rPr lang="en-US" dirty="0"/>
              <a:t> Information describing the geometry, such as position, connectivity, or whether a node is on the boundary.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6612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A98F9BA-F931-CC8E-2338-35937B259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67501FE7-D9B8-50D6-513B-825B3C940C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13C6B988-DDE0-0927-A7F9-6C02E8243E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CC60B491-CC98-799E-56D7-E1C5579C62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Graph:</a:t>
            </a:r>
            <a:r>
              <a:rPr lang="en-US" dirty="0"/>
              <a:t> In mathematics and computer science, a graph is a collection of nodes connected by edges. </a:t>
            </a:r>
            <a:r>
              <a:rPr lang="en-US" b="1" dirty="0"/>
              <a:t>Node:</a:t>
            </a:r>
            <a:r>
              <a:rPr lang="en-US" dirty="0"/>
              <a:t> Represents a joint where lattice beams meet. </a:t>
            </a:r>
            <a:r>
              <a:rPr lang="en-US" b="1" dirty="0"/>
              <a:t>Edge:</a:t>
            </a:r>
            <a:r>
              <a:rPr lang="en-US" dirty="0"/>
              <a:t> Represents a beam connecting two joints. </a:t>
            </a:r>
            <a:r>
              <a:rPr lang="en-US" b="1" dirty="0"/>
              <a:t>Graph Neural Network:</a:t>
            </a:r>
            <a:r>
              <a:rPr lang="en-US" dirty="0"/>
              <a:t> Learns by allowing neighboring nodes to repeatedly exchange information. </a:t>
            </a:r>
            <a:r>
              <a:rPr lang="en-US" b="1" dirty="0"/>
              <a:t>Feature:</a:t>
            </a:r>
            <a:r>
              <a:rPr lang="en-US" dirty="0"/>
              <a:t> Information describing the geometry, such as position, connectivity, or whether a node is on the boundary.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5109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8D4480F-FD76-9655-956B-5775E068D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B40F7A64-84F4-FDB1-E22E-5E19A31A41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8A50B8DA-C744-A178-3E26-55F731730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51699FBD-1FC3-28F4-7DDC-A16E687826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Graph:</a:t>
            </a:r>
            <a:r>
              <a:rPr lang="en-US" dirty="0"/>
              <a:t> In mathematics and computer science, a graph is a collection of nodes connected by edges. </a:t>
            </a:r>
            <a:r>
              <a:rPr lang="en-US" b="1" dirty="0"/>
              <a:t>Node:</a:t>
            </a:r>
            <a:r>
              <a:rPr lang="en-US" dirty="0"/>
              <a:t> Represents a joint where lattice beams meet. </a:t>
            </a:r>
            <a:r>
              <a:rPr lang="en-US" b="1" dirty="0"/>
              <a:t>Edge:</a:t>
            </a:r>
            <a:r>
              <a:rPr lang="en-US" dirty="0"/>
              <a:t> Represents a beam connecting two joints. </a:t>
            </a:r>
            <a:r>
              <a:rPr lang="en-US" b="1" dirty="0"/>
              <a:t>Graph Neural Network:</a:t>
            </a:r>
            <a:r>
              <a:rPr lang="en-US" dirty="0"/>
              <a:t> Learns by allowing neighboring nodes to repeatedly exchange information. </a:t>
            </a:r>
            <a:r>
              <a:rPr lang="en-US" b="1" dirty="0"/>
              <a:t>Feature:</a:t>
            </a:r>
            <a:r>
              <a:rPr lang="en-US" dirty="0"/>
              <a:t> Information describing the geometry, such as position, connectivity, or whether a node is on the boundary.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0616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23A9804-7214-0A48-604E-094693872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739E5DE6-FC4B-6BD8-9B48-F5DC0D8AF4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7130FCE4-40EF-E867-310B-4C4405D11B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AB0E37DA-BAC6-A0EA-9E8D-7331B6D014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R² (R-squared):</a:t>
            </a:r>
            <a:r>
              <a:rPr lang="en-US" dirty="0"/>
              <a:t> Measures how closely predictions match the true values. Values closer to 1 indicate better performance. </a:t>
            </a:r>
            <a:r>
              <a:rPr lang="en-US" b="1" dirty="0"/>
              <a:t>RMSE (Root Mean Square Error):</a:t>
            </a:r>
            <a:r>
              <a:rPr lang="en-US" dirty="0"/>
              <a:t> Measures the average prediction error. Smaller values are better. </a:t>
            </a:r>
            <a:r>
              <a:rPr lang="en-US" b="1" dirty="0"/>
              <a:t>Baseline:</a:t>
            </a:r>
            <a:r>
              <a:rPr lang="en-US" dirty="0"/>
              <a:t> The original model used as the starting point for comparison. Emphasize that improvements came from better representing the lattice, not simply changing training settings.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8437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D709B33-1776-F30E-70B8-352CBDBF6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1FE90669-ACF9-55C4-F590-B194A4794B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3FEE9051-7081-490D-1A97-86C241AAC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51580D00-78ED-6316-CE1F-341618FF02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ADD HELDER NAME ADD SLIDE FOR GCN ADD METRICS GOING OVER # OF SIMULATIONS RAN (3K)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7726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5"/>
          <p:cNvSpPr/>
          <p:nvPr/>
        </p:nvSpPr>
        <p:spPr>
          <a:xfrm>
            <a:off x="0" y="6013174"/>
            <a:ext cx="12192000" cy="855939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15" descr="NJIT_C_SD3_ko.eps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8200" y="6155673"/>
            <a:ext cx="3008243" cy="59783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73D63B7-7E77-D59D-5C79-5E015575DAA8}"/>
              </a:ext>
            </a:extLst>
          </p:cNvPr>
          <p:cNvSpPr txBox="1"/>
          <p:nvPr/>
        </p:nvSpPr>
        <p:spPr>
          <a:xfrm>
            <a:off x="1774517" y="4260056"/>
            <a:ext cx="86429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b="1" dirty="0"/>
              <a:t>Alexander </a:t>
            </a:r>
            <a:r>
              <a:rPr lang="en-US" altLang="en-US" b="1" dirty="0" err="1"/>
              <a:t>Adams</a:t>
            </a:r>
            <a:r>
              <a:rPr lang="en-US" altLang="en-US" b="1" baseline="30000" dirty="0" err="1"/>
              <a:t>a</a:t>
            </a:r>
            <a:r>
              <a:rPr lang="en-US" altLang="en-US" b="1" dirty="0"/>
              <a:t>, Helder </a:t>
            </a:r>
            <a:r>
              <a:rPr lang="en-US" altLang="en-US" b="1" dirty="0" err="1"/>
              <a:t>Rebelo</a:t>
            </a:r>
            <a:r>
              <a:rPr lang="en-US" altLang="en-US" b="1" baseline="30000" dirty="0" err="1"/>
              <a:t>b</a:t>
            </a:r>
            <a:r>
              <a:rPr lang="en-US" altLang="en-US" b="1" dirty="0"/>
              <a:t>, Dr. Xing </a:t>
            </a:r>
            <a:r>
              <a:rPr lang="en-US" altLang="en-US" b="1" dirty="0" err="1"/>
              <a:t>Liu</a:t>
            </a:r>
            <a:r>
              <a:rPr lang="en-US" altLang="en-US" b="1" baseline="30000" dirty="0" err="1"/>
              <a:t>b</a:t>
            </a:r>
            <a:r>
              <a:rPr lang="en-US" altLang="en-US" b="1" baseline="30000" dirty="0"/>
              <a:t> </a:t>
            </a:r>
            <a:r>
              <a:rPr lang="en-US" altLang="en-US" b="1" dirty="0"/>
              <a:t>(Advisor)</a:t>
            </a:r>
            <a:r>
              <a:rPr lang="en-US" altLang="en-US" b="1" baseline="30000" dirty="0"/>
              <a:t> </a:t>
            </a:r>
            <a:endParaRPr lang="en-US" altLang="en-US" b="1" dirty="0"/>
          </a:p>
          <a:p>
            <a:pPr algn="ctr"/>
            <a:r>
              <a:rPr lang="en-US" altLang="en-US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a </a:t>
            </a:r>
            <a:r>
              <a:rPr lang="en-US" altLang="en-US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Engineering and Materials Science, University of Pittsburgh, Pittsburgh, PA 15260</a:t>
            </a:r>
          </a:p>
          <a:p>
            <a:pPr algn="ctr"/>
            <a:r>
              <a:rPr lang="en-US" altLang="en-US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b </a:t>
            </a:r>
            <a:r>
              <a:rPr lang="en-US" altLang="en-US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and Industrial Engineering, New Jersey Institute of Technology, Newark, NJ 07102</a:t>
            </a:r>
            <a:endParaRPr lang="en-US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79A4656C-AEB4-C6F8-84E5-72E1D0544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7789" y="1847006"/>
            <a:ext cx="9456420" cy="2015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3472" tIns="83472" rIns="83472" bIns="83472">
            <a:spAutoFit/>
          </a:bodyPr>
          <a:lstStyle>
            <a:lvl1pPr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1pPr>
            <a:lvl2pPr marL="742950" indent="-28575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2pPr>
            <a:lvl3pPr marL="11430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3pPr>
            <a:lvl4pPr marL="16002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4pPr>
            <a:lvl5pPr marL="20574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5pPr>
            <a:lvl6pPr marL="25146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6pPr>
            <a:lvl7pPr marL="29718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7pPr>
            <a:lvl8pPr marL="34290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8pPr>
            <a:lvl9pPr marL="38862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 b="1" dirty="0"/>
              <a:t>Predicting the Mechanical Properties of Complex Lattice Metamaterials Using Graph Neural Networks (GNNs) </a:t>
            </a:r>
            <a:endParaRPr lang="en-US" altLang="en-US" sz="4000" dirty="0">
              <a:solidFill>
                <a:srgbClr val="0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2C0EAE-D19E-735F-77C9-2D57C0270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29076" cy="9754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A7BD6F-476C-689F-24F6-A5F5199BE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799" y="6044548"/>
            <a:ext cx="2720339" cy="8361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CDC32F0A-9A91-7AEE-2DC9-F2E091F4C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7">
            <a:extLst>
              <a:ext uri="{FF2B5EF4-FFF2-40B4-BE49-F238E27FC236}">
                <a16:creationId xmlns:a16="http://schemas.microsoft.com/office/drawing/2014/main" id="{4A2B64AA-A862-7028-E694-80CC96C452C8}"/>
              </a:ext>
            </a:extLst>
          </p:cNvPr>
          <p:cNvSpPr/>
          <p:nvPr/>
        </p:nvSpPr>
        <p:spPr>
          <a:xfrm>
            <a:off x="424180" y="1064865"/>
            <a:ext cx="5212080" cy="4552130"/>
          </a:xfrm>
          <a:prstGeom prst="roundRect">
            <a:avLst>
              <a:gd name="adj" fmla="val 1429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5AECD43B-2F82-ECF0-239D-5CCDFA9FEA0A}"/>
              </a:ext>
            </a:extLst>
          </p:cNvPr>
          <p:cNvSpPr/>
          <p:nvPr/>
        </p:nvSpPr>
        <p:spPr>
          <a:xfrm>
            <a:off x="789940" y="1182155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6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$1.2T+</a:t>
            </a:r>
            <a:endParaRPr lang="en-US" sz="4600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8471FB89-2501-A1FA-8F9F-DE361B06FFEF}"/>
              </a:ext>
            </a:extLst>
          </p:cNvPr>
          <p:cNvSpPr/>
          <p:nvPr/>
        </p:nvSpPr>
        <p:spPr>
          <a:xfrm>
            <a:off x="789940" y="1913675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advanced materials market (2023)</a:t>
            </a:r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62C84EAA-ECA1-9ED0-258E-B8D695D66E76}"/>
              </a:ext>
            </a:extLst>
          </p:cNvPr>
          <p:cNvSpPr/>
          <p:nvPr/>
        </p:nvSpPr>
        <p:spPr>
          <a:xfrm>
            <a:off x="627895" y="2565330"/>
            <a:ext cx="484632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B64CDBBA-22E7-0C65-4645-B8F097257806}"/>
              </a:ext>
            </a:extLst>
          </p:cNvPr>
          <p:cNvSpPr/>
          <p:nvPr/>
        </p:nvSpPr>
        <p:spPr>
          <a:xfrm>
            <a:off x="789940" y="2736635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$110–133B → $205–313B</a:t>
            </a:r>
            <a:endParaRPr lang="en-US" sz="3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E601C1E1-E41A-33FB-7920-5654826B870E}"/>
              </a:ext>
            </a:extLst>
          </p:cNvPr>
          <p:cNvSpPr/>
          <p:nvPr/>
        </p:nvSpPr>
        <p:spPr>
          <a:xfrm>
            <a:off x="789940" y="3376715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Architected composites &amp; lattice materials, 2024 → 2032–34 (~8–9% CAGR)</a:t>
            </a:r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8A75D549-12A3-03DB-A0CE-7A5CA52E5904}"/>
              </a:ext>
            </a:extLst>
          </p:cNvPr>
          <p:cNvSpPr/>
          <p:nvPr/>
        </p:nvSpPr>
        <p:spPr>
          <a:xfrm>
            <a:off x="627895" y="4085665"/>
            <a:ext cx="484632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12BAF472-5003-F7C9-B989-12849AA714C1}"/>
              </a:ext>
            </a:extLst>
          </p:cNvPr>
          <p:cNvSpPr/>
          <p:nvPr/>
        </p:nvSpPr>
        <p:spPr>
          <a:xfrm>
            <a:off x="789940" y="4245395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30–50%  /  40%+</a:t>
            </a:r>
            <a:endParaRPr lang="en-US" sz="2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A7A2D035-3BD5-BF0E-04EE-6D7C184B10B4}"/>
              </a:ext>
            </a:extLst>
          </p:cNvPr>
          <p:cNvSpPr/>
          <p:nvPr/>
        </p:nvSpPr>
        <p:spPr>
          <a:xfrm>
            <a:off x="789940" y="4794035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Stiffness-to-weight gain over foams  /  possible weight reduction from lattice design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F387E73-C4BC-2C08-EFC7-30472AA77D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31" name="Picture 30" descr="Seal 2color 2 line.png">
            <a:extLst>
              <a:ext uri="{FF2B5EF4-FFF2-40B4-BE49-F238E27FC236}">
                <a16:creationId xmlns:a16="http://schemas.microsoft.com/office/drawing/2014/main" id="{8DA6EDFA-9D06-BDF0-1BFE-175C0AF2772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E82D84A-EB71-A7F8-3F66-C15A0898416C}"/>
              </a:ext>
            </a:extLst>
          </p:cNvPr>
          <p:cNvSpPr txBox="1"/>
          <p:nvPr/>
        </p:nvSpPr>
        <p:spPr>
          <a:xfrm>
            <a:off x="424180" y="88910"/>
            <a:ext cx="6406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ECONOMICS OF ADVANCED MATERIALS</a:t>
            </a:r>
          </a:p>
        </p:txBody>
      </p:sp>
      <p:pic>
        <p:nvPicPr>
          <p:cNvPr id="17" name="Picture 14" descr="Composites Market ">
            <a:extLst>
              <a:ext uri="{FF2B5EF4-FFF2-40B4-BE49-F238E27FC236}">
                <a16:creationId xmlns:a16="http://schemas.microsoft.com/office/drawing/2014/main" id="{5BB28329-EAF8-CE3A-00CE-C978D2C68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230" y="11780722"/>
            <a:ext cx="10520414" cy="525527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4" descr="Composites Market ">
            <a:extLst>
              <a:ext uri="{FF2B5EF4-FFF2-40B4-BE49-F238E27FC236}">
                <a16:creationId xmlns:a16="http://schemas.microsoft.com/office/drawing/2014/main" id="{961E8F36-CAD0-5392-BF6C-E086974EC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630" y="11933122"/>
            <a:ext cx="10520414" cy="525527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D666384-1B64-2388-CE44-F3B3A0CF594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289"/>
          <a:stretch>
            <a:fillRect/>
          </a:stretch>
        </p:blipFill>
        <p:spPr>
          <a:xfrm>
            <a:off x="5805482" y="1598174"/>
            <a:ext cx="6217162" cy="33568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85725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437C2B54-FC18-E842-AC0D-3383121D0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B25E39-8B57-01EE-87BD-5E799D0A30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7A48AC3A-6E7F-19DA-6A5A-E46BC7E4EBE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82FF8B88-A0E7-A762-9E72-3295A6CECBF8}"/>
              </a:ext>
            </a:extLst>
          </p:cNvPr>
          <p:cNvSpPr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Materials Ceiling</a:t>
            </a:r>
            <a:endParaRPr lang="en-US" sz="3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D0DC4E41-FF63-F8E4-3AEF-6D1999927BD9}"/>
              </a:ext>
            </a:extLst>
          </p:cNvPr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high-stakes field runs into the same wall no matter how urgent the mission</a:t>
            </a: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C2D4E4B3-3B77-B4E3-AA31-39CB6A00E350}"/>
              </a:ext>
            </a:extLst>
          </p:cNvPr>
          <p:cNvSpPr/>
          <p:nvPr/>
        </p:nvSpPr>
        <p:spPr>
          <a:xfrm>
            <a:off x="640080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77B178F-B495-1A3F-B356-C85B14FB7C7E}"/>
              </a:ext>
            </a:extLst>
          </p:cNvPr>
          <p:cNvSpPr/>
          <p:nvPr/>
        </p:nvSpPr>
        <p:spPr>
          <a:xfrm>
            <a:off x="822959" y="1764792"/>
            <a:ext cx="233172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Medicine</a:t>
            </a: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1A36BA1-9EEC-CAE5-3CEB-6790265439B6}"/>
              </a:ext>
            </a:extLst>
          </p:cNvPr>
          <p:cNvSpPr/>
          <p:nvPr/>
        </p:nvSpPr>
        <p:spPr>
          <a:xfrm>
            <a:off x="647895" y="4437778"/>
            <a:ext cx="2633474" cy="1155774"/>
          </a:xfrm>
          <a:prstGeom prst="rect">
            <a:avLst/>
          </a:prstGeom>
          <a:solidFill>
            <a:srgbClr val="F4F6F9"/>
          </a:solidFill>
          <a:ln>
            <a:solidFill>
              <a:srgbClr val="8DA9C4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Neurodegenerative drug carriers and implants are only as good as the material that holds them together.</a:t>
            </a:r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5706B1AC-8870-B6A6-46DD-EDEE6D8D723E}"/>
              </a:ext>
            </a:extLst>
          </p:cNvPr>
          <p:cNvSpPr/>
          <p:nvPr/>
        </p:nvSpPr>
        <p:spPr>
          <a:xfrm>
            <a:off x="3502152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67CE4E56-AB0D-E058-3A76-1921F80B4D45}"/>
              </a:ext>
            </a:extLst>
          </p:cNvPr>
          <p:cNvSpPr/>
          <p:nvPr/>
        </p:nvSpPr>
        <p:spPr>
          <a:xfrm>
            <a:off x="3639312" y="1760954"/>
            <a:ext cx="233172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</a:t>
            </a: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63208B34-80EF-1F38-87EE-4BFF26FCF0EC}"/>
              </a:ext>
            </a:extLst>
          </p:cNvPr>
          <p:cNvSpPr/>
          <p:nvPr/>
        </p:nvSpPr>
        <p:spPr>
          <a:xfrm>
            <a:off x="3509969" y="4453314"/>
            <a:ext cx="2633474" cy="1155774"/>
          </a:xfrm>
          <a:prstGeom prst="rect">
            <a:avLst/>
          </a:prstGeom>
          <a:solidFill>
            <a:srgbClr val="F4F6F9"/>
          </a:solidFill>
          <a:ln>
            <a:solidFill>
              <a:srgbClr val="8DA9C4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Battery density and solar efficiency stall without lighter, stronger structural and storage materials.</a:t>
            </a:r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77230FA3-6C0E-A182-A189-AF4E1DE99704}"/>
              </a:ext>
            </a:extLst>
          </p:cNvPr>
          <p:cNvSpPr/>
          <p:nvPr/>
        </p:nvSpPr>
        <p:spPr>
          <a:xfrm>
            <a:off x="6364224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487EADAF-4630-A910-9944-D54A9C08CB41}"/>
              </a:ext>
            </a:extLst>
          </p:cNvPr>
          <p:cNvSpPr/>
          <p:nvPr/>
        </p:nvSpPr>
        <p:spPr>
          <a:xfrm>
            <a:off x="6547104" y="1760474"/>
            <a:ext cx="233172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Aerospace</a:t>
            </a: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29F5157B-80F3-42CF-1061-B7F2C26FCD4A}"/>
              </a:ext>
            </a:extLst>
          </p:cNvPr>
          <p:cNvSpPr/>
          <p:nvPr/>
        </p:nvSpPr>
        <p:spPr>
          <a:xfrm>
            <a:off x="6372041" y="4437778"/>
            <a:ext cx="2633474" cy="1155774"/>
          </a:xfrm>
          <a:prstGeom prst="rect">
            <a:avLst/>
          </a:prstGeom>
          <a:solidFill>
            <a:srgbClr val="F4F6F9"/>
          </a:solidFill>
          <a:ln>
            <a:solidFill>
              <a:srgbClr val="8DA9C4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efficiency gain in flight is a materials problem before it is ever an aerodynamics problem.</a:t>
            </a:r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558B92CE-CCC8-F5C2-915E-EAC7D7DB5F80}"/>
              </a:ext>
            </a:extLst>
          </p:cNvPr>
          <p:cNvSpPr/>
          <p:nvPr/>
        </p:nvSpPr>
        <p:spPr>
          <a:xfrm>
            <a:off x="9226296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DDC035BB-67BC-AAA6-F54E-BA0267297A72}"/>
              </a:ext>
            </a:extLst>
          </p:cNvPr>
          <p:cNvSpPr/>
          <p:nvPr/>
        </p:nvSpPr>
        <p:spPr>
          <a:xfrm>
            <a:off x="9363456" y="1760474"/>
            <a:ext cx="233172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Defense</a:t>
            </a: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027AECCA-1B51-CBF8-86A3-028EA210D71B}"/>
              </a:ext>
            </a:extLst>
          </p:cNvPr>
          <p:cNvSpPr/>
          <p:nvPr/>
        </p:nvSpPr>
        <p:spPr>
          <a:xfrm>
            <a:off x="9188393" y="4437778"/>
            <a:ext cx="2633474" cy="1155774"/>
          </a:xfrm>
          <a:prstGeom prst="rect">
            <a:avLst/>
          </a:prstGeom>
          <a:solidFill>
            <a:srgbClr val="F4F6F9"/>
          </a:solidFill>
          <a:ln>
            <a:solidFill>
              <a:srgbClr val="8DA9C4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Protection-to-weight ratio is dictated by the material itself, not by the mission built around it.</a:t>
            </a:r>
          </a:p>
        </p:txBody>
      </p:sp>
      <p:sp>
        <p:nvSpPr>
          <p:cNvPr id="55" name="Shape 20">
            <a:extLst>
              <a:ext uri="{FF2B5EF4-FFF2-40B4-BE49-F238E27FC236}">
                <a16:creationId xmlns:a16="http://schemas.microsoft.com/office/drawing/2014/main" id="{839B48B0-70ED-6A45-00D1-B55B09A2A908}"/>
              </a:ext>
            </a:extLst>
          </p:cNvPr>
          <p:cNvSpPr/>
          <p:nvPr/>
        </p:nvSpPr>
        <p:spPr>
          <a:xfrm>
            <a:off x="4040320" y="4317690"/>
            <a:ext cx="4299549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pic>
        <p:nvPicPr>
          <p:cNvPr id="60" name="Picture 59" descr="Biomedical Materials - an overview | ScienceDirect Topics">
            <a:extLst>
              <a:ext uri="{FF2B5EF4-FFF2-40B4-BE49-F238E27FC236}">
                <a16:creationId xmlns:a16="http://schemas.microsoft.com/office/drawing/2014/main" id="{59EC09A5-83A4-EF7A-4C41-2E754AEC6B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8" y="2195889"/>
            <a:ext cx="2097621" cy="16570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2" name="Picture 61" descr="Solar panel | Definition &amp; Facts | Britannica">
            <a:extLst>
              <a:ext uri="{FF2B5EF4-FFF2-40B4-BE49-F238E27FC236}">
                <a16:creationId xmlns:a16="http://schemas.microsoft.com/office/drawing/2014/main" id="{FB252E1D-4DA1-6DD8-3366-25B117C5EF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009" y="2154049"/>
            <a:ext cx="1345766" cy="17067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3" name="Picture 62" descr="Aerospace Materials – Introduction to Aerospace Flight Vehicles">
            <a:extLst>
              <a:ext uri="{FF2B5EF4-FFF2-40B4-BE49-F238E27FC236}">
                <a16:creationId xmlns:a16="http://schemas.microsoft.com/office/drawing/2014/main" id="{35B18B9C-2832-51FE-4FFB-6188A0F1D5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1075" y="2268627"/>
            <a:ext cx="2472338" cy="14775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5" name="Picture 64" descr="The Core Components Used in Body Armor Production– Custom Armor Group">
            <a:extLst>
              <a:ext uri="{FF2B5EF4-FFF2-40B4-BE49-F238E27FC236}">
                <a16:creationId xmlns:a16="http://schemas.microsoft.com/office/drawing/2014/main" id="{6991AD2D-8921-90F1-AAD4-5F58DC23FE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4289" y="2154049"/>
            <a:ext cx="1730054" cy="17300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22968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19F6D913-A142-6DA8-461F-648FE2F6F1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31" name="Picture 30" descr="Seal 2color 2 line.png">
            <a:extLst>
              <a:ext uri="{FF2B5EF4-FFF2-40B4-BE49-F238E27FC236}">
                <a16:creationId xmlns:a16="http://schemas.microsoft.com/office/drawing/2014/main" id="{69228E9D-C26B-8142-A694-74DC0428E6F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sp>
        <p:nvSpPr>
          <p:cNvPr id="37" name="Text 3">
            <a:extLst>
              <a:ext uri="{FF2B5EF4-FFF2-40B4-BE49-F238E27FC236}">
                <a16:creationId xmlns:a16="http://schemas.microsoft.com/office/drawing/2014/main" id="{AC153377-88B6-D1CC-B930-6B76D7DAF3F9}"/>
              </a:ext>
            </a:extLst>
          </p:cNvPr>
          <p:cNvSpPr/>
          <p:nvPr/>
        </p:nvSpPr>
        <p:spPr>
          <a:xfrm>
            <a:off x="420810" y="1102613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assumes perfectly periodic lattices; reality introduces feature variance; classical models fail to predict real behavior.</a:t>
            </a:r>
          </a:p>
          <a:p>
            <a:pPr marL="34290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physics solvers are both time and resource intensive</a:t>
            </a:r>
            <a:endParaRPr lang="en-US" sz="2000" dirty="0"/>
          </a:p>
        </p:txBody>
      </p:sp>
      <p:pic>
        <p:nvPicPr>
          <p:cNvPr id="39" name="Image 1" descr="icons_bullseye_white.png">
            <a:extLst>
              <a:ext uri="{FF2B5EF4-FFF2-40B4-BE49-F238E27FC236}">
                <a16:creationId xmlns:a16="http://schemas.microsoft.com/office/drawing/2014/main" id="{D910A5DF-98FD-8334-AAA4-8FCC41E91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63" y="3267456"/>
            <a:ext cx="237744" cy="237744"/>
          </a:xfrm>
          <a:prstGeom prst="rect">
            <a:avLst/>
          </a:prstGeom>
        </p:spPr>
      </p:pic>
      <p:sp>
        <p:nvSpPr>
          <p:cNvPr id="41" name="Text 5">
            <a:extLst>
              <a:ext uri="{FF2B5EF4-FFF2-40B4-BE49-F238E27FC236}">
                <a16:creationId xmlns:a16="http://schemas.microsoft.com/office/drawing/2014/main" id="{56C517ED-B1B1-CD48-1190-1619343EB3A4}"/>
              </a:ext>
            </a:extLst>
          </p:cNvPr>
          <p:cNvSpPr/>
          <p:nvPr/>
        </p:nvSpPr>
        <p:spPr>
          <a:xfrm>
            <a:off x="420810" y="304495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2800" dirty="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D1919F30-4FC6-77AB-DA04-B875F1582903}"/>
              </a:ext>
            </a:extLst>
          </p:cNvPr>
          <p:cNvSpPr/>
          <p:nvPr/>
        </p:nvSpPr>
        <p:spPr>
          <a:xfrm>
            <a:off x="420810" y="375770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graph neural network that predicts lattice stiffness directly from imperfect, real-world geometry, fast enough for iterative design, accurate enough to trust in place of full simulation.</a:t>
            </a:r>
            <a:endParaRPr lang="en-US" sz="2000" dirty="0"/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479C38F9-7AE8-DCA1-AE38-BEDFF156CF18}"/>
              </a:ext>
            </a:extLst>
          </p:cNvPr>
          <p:cNvSpPr/>
          <p:nvPr/>
        </p:nvSpPr>
        <p:spPr>
          <a:xfrm>
            <a:off x="420811" y="565403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pic>
        <p:nvPicPr>
          <p:cNvPr id="2" name="Picture 1" descr="Lattice Structures in Crystalline Solids – Chemistry">
            <a:extLst>
              <a:ext uri="{FF2B5EF4-FFF2-40B4-BE49-F238E27FC236}">
                <a16:creationId xmlns:a16="http://schemas.microsoft.com/office/drawing/2014/main" id="{B8A37B8F-0733-1880-2333-0880BF90AC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111" y="565403"/>
            <a:ext cx="4524111" cy="2491741"/>
          </a:xfrm>
          <a:prstGeom prst="rect">
            <a:avLst/>
          </a:prstGeom>
        </p:spPr>
      </p:pic>
      <p:pic>
        <p:nvPicPr>
          <p:cNvPr id="14" name="Picture 13" descr="Graph Convolutional Networks | Thomas Kipf | Google DeepMind">
            <a:extLst>
              <a:ext uri="{FF2B5EF4-FFF2-40B4-BE49-F238E27FC236}">
                <a16:creationId xmlns:a16="http://schemas.microsoft.com/office/drawing/2014/main" id="{2D88F6D6-4042-DD62-C7AD-C072C43B7C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6908" y="3249577"/>
            <a:ext cx="5212080" cy="27028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6BE31897-8936-AE45-E3BE-23436BD61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F7E564-A81D-A890-EF26-ABE9E91FCC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5FAD7115-E08A-C005-0353-4309467E479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4CDCB53-0EDE-8351-A018-A447C3434B0B}"/>
              </a:ext>
            </a:extLst>
          </p:cNvPr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Approach</a:t>
            </a:r>
            <a:endParaRPr 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89A3A0B-749F-31DD-3BEF-C366BCE40B7B}"/>
              </a:ext>
            </a:extLst>
          </p:cNvPr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graph neural network learns directly on lattice geometry, no meshing or billions of degrees of freedom</a:t>
            </a: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BCA0E0B3-9D11-ECFC-8A6D-4A8B4616DD27}"/>
              </a:ext>
            </a:extLst>
          </p:cNvPr>
          <p:cNvSpPr/>
          <p:nvPr/>
        </p:nvSpPr>
        <p:spPr>
          <a:xfrm>
            <a:off x="523033" y="1531008"/>
            <a:ext cx="2556859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Lattice Geometry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589A8A87-E8D2-E750-C1A4-1203DA18D2E6}"/>
              </a:ext>
            </a:extLst>
          </p:cNvPr>
          <p:cNvSpPr/>
          <p:nvPr/>
        </p:nvSpPr>
        <p:spPr>
          <a:xfrm>
            <a:off x="3072670" y="2566278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19B669A0-9DC9-80EA-710C-900455C70FFC}"/>
              </a:ext>
            </a:extLst>
          </p:cNvPr>
          <p:cNvSpPr/>
          <p:nvPr/>
        </p:nvSpPr>
        <p:spPr>
          <a:xfrm>
            <a:off x="3401568" y="1533998"/>
            <a:ext cx="251460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Construction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F979D402-A536-E597-9906-FE4664402D79}"/>
              </a:ext>
            </a:extLst>
          </p:cNvPr>
          <p:cNvSpPr/>
          <p:nvPr/>
        </p:nvSpPr>
        <p:spPr>
          <a:xfrm>
            <a:off x="5905500" y="2566278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7EEB5F73-B90E-004E-FD38-F7BA7FE56EE4}"/>
              </a:ext>
            </a:extLst>
          </p:cNvPr>
          <p:cNvSpPr/>
          <p:nvPr/>
        </p:nvSpPr>
        <p:spPr>
          <a:xfrm>
            <a:off x="6188964" y="1532416"/>
            <a:ext cx="2556859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GCN Model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DF2EDF64-D852-3287-418F-FAF988E5856A}"/>
              </a:ext>
            </a:extLst>
          </p:cNvPr>
          <p:cNvSpPr/>
          <p:nvPr/>
        </p:nvSpPr>
        <p:spPr>
          <a:xfrm>
            <a:off x="8819670" y="2566278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E7EA66EC-47E5-9B97-920E-FD37B3F89023}"/>
              </a:ext>
            </a:extLst>
          </p:cNvPr>
          <p:cNvSpPr/>
          <p:nvPr/>
        </p:nvSpPr>
        <p:spPr>
          <a:xfrm>
            <a:off x="9116379" y="1524558"/>
            <a:ext cx="2431894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Stiffness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A5D19DC7-489C-4981-CA65-46C45AAF2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379" y="2090368"/>
            <a:ext cx="2431895" cy="15869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85" name="Picture 84" descr="Types of Lattices for Additive Manufacturing – Terms Engineers Need to Know">
            <a:extLst>
              <a:ext uri="{FF2B5EF4-FFF2-40B4-BE49-F238E27FC236}">
                <a16:creationId xmlns:a16="http://schemas.microsoft.com/office/drawing/2014/main" id="{5DA6703B-7BA8-38F7-9236-8EAB5B5CE3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018" y="2334087"/>
            <a:ext cx="2636407" cy="866718"/>
          </a:xfrm>
          <a:prstGeom prst="rect">
            <a:avLst/>
          </a:prstGeom>
        </p:spPr>
      </p:pic>
      <p:pic>
        <p:nvPicPr>
          <p:cNvPr id="87" name="Picture 86" descr="Graph in Data Structure | Types &amp; Explanation">
            <a:extLst>
              <a:ext uri="{FF2B5EF4-FFF2-40B4-BE49-F238E27FC236}">
                <a16:creationId xmlns:a16="http://schemas.microsoft.com/office/drawing/2014/main" id="{0BC173E2-F485-46EA-9584-F927B52E863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322" t="13966" r="21842" b="26948"/>
          <a:stretch>
            <a:fillRect/>
          </a:stretch>
        </p:blipFill>
        <p:spPr>
          <a:xfrm>
            <a:off x="3401568" y="2107876"/>
            <a:ext cx="2514600" cy="14204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9" name="Picture 88" descr="Overview of different architectures of GNN, CNN, GCN, and GAT. | Download  Scientific Diagram">
            <a:extLst>
              <a:ext uri="{FF2B5EF4-FFF2-40B4-BE49-F238E27FC236}">
                <a16:creationId xmlns:a16="http://schemas.microsoft.com/office/drawing/2014/main" id="{C56326FB-D152-7060-7E0C-B9DDC25C19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157" y="2088997"/>
            <a:ext cx="2653269" cy="1576354"/>
          </a:xfrm>
          <a:prstGeom prst="rect">
            <a:avLst/>
          </a:prstGeom>
        </p:spPr>
      </p:pic>
      <p:sp>
        <p:nvSpPr>
          <p:cNvPr id="41" name="Text 7">
            <a:extLst>
              <a:ext uri="{FF2B5EF4-FFF2-40B4-BE49-F238E27FC236}">
                <a16:creationId xmlns:a16="http://schemas.microsoft.com/office/drawing/2014/main" id="{04CCA063-FD82-B096-53C8-FAC157EEF1DA}"/>
              </a:ext>
            </a:extLst>
          </p:cNvPr>
          <p:cNvSpPr/>
          <p:nvPr/>
        </p:nvSpPr>
        <p:spPr>
          <a:xfrm>
            <a:off x="647895" y="4062639"/>
            <a:ext cx="2633474" cy="1155774"/>
          </a:xfrm>
          <a:prstGeom prst="rect">
            <a:avLst/>
          </a:prstGeom>
          <a:solidFill>
            <a:srgbClr val="F4F6F9"/>
          </a:solidFill>
          <a:ln>
            <a:solidFill>
              <a:srgbClr val="8DA9C4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3000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Vornoi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-Lattice Samples Were Generated using Abaqus (FEA Software)</a:t>
            </a:r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D18B3EDF-514D-D34D-C7DB-064DB0DCD96C}"/>
              </a:ext>
            </a:extLst>
          </p:cNvPr>
          <p:cNvSpPr/>
          <p:nvPr/>
        </p:nvSpPr>
        <p:spPr>
          <a:xfrm>
            <a:off x="3509969" y="4078175"/>
            <a:ext cx="2633474" cy="1155774"/>
          </a:xfrm>
          <a:prstGeom prst="rect">
            <a:avLst/>
          </a:prstGeom>
          <a:solidFill>
            <a:srgbClr val="F4F6F9"/>
          </a:solidFill>
          <a:ln>
            <a:solidFill>
              <a:srgbClr val="8DA9C4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Lattice Samples Represented as a graph through the use of the lab’s python script</a:t>
            </a: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33E4DDFD-E83D-71F9-B234-8AE499D20A1D}"/>
              </a:ext>
            </a:extLst>
          </p:cNvPr>
          <p:cNvSpPr/>
          <p:nvPr/>
        </p:nvSpPr>
        <p:spPr>
          <a:xfrm>
            <a:off x="6372041" y="4062639"/>
            <a:ext cx="2633474" cy="1155774"/>
          </a:xfrm>
          <a:prstGeom prst="rect">
            <a:avLst/>
          </a:prstGeom>
          <a:solidFill>
            <a:srgbClr val="F4F6F9"/>
          </a:solidFill>
          <a:ln>
            <a:solidFill>
              <a:srgbClr val="8DA9C4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 network trained on the graph inputs, continually optimized based on prior performance</a:t>
            </a:r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88F2E198-3ADB-6896-BADE-3FC9E8F113DA}"/>
              </a:ext>
            </a:extLst>
          </p:cNvPr>
          <p:cNvSpPr/>
          <p:nvPr/>
        </p:nvSpPr>
        <p:spPr>
          <a:xfrm>
            <a:off x="9188393" y="4062639"/>
            <a:ext cx="2633474" cy="1155774"/>
          </a:xfrm>
          <a:prstGeom prst="rect">
            <a:avLst/>
          </a:prstGeom>
          <a:solidFill>
            <a:srgbClr val="F4F6F9"/>
          </a:solidFill>
          <a:ln>
            <a:solidFill>
              <a:srgbClr val="8DA9C4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GCN will be able to predict the stiffness of a given material based on its lattice structure</a:t>
            </a:r>
          </a:p>
        </p:txBody>
      </p:sp>
    </p:spTree>
    <p:extLst>
      <p:ext uri="{BB962C8B-B14F-4D97-AF65-F5344CB8AC3E}">
        <p14:creationId xmlns:p14="http://schemas.microsoft.com/office/powerpoint/2010/main" val="1435426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BA85D0D-A045-C2CE-04B6-9F85B51F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CB947B-D773-7928-BE0F-E30DEE66B4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43FBA5B8-46DE-0294-4FD3-B06A9269E00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556D1C3-AB3D-BCB8-E710-78F20D95EE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51" t="4231" r="2646" b="3006"/>
          <a:stretch>
            <a:fillRect/>
          </a:stretch>
        </p:blipFill>
        <p:spPr>
          <a:xfrm>
            <a:off x="715769" y="15373"/>
            <a:ext cx="10760461" cy="591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574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D287BDB-99A3-4C68-CA32-3726C5743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134273-0FC4-8776-8D52-CC580C8485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06F04559-CB84-058D-3115-EC79443D933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6EF5EF-573A-03CF-C33A-D63678B762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733"/>
          <a:stretch>
            <a:fillRect/>
          </a:stretch>
        </p:blipFill>
        <p:spPr>
          <a:xfrm>
            <a:off x="504014" y="0"/>
            <a:ext cx="11183972" cy="593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154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1FF74A57-7FAD-D50D-9350-6390F7658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1DA6C4-6018-9F93-EAED-0C8AF38D47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A426821B-DAD6-357C-3C62-511F0024C98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1808304-410C-17FB-6DFF-BE2DB962E2C6}"/>
              </a:ext>
            </a:extLst>
          </p:cNvPr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C5077C4-D172-B297-27F3-331D6F6A2FF2}"/>
              </a:ext>
            </a:extLst>
          </p:cNvPr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 upgrades (not optimizer tuning) drove the accuracy gain</a:t>
            </a:r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C167786B-A853-BEB8-DDB8-B0E69F1F43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728544"/>
              </p:ext>
            </p:extLst>
          </p:nvPr>
        </p:nvGraphicFramePr>
        <p:xfrm>
          <a:off x="502920" y="1508760"/>
          <a:ext cx="64922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Shape 2">
            <a:extLst>
              <a:ext uri="{FF2B5EF4-FFF2-40B4-BE49-F238E27FC236}">
                <a16:creationId xmlns:a16="http://schemas.microsoft.com/office/drawing/2014/main" id="{977E57CD-DA6B-655E-8A86-CDBA1AC35EF1}"/>
              </a:ext>
            </a:extLst>
          </p:cNvPr>
          <p:cNvSpPr/>
          <p:nvPr/>
        </p:nvSpPr>
        <p:spPr>
          <a:xfrm>
            <a:off x="7315200" y="1508760"/>
            <a:ext cx="4343400" cy="1691640"/>
          </a:xfrm>
          <a:prstGeom prst="roundRect">
            <a:avLst>
              <a:gd name="adj" fmla="val 432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424842F-DC3D-E4F0-E044-55B402DF634C}"/>
              </a:ext>
            </a:extLst>
          </p:cNvPr>
          <p:cNvSpPr/>
          <p:nvPr/>
        </p:nvSpPr>
        <p:spPr>
          <a:xfrm>
            <a:off x="758952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R²:  0.9148  →  0.9456</a:t>
            </a:r>
            <a:endParaRPr lang="en-US" sz="22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EBE9D207-9CB5-961D-ABE1-54A094D85642}"/>
              </a:ext>
            </a:extLst>
          </p:cNvPr>
          <p:cNvSpPr/>
          <p:nvPr/>
        </p:nvSpPr>
        <p:spPr>
          <a:xfrm>
            <a:off x="758952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 vs. best multi-seed configuration</a:t>
            </a: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F17ABF64-AAC5-4E3A-6100-5F2CF68F6978}"/>
              </a:ext>
            </a:extLst>
          </p:cNvPr>
          <p:cNvSpPr/>
          <p:nvPr/>
        </p:nvSpPr>
        <p:spPr>
          <a:xfrm>
            <a:off x="758952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RMSE:  0.00382  →  0.00288  (−24%)</a:t>
            </a:r>
            <a:endParaRPr lang="en-US" sz="15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F90053E0-E443-672B-F809-CFB1FBCBCC6C}"/>
              </a:ext>
            </a:extLst>
          </p:cNvPr>
          <p:cNvSpPr/>
          <p:nvPr/>
        </p:nvSpPr>
        <p:spPr>
          <a:xfrm>
            <a:off x="7315200" y="3383280"/>
            <a:ext cx="4343400" cy="2148840"/>
          </a:xfrm>
          <a:prstGeom prst="roundRect">
            <a:avLst>
              <a:gd name="adj" fmla="val 340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8874E4A7-6B2A-9E90-D720-CCDB9301DE65}"/>
              </a:ext>
            </a:extLst>
          </p:cNvPr>
          <p:cNvSpPr/>
          <p:nvPr/>
        </p:nvSpPr>
        <p:spPr>
          <a:xfrm>
            <a:off x="758952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 Across 5 Seeds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07A19EF-4473-FC7D-D81C-406D60A9FEBF}"/>
              </a:ext>
            </a:extLst>
          </p:cNvPr>
          <p:cNvSpPr/>
          <p:nvPr/>
        </p:nvSpPr>
        <p:spPr>
          <a:xfrm>
            <a:off x="7589520" y="39776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R² range: 0.934 – 0.955</a:t>
            </a:r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Adam remains the strongest optimizer (</a:t>
            </a:r>
            <a:r>
              <a:rPr lang="en-US" sz="13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AdamW</a:t>
            </a: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SGD variants underperform)</a:t>
            </a:r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GCN-3 modestly outperforms GCN-2; GraphSAGE and GIN did not improve results</a:t>
            </a: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AF990BE2-2D78-A535-D2FB-ADD7AE7A7185}"/>
              </a:ext>
            </a:extLst>
          </p:cNvPr>
          <p:cNvSpPr/>
          <p:nvPr/>
        </p:nvSpPr>
        <p:spPr>
          <a:xfrm>
            <a:off x="533400" y="5480091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question: out-of-distribution (prediction-set) generalization still trails held-out test accuracy, focus of ongoing work.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86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4FE01B6-64C4-EE2E-0005-A94ABE281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4423FD-EC9B-AF8C-9A5C-BCA84195A6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38560" y="6029594"/>
            <a:ext cx="774485" cy="828406"/>
          </a:xfrm>
          <a:prstGeom prst="rect">
            <a:avLst/>
          </a:prstGeom>
        </p:spPr>
      </p:pic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26C258E6-2D3B-CDB2-0E85-F8400141641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18355" y="6056554"/>
            <a:ext cx="774485" cy="774485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CF21E8B5-0D7B-A8D8-BECD-07E540E467A9}"/>
              </a:ext>
            </a:extLst>
          </p:cNvPr>
          <p:cNvSpPr/>
          <p:nvPr/>
        </p:nvSpPr>
        <p:spPr>
          <a:xfrm>
            <a:off x="640080" y="14647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 &amp; Future Work</a:t>
            </a:r>
            <a:endParaRPr lang="en-US" sz="3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2AD38D-6410-CD33-208E-BEAED16290AC}"/>
              </a:ext>
            </a:extLst>
          </p:cNvPr>
          <p:cNvSpPr/>
          <p:nvPr/>
        </p:nvSpPr>
        <p:spPr>
          <a:xfrm>
            <a:off x="640080" y="11128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this stands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7EEB9CD9-9167-9DA9-CD7B-9802ED863795}"/>
              </a:ext>
            </a:extLst>
          </p:cNvPr>
          <p:cNvSpPr/>
          <p:nvPr/>
        </p:nvSpPr>
        <p:spPr>
          <a:xfrm>
            <a:off x="640080" y="151807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fast, defect-aware GCN surrogate now predicts lattice stiffness at 0.95 test R², replacing costly FE simulation and enabling rapid design iteration across defective, real-world lattice geometries.</a:t>
            </a: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1F9F8EF-2F3F-9038-A57D-E29C3CFD1447}"/>
              </a:ext>
            </a:extLst>
          </p:cNvPr>
          <p:cNvSpPr/>
          <p:nvPr/>
        </p:nvSpPr>
        <p:spPr>
          <a:xfrm>
            <a:off x="640080" y="316399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303D89C5-0F0D-CD39-8212-232D263F47B5}"/>
              </a:ext>
            </a:extLst>
          </p:cNvPr>
          <p:cNvSpPr/>
          <p:nvPr/>
        </p:nvSpPr>
        <p:spPr>
          <a:xfrm>
            <a:off x="640080" y="371263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Multi-seed validation of Huber-loss objective for tail-seed stability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Stabilize residual GCN-3 to close the out-of-distribution gap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beyond stiffness to failure-mode / fracture prediction</a:t>
            </a: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059C0354-D81D-BB32-7B99-69CB36DA62F9}"/>
              </a:ext>
            </a:extLst>
          </p:cNvPr>
          <p:cNvSpPr/>
          <p:nvPr/>
        </p:nvSpPr>
        <p:spPr>
          <a:xfrm>
            <a:off x="6446520" y="1106590"/>
            <a:ext cx="5120640" cy="2377440"/>
          </a:xfrm>
          <a:prstGeom prst="roundRect">
            <a:avLst>
              <a:gd name="adj" fmla="val 3077"/>
            </a:avLst>
          </a:prstGeom>
          <a:solidFill>
            <a:schemeClr val="bg1">
              <a:lumMod val="75000"/>
            </a:schemeClr>
          </a:solidFill>
          <a:ln w="28575">
            <a:solidFill>
              <a:srgbClr val="FF0000"/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7E53DCB3-2652-423B-F67B-76B8683FEABD}"/>
              </a:ext>
            </a:extLst>
          </p:cNvPr>
          <p:cNvSpPr/>
          <p:nvPr/>
        </p:nvSpPr>
        <p:spPr>
          <a:xfrm>
            <a:off x="6766560" y="131690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BIGGER PICTURE</a:t>
            </a:r>
            <a:endParaRPr lang="en-US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4D871F2D-617A-00A5-AD60-0808FAD0B941}"/>
              </a:ext>
            </a:extLst>
          </p:cNvPr>
          <p:cNvSpPr/>
          <p:nvPr/>
        </p:nvSpPr>
        <p:spPr>
          <a:xfrm>
            <a:off x="6766560" y="1518070"/>
            <a:ext cx="4526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Materials set the ceiling for aerospace, energy, medicine, and defense alike. Faster, defect-aware design tools push that ceiling higher across a $1.2T+ market moving toward $200–300B+ in architected materials alone.</a:t>
            </a:r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56B8B438-B382-613D-9782-A4E91E3A9291}"/>
              </a:ext>
            </a:extLst>
          </p:cNvPr>
          <p:cNvSpPr/>
          <p:nvPr/>
        </p:nvSpPr>
        <p:spPr>
          <a:xfrm>
            <a:off x="6446520" y="3712630"/>
            <a:ext cx="5120640" cy="2148840"/>
          </a:xfrm>
          <a:prstGeom prst="roundRect">
            <a:avLst>
              <a:gd name="adj" fmla="val 3404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EC21C66A-6CB7-32CE-3CA2-7F4598A59345}"/>
              </a:ext>
            </a:extLst>
          </p:cNvPr>
          <p:cNvSpPr/>
          <p:nvPr/>
        </p:nvSpPr>
        <p:spPr>
          <a:xfrm>
            <a:off x="6766560" y="391379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ACKNOWLEDGEMENT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9DDA7E5C-A705-B8FF-742B-D9CF3E68842A}"/>
              </a:ext>
            </a:extLst>
          </p:cNvPr>
          <p:cNvSpPr/>
          <p:nvPr/>
        </p:nvSpPr>
        <p:spPr>
          <a:xfrm>
            <a:off x="6766560" y="426127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Xing Liu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Dept. of Mechanical &amp; Industrial Engineering, NJIT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Computational Mechanics &amp; Physics Lab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Dept. of Mechanical &amp; Industrial Engineering, NJIT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NSF REU Site: Optics &amp; Photonics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Jersey Institute of Technology, Summer 2026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43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2865</TotalTime>
  <Words>959</Words>
  <Application>Microsoft Office PowerPoint</Application>
  <PresentationFormat>Widescreen</PresentationFormat>
  <Paragraphs>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Atam Dhawan</dc:creator>
  <cp:lastModifiedBy>Adams, Alex</cp:lastModifiedBy>
  <cp:revision>7</cp:revision>
  <dcterms:created xsi:type="dcterms:W3CDTF">2022-05-22T14:31:28Z</dcterms:created>
  <dcterms:modified xsi:type="dcterms:W3CDTF">2026-07-16T15:37:47Z</dcterms:modified>
</cp:coreProperties>
</file>