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gD/Uj8j1yWAD7DmrWBQ9ngaBa/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>
        <p:scale>
          <a:sx n="75" d="100"/>
          <a:sy n="75" d="100"/>
        </p:scale>
        <p:origin x="965" y="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4213D"/>
                </a:solidFill>
                <a:latin typeface="Arial"/>
              </a:rPr>
              <a:t>Mean Held-Out Test R² by Configuration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E766-4E5B-90B1-2CF6037A1548}"/>
              </c:ext>
            </c:extLst>
          </c:dPt>
          <c:dPt>
            <c:idx val="1"/>
            <c:invertIfNegative val="0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E766-4E5B-90B1-2CF6037A1548}"/>
              </c:ext>
            </c:extLst>
          </c:dPt>
          <c:dPt>
            <c:idx val="2"/>
            <c:invertIfNegative val="0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E766-4E5B-90B1-2CF6037A1548}"/>
              </c:ext>
            </c:extLst>
          </c:dPt>
          <c:dPt>
            <c:idx val="3"/>
            <c:invertIfNegative val="0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E766-4E5B-90B1-2CF6037A1548}"/>
              </c:ext>
            </c:extLst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E766-4E5B-90B1-2CF6037A1548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E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Baseline
GCN-2</c:v>
                </c:pt>
                <c:pt idx="1">
                  <c:v>+ Richer
Features</c:v>
                </c:pt>
                <c:pt idx="2">
                  <c:v>+ Graph
Features</c:v>
                </c:pt>
                <c:pt idx="3">
                  <c:v>+ Target
Norm.</c:v>
                </c:pt>
                <c:pt idx="4">
                  <c:v>GCN-3
(best)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0.91479999999999995</c:v>
                </c:pt>
                <c:pt idx="1">
                  <c:v>0.93799999999999994</c:v>
                </c:pt>
                <c:pt idx="2">
                  <c:v>0.94110000000000005</c:v>
                </c:pt>
                <c:pt idx="3">
                  <c:v>0.94469999999999998</c:v>
                </c:pt>
                <c:pt idx="4">
                  <c:v>0.9456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766-4E5B-90B1-2CF6037A15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6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14EC564-936F-07AF-EAFE-A9B221CFF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B710526D-E2C0-9F20-71B5-3F8ECC1D4E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E86D0B26-0BBE-026B-2A5E-2F95A0966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CCF880E2-9D24-C87D-1DBE-EC486A4D9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Alzheimer’s therapeutics. Clean energy. Hypersonic flight. Every one of them stalls at the same wall what materials can actually do. This project is built to move that wall.</a:t>
            </a:r>
            <a:r>
              <a:rPr lang="en-US" sz="1200" dirty="0">
                <a:solidFill>
                  <a:srgbClr val="8DA9C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$1.2T+ global advanced materials market underwrites all four — this is not a niche problem.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82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6B0BB59-697E-8105-73CD-CB176606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E3C30FD2-E4DF-7E39-72D9-8A7F23FDDE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D27EEBC9-4407-713C-F851-B83668C79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178CBB76-6847-9A0D-6A6B-58B2A91ADE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Graph:</a:t>
            </a:r>
            <a:r>
              <a:rPr lang="en-US" dirty="0"/>
              <a:t> In mathematics and computer science, a graph is a collection of nodes connected by edges. </a:t>
            </a:r>
            <a:r>
              <a:rPr lang="en-US" b="1" dirty="0"/>
              <a:t>Node:</a:t>
            </a:r>
            <a:r>
              <a:rPr lang="en-US" dirty="0"/>
              <a:t> Represents a joint where lattice beams meet. </a:t>
            </a:r>
            <a:r>
              <a:rPr lang="en-US" b="1" dirty="0"/>
              <a:t>Edge:</a:t>
            </a:r>
            <a:r>
              <a:rPr lang="en-US" dirty="0"/>
              <a:t> Represents a beam connecting two joints. </a:t>
            </a:r>
            <a:r>
              <a:rPr lang="en-US" b="1" dirty="0"/>
              <a:t>Graph Neural Network:</a:t>
            </a:r>
            <a:r>
              <a:rPr lang="en-US" dirty="0"/>
              <a:t> Learns by allowing neighboring nodes to repeatedly exchange information. </a:t>
            </a:r>
            <a:r>
              <a:rPr lang="en-US" b="1" dirty="0"/>
              <a:t>Feature:</a:t>
            </a:r>
            <a:r>
              <a:rPr lang="en-US" dirty="0"/>
              <a:t> Information describing the geometry, such as position, connectivity, or whether a node is on the boundary.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9604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Convolution Layer:</a:t>
            </a:r>
            <a:r>
              <a:rPr lang="en-US" dirty="0"/>
              <a:t> One stage where every node gathers information from its neighboring nodes. </a:t>
            </a:r>
            <a:r>
              <a:rPr lang="en-US" b="1" dirty="0"/>
              <a:t>Architecture:</a:t>
            </a:r>
            <a:r>
              <a:rPr lang="en-US" dirty="0"/>
              <a:t> The overall design or layout of a neural network. </a:t>
            </a:r>
            <a:r>
              <a:rPr lang="en-US" b="1" dirty="0"/>
              <a:t>Pooling:</a:t>
            </a:r>
            <a:r>
              <a:rPr lang="en-US" dirty="0"/>
              <a:t> Combines information from every node into one summary describing the entire lattice. Mention that several different architectures were tested before selecting the final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23A9804-7214-0A48-604E-09469387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739E5DE6-FC4B-6BD8-9B48-F5DC0D8AF4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7130FCE4-40EF-E867-310B-4C4405D11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AB0E37DA-BAC6-A0EA-9E8D-7331B6D014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R² (R-squared):</a:t>
            </a:r>
            <a:r>
              <a:rPr lang="en-US" dirty="0"/>
              <a:t> Measures how closely predictions match the true values. Values closer to 1 indicate better performance. </a:t>
            </a:r>
            <a:r>
              <a:rPr lang="en-US" b="1" dirty="0"/>
              <a:t>RMSE (Root Mean Square Error):</a:t>
            </a:r>
            <a:r>
              <a:rPr lang="en-US" dirty="0"/>
              <a:t> Measures the average prediction error. Smaller values are better. </a:t>
            </a:r>
            <a:r>
              <a:rPr lang="en-US" b="1" dirty="0"/>
              <a:t>Baseline:</a:t>
            </a:r>
            <a:r>
              <a:rPr lang="en-US" dirty="0"/>
              <a:t> The original model used as the starting point for comparison. Emphasize that improvements came from better representing the lattice, not simply changing training settings.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8437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D709B33-1776-F30E-70B8-352CBDBF6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1FE90669-ACF9-55C4-F590-B194A4794B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3FEE9051-7081-490D-1A97-86C241AAC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51580D00-78ED-6316-CE1F-341618FF02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ADD HELDER NAME ADD SLIDE FOR GCN ADD METRICS GOING OVER # OF SIMULATIONS RAN (3K)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7726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684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5"/>
          <p:cNvSpPr/>
          <p:nvPr/>
        </p:nvSpPr>
        <p:spPr>
          <a:xfrm>
            <a:off x="0" y="6013174"/>
            <a:ext cx="12192000" cy="855939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5" descr="NJIT_C_SD3_ko.eps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38200" y="6155673"/>
            <a:ext cx="3008243" cy="59783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73D63B7-7E77-D59D-5C79-5E015575DAA8}"/>
              </a:ext>
            </a:extLst>
          </p:cNvPr>
          <p:cNvSpPr txBox="1"/>
          <p:nvPr/>
        </p:nvSpPr>
        <p:spPr>
          <a:xfrm>
            <a:off x="1774517" y="4260056"/>
            <a:ext cx="86429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b="1" dirty="0"/>
              <a:t>Alexander </a:t>
            </a:r>
            <a:r>
              <a:rPr lang="en-US" altLang="en-US" b="1" dirty="0" err="1"/>
              <a:t>Adams</a:t>
            </a:r>
            <a:r>
              <a:rPr lang="en-US" altLang="en-US" b="1" baseline="30000" dirty="0" err="1"/>
              <a:t>a</a:t>
            </a:r>
            <a:r>
              <a:rPr lang="en-US" altLang="en-US" b="1" dirty="0"/>
              <a:t>, Dr. Xing </a:t>
            </a:r>
            <a:r>
              <a:rPr lang="en-US" altLang="en-US" b="1" dirty="0" err="1"/>
              <a:t>Liu</a:t>
            </a:r>
            <a:r>
              <a:rPr lang="en-US" altLang="en-US" b="1" baseline="30000" dirty="0" err="1"/>
              <a:t>b</a:t>
            </a:r>
            <a:r>
              <a:rPr lang="en-US" altLang="en-US" b="1" baseline="30000" dirty="0"/>
              <a:t> </a:t>
            </a:r>
            <a:r>
              <a:rPr lang="en-US" altLang="en-US" b="1" dirty="0"/>
              <a:t>(Advisor)</a:t>
            </a:r>
            <a:r>
              <a:rPr lang="en-US" altLang="en-US" b="1" baseline="30000" dirty="0"/>
              <a:t> </a:t>
            </a:r>
            <a:endParaRPr lang="en-US" altLang="en-US" b="1" dirty="0"/>
          </a:p>
          <a:p>
            <a:pPr algn="ctr"/>
            <a:r>
              <a:rPr lang="en-US" altLang="en-US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a </a:t>
            </a:r>
            <a:r>
              <a:rPr lang="en-US" altLang="en-US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Engineering and Materials Science, University of Pittsburgh, Pittsburgh, PA 15260</a:t>
            </a:r>
          </a:p>
          <a:p>
            <a:pPr algn="ctr"/>
            <a:r>
              <a:rPr lang="en-US" altLang="en-US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b </a:t>
            </a:r>
            <a:r>
              <a:rPr lang="en-US" altLang="en-US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and Industrial Engineering, New Jersey Institute of Technology, Newark, NJ 07102</a:t>
            </a:r>
            <a:endParaRPr lang="en-US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79A4656C-AEB4-C6F8-84E5-72E1D0544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7789" y="1847006"/>
            <a:ext cx="9456420" cy="2015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472" tIns="83472" rIns="83472" bIns="83472">
            <a:spAutoFit/>
          </a:bodyPr>
          <a:lstStyle>
            <a:lvl1pPr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 b="1" dirty="0"/>
              <a:t>Predicting the Mechanical Properties of Complex Lattice Metamaterials Using Graph Neural Networks (GNNs) </a:t>
            </a:r>
            <a:endParaRPr lang="en-US" altLang="en-US" sz="4000" dirty="0">
              <a:solidFill>
                <a:srgbClr val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2C0EAE-D19E-735F-77C9-2D57C0270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A7BD6F-476C-689F-24F6-A5F5199BE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799" y="6044548"/>
            <a:ext cx="2720339" cy="8361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7">
            <a:extLst>
              <a:ext uri="{FF2B5EF4-FFF2-40B4-BE49-F238E27FC236}">
                <a16:creationId xmlns:a16="http://schemas.microsoft.com/office/drawing/2014/main" id="{E56818C0-EDE7-5938-BFCE-61A5CE6A27BB}"/>
              </a:ext>
            </a:extLst>
          </p:cNvPr>
          <p:cNvSpPr/>
          <p:nvPr/>
        </p:nvSpPr>
        <p:spPr>
          <a:xfrm>
            <a:off x="6088148" y="716280"/>
            <a:ext cx="5532120" cy="5120640"/>
          </a:xfrm>
          <a:prstGeom prst="roundRect">
            <a:avLst>
              <a:gd name="adj" fmla="val 1429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63D1D715-BA5D-C0C4-712A-52C892D9D02B}"/>
              </a:ext>
            </a:extLst>
          </p:cNvPr>
          <p:cNvSpPr/>
          <p:nvPr/>
        </p:nvSpPr>
        <p:spPr>
          <a:xfrm>
            <a:off x="6453908" y="944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ECONOMICS OF ADVANCED MATERIALS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CEEBDE44-21B3-C615-1371-6B64CCC96E3F}"/>
              </a:ext>
            </a:extLst>
          </p:cNvPr>
          <p:cNvSpPr/>
          <p:nvPr/>
        </p:nvSpPr>
        <p:spPr>
          <a:xfrm>
            <a:off x="6453908" y="1402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6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$1.2T+</a:t>
            </a:r>
            <a:endParaRPr lang="en-US" sz="4600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928F5717-0F6A-36B6-429A-2A8973425B77}"/>
              </a:ext>
            </a:extLst>
          </p:cNvPr>
          <p:cNvSpPr/>
          <p:nvPr/>
        </p:nvSpPr>
        <p:spPr>
          <a:xfrm>
            <a:off x="6453908" y="2133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advanced materials market (2023)</a:t>
            </a: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A39ABDBF-535A-3950-6CEF-9C61298436EB}"/>
              </a:ext>
            </a:extLst>
          </p:cNvPr>
          <p:cNvSpPr/>
          <p:nvPr/>
        </p:nvSpPr>
        <p:spPr>
          <a:xfrm>
            <a:off x="6453908" y="2773680"/>
            <a:ext cx="48463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D0A38E67-31F6-C065-3858-84B204BA7707}"/>
              </a:ext>
            </a:extLst>
          </p:cNvPr>
          <p:cNvSpPr/>
          <p:nvPr/>
        </p:nvSpPr>
        <p:spPr>
          <a:xfrm>
            <a:off x="6453908" y="2956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$110–133B → $205–313B</a:t>
            </a:r>
            <a:endParaRPr lang="en-US" sz="3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AA8C1BEE-3411-4998-FA8A-A621A080270C}"/>
              </a:ext>
            </a:extLst>
          </p:cNvPr>
          <p:cNvSpPr/>
          <p:nvPr/>
        </p:nvSpPr>
        <p:spPr>
          <a:xfrm>
            <a:off x="6453908" y="3596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composites &amp; lattice materials, 2024 → 2032–34 (~8–9% CAGR)</a:t>
            </a: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380DC34E-8E2F-850F-5182-4A265E044F2E}"/>
              </a:ext>
            </a:extLst>
          </p:cNvPr>
          <p:cNvSpPr/>
          <p:nvPr/>
        </p:nvSpPr>
        <p:spPr>
          <a:xfrm>
            <a:off x="6453908" y="4282440"/>
            <a:ext cx="48463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1F04EC96-2469-DFEA-F0AA-DC8A8F10AB95}"/>
              </a:ext>
            </a:extLst>
          </p:cNvPr>
          <p:cNvSpPr/>
          <p:nvPr/>
        </p:nvSpPr>
        <p:spPr>
          <a:xfrm>
            <a:off x="6453908" y="4465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30–50%  /  40%+</a:t>
            </a:r>
            <a:endParaRPr lang="en-US" sz="2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F4F9C835-77B8-07E1-55AC-AD2FD4ADCF6D}"/>
              </a:ext>
            </a:extLst>
          </p:cNvPr>
          <p:cNvSpPr/>
          <p:nvPr/>
        </p:nvSpPr>
        <p:spPr>
          <a:xfrm>
            <a:off x="6453908" y="50139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Stiffness-to-weight gain over foams  /  possible weight reduction from lattice design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9F6D913-A142-6DA8-461F-648FE2F6F1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31" name="Picture 30" descr="Seal 2color 2 line.png">
            <a:extLst>
              <a:ext uri="{FF2B5EF4-FFF2-40B4-BE49-F238E27FC236}">
                <a16:creationId xmlns:a16="http://schemas.microsoft.com/office/drawing/2014/main" id="{69228E9D-C26B-8142-A694-74DC0428E6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DA61B6A-1347-6D21-E00E-02C66644ACB1}"/>
              </a:ext>
            </a:extLst>
          </p:cNvPr>
          <p:cNvSpPr txBox="1"/>
          <p:nvPr/>
        </p:nvSpPr>
        <p:spPr>
          <a:xfrm>
            <a:off x="424180" y="88910"/>
            <a:ext cx="6406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en-US" sz="2800" b="1" kern="1200" dirty="0">
                <a:solidFill>
                  <a:srgbClr val="1421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Problem, Significance &amp; Goals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AC153377-88B6-D1CC-B930-6B76D7DAF3F9}"/>
              </a:ext>
            </a:extLst>
          </p:cNvPr>
          <p:cNvSpPr/>
          <p:nvPr/>
        </p:nvSpPr>
        <p:spPr>
          <a:xfrm>
            <a:off x="420811" y="1639824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assumes perfectly periodic lattices. Manufacturing reality introduces feature variance so classical models fail to predict real stiffness and fracture behavior.</a:t>
            </a:r>
            <a:endParaRPr lang="en-US" sz="1350" dirty="0"/>
          </a:p>
        </p:txBody>
      </p:sp>
      <p:pic>
        <p:nvPicPr>
          <p:cNvPr id="39" name="Image 1" descr="icons_bullseye_white.png">
            <a:extLst>
              <a:ext uri="{FF2B5EF4-FFF2-40B4-BE49-F238E27FC236}">
                <a16:creationId xmlns:a16="http://schemas.microsoft.com/office/drawing/2014/main" id="{D910A5DF-98FD-8334-AAA4-8FCC41E91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63" y="3267456"/>
            <a:ext cx="237744" cy="237744"/>
          </a:xfrm>
          <a:prstGeom prst="rect">
            <a:avLst/>
          </a:prstGeom>
        </p:spPr>
      </p:pic>
      <p:sp>
        <p:nvSpPr>
          <p:cNvPr id="41" name="Text 5">
            <a:extLst>
              <a:ext uri="{FF2B5EF4-FFF2-40B4-BE49-F238E27FC236}">
                <a16:creationId xmlns:a16="http://schemas.microsoft.com/office/drawing/2014/main" id="{56C517ED-B1B1-CD48-1190-1619343EB3A4}"/>
              </a:ext>
            </a:extLst>
          </p:cNvPr>
          <p:cNvSpPr/>
          <p:nvPr/>
        </p:nvSpPr>
        <p:spPr>
          <a:xfrm>
            <a:off x="493963" y="3313177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D1919F30-4FC6-77AB-DA04-B875F1582903}"/>
              </a:ext>
            </a:extLst>
          </p:cNvPr>
          <p:cNvSpPr/>
          <p:nvPr/>
        </p:nvSpPr>
        <p:spPr>
          <a:xfrm>
            <a:off x="420811" y="3651504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 neural network that predicts lattice stiffness directly from imperfect, real-world geometry, fast enough for iterative design, accurate enough to trust in place of full simulation.</a:t>
            </a:r>
            <a:endParaRPr lang="en-US" sz="1350" dirty="0"/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479C38F9-7AE8-DCA1-AE38-BEDFF156CF18}"/>
              </a:ext>
            </a:extLst>
          </p:cNvPr>
          <p:cNvSpPr/>
          <p:nvPr/>
        </p:nvSpPr>
        <p:spPr>
          <a:xfrm>
            <a:off x="420811" y="13106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37C2B54-FC18-E842-AC0D-3383121D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B25E39-8B57-01EE-87BD-5E799D0A30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7A48AC3A-6E7F-19DA-6A5A-E46BC7E4EBE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82FF8B88-A0E7-A762-9E72-3295A6CECBF8}"/>
              </a:ext>
            </a:extLst>
          </p:cNvPr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Materials Ceiling</a:t>
            </a:r>
            <a:endParaRPr lang="en-US" sz="3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D0DC4E41-FF63-F8E4-3AEF-6D1999927BD9}"/>
              </a:ext>
            </a:extLst>
          </p:cNvPr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high-stakes field runs into the same wall no matter how urgent the mission</a:t>
            </a: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2D4E4B3-3B77-B4E3-AA31-39CB6A00E350}"/>
              </a:ext>
            </a:extLst>
          </p:cNvPr>
          <p:cNvSpPr/>
          <p:nvPr/>
        </p:nvSpPr>
        <p:spPr>
          <a:xfrm>
            <a:off x="640080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77B178F-B495-1A3F-B356-C85B14FB7C7E}"/>
              </a:ext>
            </a:extLst>
          </p:cNvPr>
          <p:cNvSpPr/>
          <p:nvPr/>
        </p:nvSpPr>
        <p:spPr>
          <a:xfrm>
            <a:off x="822959" y="1764792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Medicine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1A36BA1-9EEC-CAE5-3CEB-6790265439B6}"/>
              </a:ext>
            </a:extLst>
          </p:cNvPr>
          <p:cNvSpPr/>
          <p:nvPr/>
        </p:nvSpPr>
        <p:spPr>
          <a:xfrm>
            <a:off x="868678" y="4463488"/>
            <a:ext cx="224028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Neurodegenerative drug carriers and implants are only as good as the material that holds them together.</a:t>
            </a:r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5706B1AC-8870-B6A6-46DD-EDEE6D8D723E}"/>
              </a:ext>
            </a:extLst>
          </p:cNvPr>
          <p:cNvSpPr/>
          <p:nvPr/>
        </p:nvSpPr>
        <p:spPr>
          <a:xfrm>
            <a:off x="3502152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67CE4E56-AB0D-E058-3A76-1921F80B4D45}"/>
              </a:ext>
            </a:extLst>
          </p:cNvPr>
          <p:cNvSpPr/>
          <p:nvPr/>
        </p:nvSpPr>
        <p:spPr>
          <a:xfrm>
            <a:off x="3639312" y="1760954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63208B34-80EF-1F38-87EE-4BFF26FCF0EC}"/>
              </a:ext>
            </a:extLst>
          </p:cNvPr>
          <p:cNvSpPr/>
          <p:nvPr/>
        </p:nvSpPr>
        <p:spPr>
          <a:xfrm>
            <a:off x="3730752" y="4479024"/>
            <a:ext cx="224028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 density and solar efficiency stall without lighter, stronger structural and storage materials.</a:t>
            </a: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77230FA3-6C0E-A182-A189-AF4E1DE99704}"/>
              </a:ext>
            </a:extLst>
          </p:cNvPr>
          <p:cNvSpPr/>
          <p:nvPr/>
        </p:nvSpPr>
        <p:spPr>
          <a:xfrm>
            <a:off x="6364224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487EADAF-4630-A910-9944-D54A9C08CB41}"/>
              </a:ext>
            </a:extLst>
          </p:cNvPr>
          <p:cNvSpPr/>
          <p:nvPr/>
        </p:nvSpPr>
        <p:spPr>
          <a:xfrm>
            <a:off x="6547104" y="1760474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Aerospace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29F5157B-80F3-42CF-1061-B7F2C26FCD4A}"/>
              </a:ext>
            </a:extLst>
          </p:cNvPr>
          <p:cNvSpPr/>
          <p:nvPr/>
        </p:nvSpPr>
        <p:spPr>
          <a:xfrm>
            <a:off x="6592824" y="4463488"/>
            <a:ext cx="224028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efficiency gain in flight is a materials problem before it is ever an aerodynamics problem.</a:t>
            </a: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558B92CE-CCC8-F5C2-915E-EAC7D7DB5F80}"/>
              </a:ext>
            </a:extLst>
          </p:cNvPr>
          <p:cNvSpPr/>
          <p:nvPr/>
        </p:nvSpPr>
        <p:spPr>
          <a:xfrm>
            <a:off x="9226296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DDC035BB-67BC-AAA6-F54E-BA0267297A72}"/>
              </a:ext>
            </a:extLst>
          </p:cNvPr>
          <p:cNvSpPr/>
          <p:nvPr/>
        </p:nvSpPr>
        <p:spPr>
          <a:xfrm>
            <a:off x="9363456" y="1760474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Defense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027AECCA-1B51-CBF8-86A3-028EA210D71B}"/>
              </a:ext>
            </a:extLst>
          </p:cNvPr>
          <p:cNvSpPr/>
          <p:nvPr/>
        </p:nvSpPr>
        <p:spPr>
          <a:xfrm>
            <a:off x="9409176" y="4463488"/>
            <a:ext cx="224028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Protection-to-weight ratio is dictated by the material itself, not by the mission built around it.</a:t>
            </a:r>
          </a:p>
        </p:txBody>
      </p:sp>
      <p:sp>
        <p:nvSpPr>
          <p:cNvPr id="55" name="Shape 20">
            <a:extLst>
              <a:ext uri="{FF2B5EF4-FFF2-40B4-BE49-F238E27FC236}">
                <a16:creationId xmlns:a16="http://schemas.microsoft.com/office/drawing/2014/main" id="{839B48B0-70ED-6A45-00D1-B55B09A2A908}"/>
              </a:ext>
            </a:extLst>
          </p:cNvPr>
          <p:cNvSpPr/>
          <p:nvPr/>
        </p:nvSpPr>
        <p:spPr>
          <a:xfrm>
            <a:off x="4261104" y="4343400"/>
            <a:ext cx="36576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pic>
        <p:nvPicPr>
          <p:cNvPr id="60" name="Picture 59" descr="Biomedical Materials - an overview | ScienceDirect Topics">
            <a:extLst>
              <a:ext uri="{FF2B5EF4-FFF2-40B4-BE49-F238E27FC236}">
                <a16:creationId xmlns:a16="http://schemas.microsoft.com/office/drawing/2014/main" id="{59EC09A5-83A4-EF7A-4C41-2E754AEC6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8" y="2203704"/>
            <a:ext cx="2097621" cy="16570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2" name="Picture 61" descr="Solar panel | Definition &amp; Facts | Britannica">
            <a:extLst>
              <a:ext uri="{FF2B5EF4-FFF2-40B4-BE49-F238E27FC236}">
                <a16:creationId xmlns:a16="http://schemas.microsoft.com/office/drawing/2014/main" id="{FB252E1D-4DA1-6DD8-3366-25B117C5EF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009" y="2154049"/>
            <a:ext cx="1345766" cy="17067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3" name="Picture 62" descr="Aerospace Materials – Introduction to Aerospace Flight Vehicles">
            <a:extLst>
              <a:ext uri="{FF2B5EF4-FFF2-40B4-BE49-F238E27FC236}">
                <a16:creationId xmlns:a16="http://schemas.microsoft.com/office/drawing/2014/main" id="{35B18B9C-2832-51FE-4FFB-6188A0F1D5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1075" y="2268627"/>
            <a:ext cx="2472338" cy="14775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5" name="Picture 64" descr="The Core Components Used in Body Armor Production– Custom Armor Group">
            <a:extLst>
              <a:ext uri="{FF2B5EF4-FFF2-40B4-BE49-F238E27FC236}">
                <a16:creationId xmlns:a16="http://schemas.microsoft.com/office/drawing/2014/main" id="{6991AD2D-8921-90F1-AAD4-5F58DC23FE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4289" y="2154049"/>
            <a:ext cx="1730054" cy="17300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2296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C7758631-9ABA-C713-647A-4D73FCBF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44B9FF-169D-0DD6-F21F-4709AA2533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76C6C802-B319-9822-5331-E358B25EBE2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BDC78DD-B03A-3956-2536-32771EC4B3A4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Approach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FBA0151-A570-AF6E-9BF5-19289364ADED}"/>
              </a:ext>
            </a:extLst>
          </p:cNvPr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graph neural network learns directly on lattice geometry, no meshing</a:t>
            </a:r>
            <a:r>
              <a:rPr lang="en-US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</a:t>
            </a:r>
            <a:r>
              <a:rPr lang="en-US" sz="14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billions of degrees of freedom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79D0EB72-2B36-B9C9-4FA3-32B3B310B58F}"/>
              </a:ext>
            </a:extLst>
          </p:cNvPr>
          <p:cNvSpPr/>
          <p:nvPr/>
        </p:nvSpPr>
        <p:spPr>
          <a:xfrm>
            <a:off x="548640" y="1600200"/>
            <a:ext cx="2514600" cy="391799"/>
          </a:xfrm>
          <a:prstGeom prst="roundRect">
            <a:avLst>
              <a:gd name="adj" fmla="val 3256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26D96AD1-4DA3-4037-05B7-D1176E262334}"/>
              </a:ext>
            </a:extLst>
          </p:cNvPr>
          <p:cNvSpPr/>
          <p:nvPr/>
        </p:nvSpPr>
        <p:spPr>
          <a:xfrm>
            <a:off x="640080" y="1611297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Lattice Geometry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9F1054C8-8632-3E24-D0F4-4817865FA302}"/>
              </a:ext>
            </a:extLst>
          </p:cNvPr>
          <p:cNvSpPr/>
          <p:nvPr/>
        </p:nvSpPr>
        <p:spPr>
          <a:xfrm>
            <a:off x="3072670" y="2566278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41689E52-AE77-96DA-AA53-CD8A4FA8DA78}"/>
              </a:ext>
            </a:extLst>
          </p:cNvPr>
          <p:cNvSpPr/>
          <p:nvPr/>
        </p:nvSpPr>
        <p:spPr>
          <a:xfrm>
            <a:off x="3383280" y="1600200"/>
            <a:ext cx="2514600" cy="391799"/>
          </a:xfrm>
          <a:prstGeom prst="roundRect">
            <a:avLst>
              <a:gd name="adj" fmla="val 3256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43026145-B708-B7B0-DD65-977E7F7E9044}"/>
              </a:ext>
            </a:extLst>
          </p:cNvPr>
          <p:cNvSpPr/>
          <p:nvPr/>
        </p:nvSpPr>
        <p:spPr>
          <a:xfrm>
            <a:off x="3456077" y="1626239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Construction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12703FC2-D765-354F-F735-024381B09F62}"/>
              </a:ext>
            </a:extLst>
          </p:cNvPr>
          <p:cNvSpPr/>
          <p:nvPr/>
        </p:nvSpPr>
        <p:spPr>
          <a:xfrm>
            <a:off x="5905500" y="2566278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D00061B1-1E93-6B5E-42AF-4CF49D43B2E6}"/>
              </a:ext>
            </a:extLst>
          </p:cNvPr>
          <p:cNvSpPr/>
          <p:nvPr/>
        </p:nvSpPr>
        <p:spPr>
          <a:xfrm>
            <a:off x="6217920" y="1600200"/>
            <a:ext cx="2514600" cy="391799"/>
          </a:xfrm>
          <a:prstGeom prst="roundRect">
            <a:avLst>
              <a:gd name="adj" fmla="val 3256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B8AC3971-7921-2B88-97B0-96F2CC42D172}"/>
              </a:ext>
            </a:extLst>
          </p:cNvPr>
          <p:cNvSpPr/>
          <p:nvPr/>
        </p:nvSpPr>
        <p:spPr>
          <a:xfrm>
            <a:off x="6302258" y="1616238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GCN Model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4D6D0D71-7CB6-7B3F-8B36-4D2D0F24538C}"/>
              </a:ext>
            </a:extLst>
          </p:cNvPr>
          <p:cNvSpPr/>
          <p:nvPr/>
        </p:nvSpPr>
        <p:spPr>
          <a:xfrm>
            <a:off x="8819670" y="2566278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D844DF15-E9D6-7EC3-6C46-238CE4262137}"/>
              </a:ext>
            </a:extLst>
          </p:cNvPr>
          <p:cNvSpPr/>
          <p:nvPr/>
        </p:nvSpPr>
        <p:spPr>
          <a:xfrm>
            <a:off x="9052560" y="1600200"/>
            <a:ext cx="2514600" cy="391799"/>
          </a:xfrm>
          <a:prstGeom prst="roundRect">
            <a:avLst>
              <a:gd name="adj" fmla="val 3256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5D96FFA0-8C4B-3F07-1D80-15720C3964C8}"/>
              </a:ext>
            </a:extLst>
          </p:cNvPr>
          <p:cNvSpPr/>
          <p:nvPr/>
        </p:nvSpPr>
        <p:spPr>
          <a:xfrm>
            <a:off x="9152166" y="1626239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Stiffness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CAA23900-616E-E665-F409-B355E1B58EA1}"/>
              </a:ext>
            </a:extLst>
          </p:cNvPr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Iterative Pipeline Development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4331E112-058A-CC38-CDC6-2F8F2211F37E}"/>
              </a:ext>
            </a:extLst>
          </p:cNvPr>
          <p:cNvSpPr/>
          <p:nvPr/>
        </p:nvSpPr>
        <p:spPr>
          <a:xfrm>
            <a:off x="548640" y="4343400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A421A9C0-EC36-ABED-CB38-DAFBC3A98142}"/>
              </a:ext>
            </a:extLst>
          </p:cNvPr>
          <p:cNvSpPr/>
          <p:nvPr/>
        </p:nvSpPr>
        <p:spPr>
          <a:xfrm>
            <a:off x="548640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graph edges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Shape 24">
            <a:extLst>
              <a:ext uri="{FF2B5EF4-FFF2-40B4-BE49-F238E27FC236}">
                <a16:creationId xmlns:a16="http://schemas.microsoft.com/office/drawing/2014/main" id="{93CBA3B4-2CC7-7B57-D16F-EBC89F39CD76}"/>
              </a:ext>
            </a:extLst>
          </p:cNvPr>
          <p:cNvSpPr/>
          <p:nvPr/>
        </p:nvSpPr>
        <p:spPr>
          <a:xfrm>
            <a:off x="3547872" y="4343400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63" name="Text 25">
            <a:extLst>
              <a:ext uri="{FF2B5EF4-FFF2-40B4-BE49-F238E27FC236}">
                <a16:creationId xmlns:a16="http://schemas.microsoft.com/office/drawing/2014/main" id="{71FBE384-29C0-470F-7F36-F31A72491E21}"/>
              </a:ext>
            </a:extLst>
          </p:cNvPr>
          <p:cNvSpPr/>
          <p:nvPr/>
        </p:nvSpPr>
        <p:spPr>
          <a:xfrm>
            <a:off x="3547872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Richer node features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23AA8F54-60ED-3851-24A1-F16B248ADCFC}"/>
              </a:ext>
            </a:extLst>
          </p:cNvPr>
          <p:cNvSpPr/>
          <p:nvPr/>
        </p:nvSpPr>
        <p:spPr>
          <a:xfrm>
            <a:off x="6547104" y="4343400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67" name="Text 27">
            <a:extLst>
              <a:ext uri="{FF2B5EF4-FFF2-40B4-BE49-F238E27FC236}">
                <a16:creationId xmlns:a16="http://schemas.microsoft.com/office/drawing/2014/main" id="{64B77624-706C-1366-EBDA-58D23EF3BF96}"/>
              </a:ext>
            </a:extLst>
          </p:cNvPr>
          <p:cNvSpPr/>
          <p:nvPr/>
        </p:nvSpPr>
        <p:spPr>
          <a:xfrm>
            <a:off x="6547104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Graph-level features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Shape 28">
            <a:extLst>
              <a:ext uri="{FF2B5EF4-FFF2-40B4-BE49-F238E27FC236}">
                <a16:creationId xmlns:a16="http://schemas.microsoft.com/office/drawing/2014/main" id="{DEA4399F-ED25-2709-C8E3-6FC3B07AE7F7}"/>
              </a:ext>
            </a:extLst>
          </p:cNvPr>
          <p:cNvSpPr/>
          <p:nvPr/>
        </p:nvSpPr>
        <p:spPr>
          <a:xfrm>
            <a:off x="548640" y="5010912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71" name="Text 29">
            <a:extLst>
              <a:ext uri="{FF2B5EF4-FFF2-40B4-BE49-F238E27FC236}">
                <a16:creationId xmlns:a16="http://schemas.microsoft.com/office/drawing/2014/main" id="{9AD32680-AD69-3604-F1BC-E6626FD75A86}"/>
              </a:ext>
            </a:extLst>
          </p:cNvPr>
          <p:cNvSpPr/>
          <p:nvPr/>
        </p:nvSpPr>
        <p:spPr>
          <a:xfrm>
            <a:off x="548640" y="50109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normalization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30">
            <a:extLst>
              <a:ext uri="{FF2B5EF4-FFF2-40B4-BE49-F238E27FC236}">
                <a16:creationId xmlns:a16="http://schemas.microsoft.com/office/drawing/2014/main" id="{F90A8020-E854-0761-E3D7-0BF371D1FCB2}"/>
              </a:ext>
            </a:extLst>
          </p:cNvPr>
          <p:cNvSpPr/>
          <p:nvPr/>
        </p:nvSpPr>
        <p:spPr>
          <a:xfrm>
            <a:off x="3547872" y="5010912"/>
            <a:ext cx="393192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75" name="Text 31">
            <a:extLst>
              <a:ext uri="{FF2B5EF4-FFF2-40B4-BE49-F238E27FC236}">
                <a16:creationId xmlns:a16="http://schemas.microsoft.com/office/drawing/2014/main" id="{7A198FB2-760C-9786-0349-C30632C2A273}"/>
              </a:ext>
            </a:extLst>
          </p:cNvPr>
          <p:cNvSpPr/>
          <p:nvPr/>
        </p:nvSpPr>
        <p:spPr>
          <a:xfrm>
            <a:off x="3547872" y="50109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 search (GCN-2/3, GraphSAGE, GIN)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Shape 32">
            <a:extLst>
              <a:ext uri="{FF2B5EF4-FFF2-40B4-BE49-F238E27FC236}">
                <a16:creationId xmlns:a16="http://schemas.microsoft.com/office/drawing/2014/main" id="{C452184F-9C9B-D8F5-D6B8-8E7C5EA3AA28}"/>
              </a:ext>
            </a:extLst>
          </p:cNvPr>
          <p:cNvSpPr/>
          <p:nvPr/>
        </p:nvSpPr>
        <p:spPr>
          <a:xfrm>
            <a:off x="7644384" y="5010912"/>
            <a:ext cx="2953512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79" name="Text 33">
            <a:extLst>
              <a:ext uri="{FF2B5EF4-FFF2-40B4-BE49-F238E27FC236}">
                <a16:creationId xmlns:a16="http://schemas.microsoft.com/office/drawing/2014/main" id="{92C91DCB-D119-70D0-D620-97CF2361EDD3}"/>
              </a:ext>
            </a:extLst>
          </p:cNvPr>
          <p:cNvSpPr/>
          <p:nvPr/>
        </p:nvSpPr>
        <p:spPr>
          <a:xfrm>
            <a:off x="7644384" y="5010912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Multi-seed validation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Text 34">
            <a:extLst>
              <a:ext uri="{FF2B5EF4-FFF2-40B4-BE49-F238E27FC236}">
                <a16:creationId xmlns:a16="http://schemas.microsoft.com/office/drawing/2014/main" id="{6BA5AA38-2A18-9ADF-D949-FFC73BDF1EA4}"/>
              </a:ext>
            </a:extLst>
          </p:cNvPr>
          <p:cNvSpPr/>
          <p:nvPr/>
        </p:nvSpPr>
        <p:spPr>
          <a:xfrm>
            <a:off x="508508" y="5524369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step keeps Adam optimization + the same train/validation/test split fixed, so gains are attributable to representation, not tuning noise.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6A5C9BB7-9C66-61CD-EC8B-EF27A73E8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379" y="2090368"/>
            <a:ext cx="2431895" cy="15869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85" name="Picture 84" descr="Types of Lattices for Additive Manufacturing – Terms Engineers Need to Know">
            <a:extLst>
              <a:ext uri="{FF2B5EF4-FFF2-40B4-BE49-F238E27FC236}">
                <a16:creationId xmlns:a16="http://schemas.microsoft.com/office/drawing/2014/main" id="{F7403C18-1383-B118-139D-875DD3CA13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221402"/>
            <a:ext cx="2387156" cy="784777"/>
          </a:xfrm>
          <a:prstGeom prst="rect">
            <a:avLst/>
          </a:prstGeom>
        </p:spPr>
      </p:pic>
      <p:pic>
        <p:nvPicPr>
          <p:cNvPr id="87" name="Picture 86" descr="Graph in Data Structure | Types &amp; Explanation">
            <a:extLst>
              <a:ext uri="{FF2B5EF4-FFF2-40B4-BE49-F238E27FC236}">
                <a16:creationId xmlns:a16="http://schemas.microsoft.com/office/drawing/2014/main" id="{A6A9D6E5-F968-14BC-D5B1-9CE1C8D3117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322" t="13966" r="21842" b="26948"/>
          <a:stretch>
            <a:fillRect/>
          </a:stretch>
        </p:blipFill>
        <p:spPr>
          <a:xfrm>
            <a:off x="3401568" y="2107876"/>
            <a:ext cx="2514600" cy="14204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9" name="Picture 88" descr="Overview of different architectures of GNN, CNN, GCN, and GAT. | Download  Scientific Diagram">
            <a:extLst>
              <a:ext uri="{FF2B5EF4-FFF2-40B4-BE49-F238E27FC236}">
                <a16:creationId xmlns:a16="http://schemas.microsoft.com/office/drawing/2014/main" id="{19473EAA-0311-2C27-DBE5-59B4670292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157" y="2088997"/>
            <a:ext cx="2653269" cy="157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283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GCN-3 </a:t>
            </a:r>
            <a:r>
              <a:rPr lang="en-US" sz="2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</a:t>
            </a:r>
            <a:endParaRPr lang="en-US" sz="27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2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Richer node features → edge-weighted GCN convolutions → graph-level fusion → normalized stiffness output</a:t>
            </a:r>
          </a:p>
        </p:txBody>
      </p:sp>
      <p:sp>
        <p:nvSpPr>
          <p:cNvPr id="4" name="Shape 2"/>
          <p:cNvSpPr/>
          <p:nvPr/>
        </p:nvSpPr>
        <p:spPr>
          <a:xfrm>
            <a:off x="535354" y="3556449"/>
            <a:ext cx="3161323" cy="997673"/>
          </a:xfrm>
          <a:prstGeom prst="roundRect">
            <a:avLst>
              <a:gd name="adj" fmla="val 521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81074" y="3611314"/>
            <a:ext cx="2914986" cy="260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 Features (×9), Weighted Edges</a:t>
            </a:r>
            <a:endParaRPr lang="en-US" sz="1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1074" y="3903922"/>
            <a:ext cx="2914986" cy="589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 y, degree, weighted degree, dist. to center, boundary flag, mean/max edge length, mean edge weight</a:t>
            </a:r>
          </a:p>
          <a:p>
            <a:pPr marL="171450" indent="-1714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Adjacency-area edge weights replace binary connectivity; passed into every </a:t>
            </a:r>
            <a:r>
              <a:rPr lang="en-US" sz="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GCNConv</a:t>
            </a:r>
            <a:r>
              <a:rPr lang="en-US" sz="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layer</a:t>
            </a:r>
          </a:p>
          <a:p>
            <a:pPr marL="171450" indent="-171450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3F62E59-FA83-C442-54C0-B281B43693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251"/>
          <a:stretch>
            <a:fillRect/>
          </a:stretch>
        </p:blipFill>
        <p:spPr>
          <a:xfrm>
            <a:off x="468826" y="1339414"/>
            <a:ext cx="10058400" cy="2037788"/>
          </a:xfrm>
          <a:prstGeom prst="rect">
            <a:avLst/>
          </a:prstGeom>
        </p:spPr>
      </p:pic>
      <p:sp>
        <p:nvSpPr>
          <p:cNvPr id="51" name="Text 10">
            <a:extLst>
              <a:ext uri="{FF2B5EF4-FFF2-40B4-BE49-F238E27FC236}">
                <a16:creationId xmlns:a16="http://schemas.microsoft.com/office/drawing/2014/main" id="{D2A8B68C-288F-DDC1-7105-E10D7AF18674}"/>
              </a:ext>
            </a:extLst>
          </p:cNvPr>
          <p:cNvSpPr/>
          <p:nvPr/>
        </p:nvSpPr>
        <p:spPr>
          <a:xfrm>
            <a:off x="4052081" y="4333830"/>
            <a:ext cx="480275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</a:t>
            </a:r>
            <a:r>
              <a:rPr lang="en-US" sz="9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GCNConv</a:t>
            </a:r>
            <a:r>
              <a:rPr lang="en-US" sz="9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hidden_dim</a:t>
            </a:r>
            <a:r>
              <a:rPr lang="en-US" sz="9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24, </a:t>
            </a:r>
            <a:r>
              <a:rPr lang="en-US" sz="9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r>
              <a:rPr lang="en-US" sz="9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Dropout (0.10), edge-weighted message passing</a:t>
            </a:r>
            <a:endParaRPr lang="en-US" sz="9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68377222-D73B-263E-D6D9-11A5005292D3}"/>
              </a:ext>
            </a:extLst>
          </p:cNvPr>
          <p:cNvSpPr/>
          <p:nvPr/>
        </p:nvSpPr>
        <p:spPr>
          <a:xfrm>
            <a:off x="4454952" y="3575998"/>
            <a:ext cx="726648" cy="713232"/>
          </a:xfrm>
          <a:prstGeom prst="roundRect">
            <a:avLst>
              <a:gd name="adj" fmla="val 7692"/>
            </a:avLst>
          </a:prstGeom>
          <a:solidFill>
            <a:schemeClr val="bg1">
              <a:lumMod val="75000"/>
            </a:scheme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0E25C84E-6DD9-90B0-A3A7-A803EBC1E246}"/>
              </a:ext>
            </a:extLst>
          </p:cNvPr>
          <p:cNvSpPr/>
          <p:nvPr/>
        </p:nvSpPr>
        <p:spPr>
          <a:xfrm>
            <a:off x="4454952" y="3575998"/>
            <a:ext cx="726648" cy="7132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 → 24</a:t>
            </a:r>
            <a:endParaRPr lang="en-US" sz="1200" dirty="0"/>
          </a:p>
        </p:txBody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CFEC6909-DE32-FF9D-00B5-062CC27A073C}"/>
              </a:ext>
            </a:extLst>
          </p:cNvPr>
          <p:cNvSpPr/>
          <p:nvPr/>
        </p:nvSpPr>
        <p:spPr>
          <a:xfrm>
            <a:off x="5966948" y="3575998"/>
            <a:ext cx="726648" cy="713232"/>
          </a:xfrm>
          <a:prstGeom prst="roundRect">
            <a:avLst>
              <a:gd name="adj" fmla="val 7692"/>
            </a:avLst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C5E77EEA-B4D4-0532-FECC-DA800204622E}"/>
              </a:ext>
            </a:extLst>
          </p:cNvPr>
          <p:cNvSpPr/>
          <p:nvPr/>
        </p:nvSpPr>
        <p:spPr>
          <a:xfrm>
            <a:off x="5966948" y="3575998"/>
            <a:ext cx="726648" cy="7132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 → 24</a:t>
            </a:r>
            <a:endParaRPr lang="en-US" sz="1200" dirty="0"/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268C81BD-E447-78DF-0F41-02FAFBB3464F}"/>
              </a:ext>
            </a:extLst>
          </p:cNvPr>
          <p:cNvSpPr/>
          <p:nvPr/>
        </p:nvSpPr>
        <p:spPr>
          <a:xfrm>
            <a:off x="3780741" y="3620598"/>
            <a:ext cx="617220" cy="7132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58" name="Shape 17">
            <a:extLst>
              <a:ext uri="{FF2B5EF4-FFF2-40B4-BE49-F238E27FC236}">
                <a16:creationId xmlns:a16="http://schemas.microsoft.com/office/drawing/2014/main" id="{EAB02394-5654-4841-A0C8-8C4DD759A5CE}"/>
              </a:ext>
            </a:extLst>
          </p:cNvPr>
          <p:cNvSpPr/>
          <p:nvPr/>
        </p:nvSpPr>
        <p:spPr>
          <a:xfrm>
            <a:off x="7478944" y="3576600"/>
            <a:ext cx="726648" cy="713232"/>
          </a:xfrm>
          <a:prstGeom prst="roundRect">
            <a:avLst>
              <a:gd name="adj" fmla="val 7692"/>
            </a:avLst>
          </a:prstGeom>
          <a:solidFill>
            <a:schemeClr val="bg1">
              <a:lumMod val="75000"/>
            </a:scheme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7CAAA808-7BC4-48E4-02CA-1DCDE78AB5B8}"/>
              </a:ext>
            </a:extLst>
          </p:cNvPr>
          <p:cNvSpPr/>
          <p:nvPr/>
        </p:nvSpPr>
        <p:spPr>
          <a:xfrm>
            <a:off x="7478944" y="3576600"/>
            <a:ext cx="726648" cy="7132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 → 24</a:t>
            </a:r>
            <a:endParaRPr lang="en-US" sz="1200" dirty="0"/>
          </a:p>
        </p:txBody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406C98DD-0C84-B130-8F93-83DCADDC8F06}"/>
              </a:ext>
            </a:extLst>
          </p:cNvPr>
          <p:cNvSpPr/>
          <p:nvPr/>
        </p:nvSpPr>
        <p:spPr>
          <a:xfrm>
            <a:off x="5265664" y="3611314"/>
            <a:ext cx="617220" cy="7132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9BCAFC83-1BD9-8D83-77D1-641A50DA4E4B}"/>
              </a:ext>
            </a:extLst>
          </p:cNvPr>
          <p:cNvSpPr/>
          <p:nvPr/>
        </p:nvSpPr>
        <p:spPr>
          <a:xfrm>
            <a:off x="6777660" y="3553732"/>
            <a:ext cx="617220" cy="7132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F11493E3-7562-B7DB-1149-B748F13560C5}"/>
              </a:ext>
            </a:extLst>
          </p:cNvPr>
          <p:cNvSpPr/>
          <p:nvPr/>
        </p:nvSpPr>
        <p:spPr>
          <a:xfrm>
            <a:off x="8262583" y="3600046"/>
            <a:ext cx="617220" cy="7132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66" name="Shape 20">
            <a:extLst>
              <a:ext uri="{FF2B5EF4-FFF2-40B4-BE49-F238E27FC236}">
                <a16:creationId xmlns:a16="http://schemas.microsoft.com/office/drawing/2014/main" id="{46571E42-9541-B77F-F022-23F9CAB0667E}"/>
              </a:ext>
            </a:extLst>
          </p:cNvPr>
          <p:cNvSpPr/>
          <p:nvPr/>
        </p:nvSpPr>
        <p:spPr>
          <a:xfrm>
            <a:off x="8854831" y="3415132"/>
            <a:ext cx="3161323" cy="1143000"/>
          </a:xfrm>
          <a:prstGeom prst="roundRect">
            <a:avLst>
              <a:gd name="adj" fmla="val 4800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E35956D4-78AA-2738-C27C-4B1B297BD083}"/>
              </a:ext>
            </a:extLst>
          </p:cNvPr>
          <p:cNvSpPr/>
          <p:nvPr/>
        </p:nvSpPr>
        <p:spPr>
          <a:xfrm>
            <a:off x="8854831" y="3506564"/>
            <a:ext cx="334479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Global Mean Pooling + Graph-Level Features (×12)</a:t>
            </a:r>
            <a:endParaRPr lang="en-US" sz="1150" dirty="0"/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3F305EBC-D333-6486-374C-DC3D3A6E093D}"/>
              </a:ext>
            </a:extLst>
          </p:cNvPr>
          <p:cNvSpPr/>
          <p:nvPr/>
        </p:nvSpPr>
        <p:spPr>
          <a:xfrm>
            <a:off x="8964009" y="3799180"/>
            <a:ext cx="2914986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Node embeddings → one 24-dim graph embedding per lattice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node/edge counts, density, edge-weight &amp; degree stats, center-distance stats, concatenated after pooling</a:t>
            </a:r>
            <a:endParaRPr lang="en-US" sz="800" dirty="0"/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800" dirty="0"/>
          </a:p>
        </p:txBody>
      </p:sp>
      <p:sp>
        <p:nvSpPr>
          <p:cNvPr id="74" name="Shape 28">
            <a:extLst>
              <a:ext uri="{FF2B5EF4-FFF2-40B4-BE49-F238E27FC236}">
                <a16:creationId xmlns:a16="http://schemas.microsoft.com/office/drawing/2014/main" id="{5E8E5AC9-A955-E94F-BC54-1D43873249E6}"/>
              </a:ext>
            </a:extLst>
          </p:cNvPr>
          <p:cNvSpPr/>
          <p:nvPr/>
        </p:nvSpPr>
        <p:spPr>
          <a:xfrm>
            <a:off x="2415540" y="4989367"/>
            <a:ext cx="7360920" cy="777240"/>
          </a:xfrm>
          <a:prstGeom prst="roundRect">
            <a:avLst>
              <a:gd name="adj" fmla="val 823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6" name="Text 29">
            <a:extLst>
              <a:ext uri="{FF2B5EF4-FFF2-40B4-BE49-F238E27FC236}">
                <a16:creationId xmlns:a16="http://schemas.microsoft.com/office/drawing/2014/main" id="{0F16F6A8-8490-7AA0-9766-18042CBEDE82}"/>
              </a:ext>
            </a:extLst>
          </p:cNvPr>
          <p:cNvSpPr/>
          <p:nvPr/>
        </p:nvSpPr>
        <p:spPr>
          <a:xfrm>
            <a:off x="2598420" y="4989367"/>
            <a:ext cx="699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Output Layer  →  normalized stiffness prediction  →  inverse-transform  →  Predicted Stiffness</a:t>
            </a:r>
            <a:endParaRPr lang="en-US" sz="1250" dirty="0">
              <a:solidFill>
                <a:schemeClr val="tx1"/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07C73669-E0AC-D7DC-63E8-F4464226F0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80" name="Picture 79" descr="Seal 2color 2 line.png">
            <a:extLst>
              <a:ext uri="{FF2B5EF4-FFF2-40B4-BE49-F238E27FC236}">
                <a16:creationId xmlns:a16="http://schemas.microsoft.com/office/drawing/2014/main" id="{764A1C30-B610-AD98-2BB2-B63C000795D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FF74A57-7FAD-D50D-9350-6390F7658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1DA6C4-6018-9F93-EAED-0C8AF38D47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A426821B-DAD6-357C-3C62-511F0024C98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1808304-410C-17FB-6DFF-BE2DB962E2C6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C5077C4-D172-B297-27F3-331D6F6A2FF2}"/>
              </a:ext>
            </a:extLst>
          </p:cNvPr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 upgrades </a:t>
            </a:r>
            <a:r>
              <a:rPr lang="en-US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optimizer tuning</a:t>
            </a:r>
            <a:r>
              <a:rPr lang="en-US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4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drove the accuracy gain</a:t>
            </a:r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C167786B-A853-BEB8-DDB8-B0E69F1F43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728544"/>
              </p:ext>
            </p:extLst>
          </p:nvPr>
        </p:nvGraphicFramePr>
        <p:xfrm>
          <a:off x="502920" y="1508760"/>
          <a:ext cx="64922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Shape 2">
            <a:extLst>
              <a:ext uri="{FF2B5EF4-FFF2-40B4-BE49-F238E27FC236}">
                <a16:creationId xmlns:a16="http://schemas.microsoft.com/office/drawing/2014/main" id="{977E57CD-DA6B-655E-8A86-CDBA1AC35EF1}"/>
              </a:ext>
            </a:extLst>
          </p:cNvPr>
          <p:cNvSpPr/>
          <p:nvPr/>
        </p:nvSpPr>
        <p:spPr>
          <a:xfrm>
            <a:off x="7315200" y="1508760"/>
            <a:ext cx="4343400" cy="1691640"/>
          </a:xfrm>
          <a:prstGeom prst="roundRect">
            <a:avLst>
              <a:gd name="adj" fmla="val 4324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424842F-DC3D-E4F0-E044-55B402DF634C}"/>
              </a:ext>
            </a:extLst>
          </p:cNvPr>
          <p:cNvSpPr/>
          <p:nvPr/>
        </p:nvSpPr>
        <p:spPr>
          <a:xfrm>
            <a:off x="75895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R²:  0.9148  →  0.9456</a:t>
            </a:r>
            <a:endParaRPr lang="en-US" sz="2200" dirty="0">
              <a:solidFill>
                <a:schemeClr val="accent4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EBE9D207-9CB5-961D-ABE1-54A094D85642}"/>
              </a:ext>
            </a:extLst>
          </p:cNvPr>
          <p:cNvSpPr/>
          <p:nvPr/>
        </p:nvSpPr>
        <p:spPr>
          <a:xfrm>
            <a:off x="758952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 vs. best multi-seed configuration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17ABF64-AAC5-4E3A-6100-5F2CF68F6978}"/>
              </a:ext>
            </a:extLst>
          </p:cNvPr>
          <p:cNvSpPr/>
          <p:nvPr/>
        </p:nvSpPr>
        <p:spPr>
          <a:xfrm>
            <a:off x="758952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RMSE:  0.00382  →  0.00288  (−24%)</a:t>
            </a:r>
            <a:endParaRPr lang="en-US" sz="1500" dirty="0">
              <a:solidFill>
                <a:schemeClr val="accent4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F90053E0-E443-672B-F809-CFB1FBCBCC6C}"/>
              </a:ext>
            </a:extLst>
          </p:cNvPr>
          <p:cNvSpPr/>
          <p:nvPr/>
        </p:nvSpPr>
        <p:spPr>
          <a:xfrm>
            <a:off x="7315200" y="3383280"/>
            <a:ext cx="4343400" cy="2148840"/>
          </a:xfrm>
          <a:prstGeom prst="roundRect">
            <a:avLst>
              <a:gd name="adj" fmla="val 3404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874E4A7-6B2A-9E90-D720-CCDB9301DE65}"/>
              </a:ext>
            </a:extLst>
          </p:cNvPr>
          <p:cNvSpPr/>
          <p:nvPr/>
        </p:nvSpPr>
        <p:spPr>
          <a:xfrm>
            <a:off x="758952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Across 5 Seeds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07A19EF-4473-FC7D-D81C-406D60A9FEBF}"/>
              </a:ext>
            </a:extLst>
          </p:cNvPr>
          <p:cNvSpPr/>
          <p:nvPr/>
        </p:nvSpPr>
        <p:spPr>
          <a:xfrm>
            <a:off x="7589520" y="39776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R² range: 0.934 – 0.955</a:t>
            </a:r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Adam remains the strongest optimizer (</a:t>
            </a:r>
            <a:r>
              <a:rPr lang="en-US" sz="13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AdamW</a:t>
            </a: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SGD variants underperform)</a:t>
            </a:r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GCN-3 modestly outperforms GCN-2; GraphSAGE and GIN did not improve results</a:t>
            </a: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AF990BE2-2D78-A535-D2FB-ADD7AE7A7185}"/>
              </a:ext>
            </a:extLst>
          </p:cNvPr>
          <p:cNvSpPr/>
          <p:nvPr/>
        </p:nvSpPr>
        <p:spPr>
          <a:xfrm>
            <a:off x="533400" y="5480091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question: out-of-distribution (prediction-set) generalization still trails held-out test accuracy, focus of ongoing work.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863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4FE01B6-64C4-EE2E-0005-A94ABE28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4423FD-EC9B-AF8C-9A5C-BCA84195A6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38560" y="6029594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26C258E6-2D3B-CDB2-0E85-F8400141641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18355" y="6056554"/>
            <a:ext cx="774485" cy="774485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CF21E8B5-0D7B-A8D8-BECD-07E540E467A9}"/>
              </a:ext>
            </a:extLst>
          </p:cNvPr>
          <p:cNvSpPr/>
          <p:nvPr/>
        </p:nvSpPr>
        <p:spPr>
          <a:xfrm>
            <a:off x="640080" y="14647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 &amp; Future Work</a:t>
            </a:r>
            <a:endParaRPr lang="en-US" sz="3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2AD38D-6410-CD33-208E-BEAED16290AC}"/>
              </a:ext>
            </a:extLst>
          </p:cNvPr>
          <p:cNvSpPr/>
          <p:nvPr/>
        </p:nvSpPr>
        <p:spPr>
          <a:xfrm>
            <a:off x="640080" y="11128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this stands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EEB9CD9-9167-9DA9-CD7B-9802ED863795}"/>
              </a:ext>
            </a:extLst>
          </p:cNvPr>
          <p:cNvSpPr/>
          <p:nvPr/>
        </p:nvSpPr>
        <p:spPr>
          <a:xfrm>
            <a:off x="640080" y="151807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fast, defect-aware GCN surrogate now predicts lattice stiffness at 0.95 test R², replacing costly FE simulation and enabling rapid design iteration across defective, real-world lattice geometries.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1F9F8EF-2F3F-9038-A57D-E29C3CFD1447}"/>
              </a:ext>
            </a:extLst>
          </p:cNvPr>
          <p:cNvSpPr/>
          <p:nvPr/>
        </p:nvSpPr>
        <p:spPr>
          <a:xfrm>
            <a:off x="640080" y="316399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303D89C5-0F0D-CD39-8212-232D263F47B5}"/>
              </a:ext>
            </a:extLst>
          </p:cNvPr>
          <p:cNvSpPr/>
          <p:nvPr/>
        </p:nvSpPr>
        <p:spPr>
          <a:xfrm>
            <a:off x="640080" y="343831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Multi-seed validation of Huber-loss objective for tail-seed stability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Stabilize residual GCN-3 to close the out-of-distribution gap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beyond stiffness to failure-mode / fracture prediction</a:t>
            </a: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059C0354-D81D-BB32-7B99-69CB36DA62F9}"/>
              </a:ext>
            </a:extLst>
          </p:cNvPr>
          <p:cNvSpPr/>
          <p:nvPr/>
        </p:nvSpPr>
        <p:spPr>
          <a:xfrm>
            <a:off x="6446520" y="1106590"/>
            <a:ext cx="5120640" cy="2377440"/>
          </a:xfrm>
          <a:prstGeom prst="roundRect">
            <a:avLst>
              <a:gd name="adj" fmla="val 3077"/>
            </a:avLst>
          </a:prstGeom>
          <a:solidFill>
            <a:schemeClr val="bg1">
              <a:lumMod val="75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7E53DCB3-2652-423B-F67B-76B8683FEABD}"/>
              </a:ext>
            </a:extLst>
          </p:cNvPr>
          <p:cNvSpPr/>
          <p:nvPr/>
        </p:nvSpPr>
        <p:spPr>
          <a:xfrm>
            <a:off x="6766560" y="131690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BIGGER PICTURE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D871F2D-617A-00A5-AD60-0808FAD0B941}"/>
              </a:ext>
            </a:extLst>
          </p:cNvPr>
          <p:cNvSpPr/>
          <p:nvPr/>
        </p:nvSpPr>
        <p:spPr>
          <a:xfrm>
            <a:off x="6766560" y="151807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Materials set the ceiling for aerospace, energy, medicine, and defense alike. Faster, defect-aware design tools push that ceiling higher across a $1.2T+ market moving toward $200–300B+ in architected materials alone.</a:t>
            </a: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56B8B438-B382-613D-9782-A4E91E3A9291}"/>
              </a:ext>
            </a:extLst>
          </p:cNvPr>
          <p:cNvSpPr/>
          <p:nvPr/>
        </p:nvSpPr>
        <p:spPr>
          <a:xfrm>
            <a:off x="6446520" y="3712630"/>
            <a:ext cx="5120640" cy="2148840"/>
          </a:xfrm>
          <a:prstGeom prst="roundRect">
            <a:avLst>
              <a:gd name="adj" fmla="val 3404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EC21C66A-6CB7-32CE-3CA2-7F4598A59345}"/>
              </a:ext>
            </a:extLst>
          </p:cNvPr>
          <p:cNvSpPr/>
          <p:nvPr/>
        </p:nvSpPr>
        <p:spPr>
          <a:xfrm>
            <a:off x="6766560" y="391379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ACKNOWLEDGEMENT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9DDA7E5C-A705-B8FF-742B-D9CF3E68842A}"/>
              </a:ext>
            </a:extLst>
          </p:cNvPr>
          <p:cNvSpPr/>
          <p:nvPr/>
        </p:nvSpPr>
        <p:spPr>
          <a:xfrm>
            <a:off x="6766560" y="426127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Xing Liu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Dept. of Mechanical &amp; Industrial Engineering, NJIT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NSF REU Site: Optics &amp; Photonics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Jersey Institute of Technology, Summer 2026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43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991</Words>
  <Application>Microsoft Office PowerPoint</Application>
  <PresentationFormat>Widescreen</PresentationFormat>
  <Paragraphs>100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Atam Dhawan</dc:creator>
  <cp:lastModifiedBy>Adams, Alex</cp:lastModifiedBy>
  <cp:revision>4</cp:revision>
  <dcterms:created xsi:type="dcterms:W3CDTF">2022-05-22T14:31:28Z</dcterms:created>
  <dcterms:modified xsi:type="dcterms:W3CDTF">2026-07-08T01:16:22Z</dcterms:modified>
</cp:coreProperties>
</file>